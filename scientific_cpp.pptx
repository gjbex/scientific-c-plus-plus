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501" r:id="rId99"/>
    <p:sldId id="335" r:id="rId100"/>
    <p:sldId id="336" r:id="rId101"/>
    <p:sldId id="337" r:id="rId102"/>
    <p:sldId id="485" r:id="rId103"/>
    <p:sldId id="338" r:id="rId104"/>
    <p:sldId id="339" r:id="rId105"/>
    <p:sldId id="340" r:id="rId106"/>
    <p:sldId id="341" r:id="rId107"/>
    <p:sldId id="342" r:id="rId108"/>
    <p:sldId id="343" r:id="rId109"/>
    <p:sldId id="497" r:id="rId110"/>
    <p:sldId id="344" r:id="rId111"/>
    <p:sldId id="345" r:id="rId112"/>
    <p:sldId id="346" r:id="rId113"/>
    <p:sldId id="347" r:id="rId114"/>
    <p:sldId id="348" r:id="rId115"/>
    <p:sldId id="349" r:id="rId116"/>
    <p:sldId id="350" r:id="rId117"/>
    <p:sldId id="351" r:id="rId118"/>
    <p:sldId id="352" r:id="rId119"/>
    <p:sldId id="353" r:id="rId120"/>
    <p:sldId id="354" r:id="rId121"/>
    <p:sldId id="355" r:id="rId122"/>
    <p:sldId id="356" r:id="rId123"/>
    <p:sldId id="357" r:id="rId124"/>
    <p:sldId id="358" r:id="rId125"/>
    <p:sldId id="359" r:id="rId126"/>
    <p:sldId id="360" r:id="rId127"/>
    <p:sldId id="361" r:id="rId128"/>
    <p:sldId id="362" r:id="rId129"/>
    <p:sldId id="363" r:id="rId130"/>
    <p:sldId id="364" r:id="rId131"/>
    <p:sldId id="365" r:id="rId132"/>
    <p:sldId id="366" r:id="rId133"/>
    <p:sldId id="367" r:id="rId134"/>
    <p:sldId id="368" r:id="rId135"/>
    <p:sldId id="369" r:id="rId136"/>
    <p:sldId id="370" r:id="rId137"/>
    <p:sldId id="371" r:id="rId138"/>
    <p:sldId id="372" r:id="rId139"/>
    <p:sldId id="502" r:id="rId140"/>
    <p:sldId id="473" r:id="rId141"/>
    <p:sldId id="474" r:id="rId142"/>
    <p:sldId id="258" r:id="rId143"/>
    <p:sldId id="475" r:id="rId144"/>
    <p:sldId id="476" r:id="rId145"/>
    <p:sldId id="477" r:id="rId146"/>
    <p:sldId id="478" r:id="rId147"/>
    <p:sldId id="479" r:id="rId148"/>
    <p:sldId id="480" r:id="rId149"/>
    <p:sldId id="481" r:id="rId150"/>
    <p:sldId id="482" r:id="rId151"/>
    <p:sldId id="483" r:id="rId152"/>
    <p:sldId id="484" r:id="rId153"/>
    <p:sldId id="373" r:id="rId154"/>
    <p:sldId id="374" r:id="rId155"/>
    <p:sldId id="375" r:id="rId156"/>
    <p:sldId id="376" r:id="rId157"/>
    <p:sldId id="378" r:id="rId158"/>
    <p:sldId id="379" r:id="rId159"/>
    <p:sldId id="381" r:id="rId160"/>
    <p:sldId id="464" r:id="rId161"/>
    <p:sldId id="465" r:id="rId162"/>
    <p:sldId id="382" r:id="rId163"/>
    <p:sldId id="383" r:id="rId164"/>
    <p:sldId id="384" r:id="rId165"/>
    <p:sldId id="386" r:id="rId166"/>
    <p:sldId id="387" r:id="rId167"/>
    <p:sldId id="388" r:id="rId168"/>
    <p:sldId id="389" r:id="rId169"/>
    <p:sldId id="390" r:id="rId170"/>
    <p:sldId id="392" r:id="rId171"/>
    <p:sldId id="393" r:id="rId172"/>
    <p:sldId id="395" r:id="rId173"/>
    <p:sldId id="396" r:id="rId174"/>
    <p:sldId id="398" r:id="rId175"/>
    <p:sldId id="399" r:id="rId176"/>
    <p:sldId id="401" r:id="rId177"/>
    <p:sldId id="402" r:id="rId178"/>
    <p:sldId id="403" r:id="rId179"/>
    <p:sldId id="405" r:id="rId180"/>
    <p:sldId id="406" r:id="rId181"/>
    <p:sldId id="408" r:id="rId182"/>
    <p:sldId id="409" r:id="rId183"/>
    <p:sldId id="411" r:id="rId184"/>
    <p:sldId id="412" r:id="rId185"/>
    <p:sldId id="414" r:id="rId186"/>
    <p:sldId id="416" r:id="rId187"/>
    <p:sldId id="417" r:id="rId188"/>
    <p:sldId id="418" r:id="rId189"/>
    <p:sldId id="420" r:id="rId190"/>
    <p:sldId id="421" r:id="rId191"/>
    <p:sldId id="422" r:id="rId192"/>
    <p:sldId id="423" r:id="rId193"/>
    <p:sldId id="424" r:id="rId194"/>
    <p:sldId id="425" r:id="rId195"/>
    <p:sldId id="426" r:id="rId196"/>
    <p:sldId id="487" r:id="rId197"/>
    <p:sldId id="488" r:id="rId198"/>
    <p:sldId id="494" r:id="rId199"/>
    <p:sldId id="489" r:id="rId200"/>
    <p:sldId id="427" r:id="rId201"/>
    <p:sldId id="428" r:id="rId202"/>
    <p:sldId id="429" r:id="rId203"/>
    <p:sldId id="430" r:id="rId204"/>
    <p:sldId id="431" r:id="rId205"/>
    <p:sldId id="432" r:id="rId206"/>
    <p:sldId id="433" r:id="rId207"/>
    <p:sldId id="493" r:id="rId208"/>
    <p:sldId id="434" r:id="rId209"/>
    <p:sldId id="435" r:id="rId210"/>
    <p:sldId id="436" r:id="rId211"/>
    <p:sldId id="437" r:id="rId212"/>
    <p:sldId id="438" r:id="rId213"/>
    <p:sldId id="439" r:id="rId214"/>
    <p:sldId id="440" r:id="rId215"/>
    <p:sldId id="441" r:id="rId216"/>
    <p:sldId id="442" r:id="rId217"/>
    <p:sldId id="443" r:id="rId218"/>
    <p:sldId id="444" r:id="rId219"/>
    <p:sldId id="445" r:id="rId220"/>
    <p:sldId id="455" r:id="rId221"/>
    <p:sldId id="456" r:id="rId222"/>
    <p:sldId id="457" r:id="rId223"/>
    <p:sldId id="458" r:id="rId224"/>
    <p:sldId id="446" r:id="rId225"/>
    <p:sldId id="448" r:id="rId226"/>
    <p:sldId id="449" r:id="rId227"/>
    <p:sldId id="451" r:id="rId228"/>
    <p:sldId id="450" r:id="rId229"/>
    <p:sldId id="486" r:id="rId230"/>
    <p:sldId id="463" r:id="rId231"/>
    <p:sldId id="459" r:id="rId2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501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50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2026-03-04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2026-03-04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2026-03-04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2026-03-04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Module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C++ modules, for example code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https://github.com/gjbex/Scientific-C-plus-plus/tree/master/source-code/Modularity/Modules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D5E53-A242-3D58-DD30-14426622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&amp; base access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C63E9-7E02-C560-5588-21F7BC888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2E27F1-56B0-E7F1-A8BB-E9D78A377AC1}"/>
              </a:ext>
            </a:extLst>
          </p:cNvPr>
          <p:cNvGrpSpPr/>
          <p:nvPr/>
        </p:nvGrpSpPr>
        <p:grpSpPr>
          <a:xfrm>
            <a:off x="440719" y="1774155"/>
            <a:ext cx="7206039" cy="830997"/>
            <a:chOff x="384464" y="1690689"/>
            <a:chExt cx="7206039" cy="830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0C2BAE-CBB7-236B-1E52-1056EEEE1F98}"/>
                </a:ext>
              </a:extLst>
            </p:cNvPr>
            <p:cNvSpPr txBox="1"/>
            <p:nvPr/>
          </p:nvSpPr>
          <p:spPr>
            <a:xfrm>
              <a:off x="384464" y="1690689"/>
              <a:ext cx="7206039" cy="8309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public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07C798-99C4-FBBE-C22A-B1DCFB4E95B3}"/>
                </a:ext>
              </a:extLst>
            </p:cNvPr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AA8C1F-35FF-F20E-9A08-03C15FB9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857169"/>
              </p:ext>
            </p:extLst>
          </p:nvPr>
        </p:nvGraphicFramePr>
        <p:xfrm>
          <a:off x="628650" y="4040377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232">
                  <a:extLst>
                    <a:ext uri="{9D8B030D-6E8A-4147-A177-3AD203B41FA5}">
                      <a16:colId xmlns:a16="http://schemas.microsoft.com/office/drawing/2014/main" val="1779011413"/>
                    </a:ext>
                  </a:extLst>
                </a:gridCol>
                <a:gridCol w="1728606">
                  <a:extLst>
                    <a:ext uri="{9D8B030D-6E8A-4147-A177-3AD203B41FA5}">
                      <a16:colId xmlns:a16="http://schemas.microsoft.com/office/drawing/2014/main" val="2060860534"/>
                    </a:ext>
                  </a:extLst>
                </a:gridCol>
                <a:gridCol w="1739978">
                  <a:extLst>
                    <a:ext uri="{9D8B030D-6E8A-4147-A177-3AD203B41FA5}">
                      <a16:colId xmlns:a16="http://schemas.microsoft.com/office/drawing/2014/main" val="264962684"/>
                    </a:ext>
                  </a:extLst>
                </a:gridCol>
                <a:gridCol w="2700884">
                  <a:extLst>
                    <a:ext uri="{9D8B030D-6E8A-4147-A177-3AD203B41FA5}">
                      <a16:colId xmlns:a16="http://schemas.microsoft.com/office/drawing/2014/main" val="12649267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Inheritance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case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379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Is-a relation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700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reuse, subclassing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289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 only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66115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5DFAB517-8A4E-11D1-F485-E95251C8D7E6}"/>
              </a:ext>
            </a:extLst>
          </p:cNvPr>
          <p:cNvGrpSpPr/>
          <p:nvPr/>
        </p:nvGrpSpPr>
        <p:grpSpPr>
          <a:xfrm>
            <a:off x="2327564" y="2978907"/>
            <a:ext cx="3432350" cy="923330"/>
            <a:chOff x="2327564" y="2978907"/>
            <a:chExt cx="3432350" cy="92333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DC8011-663E-A128-3AD9-EB3F5E4A6FFB}"/>
                </a:ext>
              </a:extLst>
            </p:cNvPr>
            <p:cNvSpPr txBox="1"/>
            <p:nvPr/>
          </p:nvSpPr>
          <p:spPr>
            <a:xfrm>
              <a:off x="2327564" y="2978907"/>
              <a:ext cx="34323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Base class access specifier</a:t>
              </a:r>
              <a:endParaRPr lang="LID4096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81A1617-443F-127A-E076-43C6089B8D6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2982191" y="3440572"/>
              <a:ext cx="1061548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9A20DA-2FF1-9D28-8060-80C670DF91AC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4043739" y="3440572"/>
              <a:ext cx="796580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F6FDE5-D633-57F0-A1A2-D99D295F8AD8}"/>
              </a:ext>
            </a:extLst>
          </p:cNvPr>
          <p:cNvGrpSpPr/>
          <p:nvPr/>
        </p:nvGrpSpPr>
        <p:grpSpPr>
          <a:xfrm>
            <a:off x="2563092" y="5233668"/>
            <a:ext cx="4325608" cy="1351539"/>
            <a:chOff x="2563092" y="5233668"/>
            <a:chExt cx="4325608" cy="135153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2EB1F8-E31B-28D0-3435-98BB5C6562D2}"/>
                </a:ext>
              </a:extLst>
            </p:cNvPr>
            <p:cNvSpPr txBox="1"/>
            <p:nvPr/>
          </p:nvSpPr>
          <p:spPr>
            <a:xfrm>
              <a:off x="2563092" y="6123542"/>
              <a:ext cx="4325608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Derived class access to base class</a:t>
              </a:r>
              <a:endParaRPr lang="LID4096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4C0CDC-6155-D8A6-B561-CD5F9E6FAD6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3605645" y="5233668"/>
              <a:ext cx="1120251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D6DFBDB-4497-626C-A24A-1CE9E39A2DE4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4725896" y="5233668"/>
              <a:ext cx="521276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BCD3EB-3DE2-2EE1-73AF-8D1456911516}"/>
              </a:ext>
            </a:extLst>
          </p:cNvPr>
          <p:cNvCxnSpPr>
            <a:cxnSpLocks/>
          </p:cNvCxnSpPr>
          <p:nvPr/>
        </p:nvCxnSpPr>
        <p:spPr>
          <a:xfrm flipH="1">
            <a:off x="1497242" y="2146293"/>
            <a:ext cx="1183613" cy="1755944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44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EDDA-264D-090D-3353-53B437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grown up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B827-14A0-9C39-3026-5C364E5EC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std::format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Python (C++20)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Formatting</a:t>
            </a:r>
          </a:p>
          <a:p>
            <a:pPr lvl="1"/>
            <a:r>
              <a:rPr lang="en-US" dirty="0"/>
              <a:t>String,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{:10s}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{:&gt;10s}</a:t>
            </a:r>
          </a:p>
          <a:p>
            <a:pPr lvl="1"/>
            <a:r>
              <a:rPr lang="en-US" dirty="0"/>
              <a:t>Integer,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{:5d}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{:05d}</a:t>
            </a:r>
          </a:p>
          <a:p>
            <a:pPr lvl="1"/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{:5.2f}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{:.5e}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Works on STL containers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785CD-2D52-7CE7-259B-81DAB857B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EFAA-770B-3467-0684-9910200BF2FC}"/>
              </a:ext>
            </a:extLst>
          </p:cNvPr>
          <p:cNvSpPr txBox="1"/>
          <p:nvPr/>
        </p:nvSpPr>
        <p:spPr>
          <a:xfrm>
            <a:off x="1204172" y="2481108"/>
            <a:ext cx="690073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&lt;format&gt;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auto message {std::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formt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("sin({}) = {}", x, sin(x));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5B49F0-E22E-9E0F-EC20-2622649B35BF}"/>
              </a:ext>
            </a:extLst>
          </p:cNvPr>
          <p:cNvGrpSpPr/>
          <p:nvPr/>
        </p:nvGrpSpPr>
        <p:grpSpPr>
          <a:xfrm>
            <a:off x="5091545" y="3429000"/>
            <a:ext cx="1970819" cy="578427"/>
            <a:chOff x="5091545" y="3429000"/>
            <a:chExt cx="1970819" cy="57842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FF9BE33-372E-DB79-EB96-7D34F36C5AD2}"/>
                </a:ext>
              </a:extLst>
            </p:cNvPr>
            <p:cNvGrpSpPr/>
            <p:nvPr/>
          </p:nvGrpSpPr>
          <p:grpSpPr>
            <a:xfrm>
              <a:off x="5091545" y="3429000"/>
              <a:ext cx="1267696" cy="457200"/>
              <a:chOff x="5091545" y="3429000"/>
              <a:chExt cx="1267696" cy="45720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01D0A58-9651-C167-5932-8E6F5DCA7236}"/>
                  </a:ext>
                </a:extLst>
              </p:cNvPr>
              <p:cNvCxnSpPr/>
              <p:nvPr/>
            </p:nvCxnSpPr>
            <p:spPr>
              <a:xfrm>
                <a:off x="6359241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7F9A6E-A9F4-63D9-90EB-BE74E0C70A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B9452955-9A3A-47B2-CC16-30205F3A61FB}"/>
                  </a:ext>
                </a:extLst>
              </p:cNvPr>
              <p:cNvCxnSpPr/>
              <p:nvPr/>
            </p:nvCxnSpPr>
            <p:spPr>
              <a:xfrm>
                <a:off x="5091545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946EAF5-12DB-B38D-6037-528CB45D8659}"/>
                </a:ext>
              </a:extLst>
            </p:cNvPr>
            <p:cNvGrpSpPr/>
            <p:nvPr/>
          </p:nvGrpSpPr>
          <p:grpSpPr>
            <a:xfrm>
              <a:off x="5794668" y="3429000"/>
              <a:ext cx="1267696" cy="578427"/>
              <a:chOff x="5091545" y="3307773"/>
              <a:chExt cx="1267696" cy="578427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E30F414-6B32-48C7-FC60-6305C1D73F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59241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6ACEC2B-14DA-7237-57D8-426B635556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5B35C831-4021-4BB0-EF8C-2EE2B425F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1545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2738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3853</TotalTime>
  <Words>18084</Words>
  <Application>Microsoft Office PowerPoint</Application>
  <PresentationFormat>On-screen Show (4:3)</PresentationFormat>
  <Paragraphs>3425</Paragraphs>
  <Slides>231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6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Inheritance &amp; base access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Formatting grown up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221</cp:revision>
  <dcterms:created xsi:type="dcterms:W3CDTF">2017-02-14T13:57:03Z</dcterms:created>
  <dcterms:modified xsi:type="dcterms:W3CDTF">2026-03-04T06:58:15Z</dcterms:modified>
</cp:coreProperties>
</file>