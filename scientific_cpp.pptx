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7"/>
  </p:notesMasterIdLst>
  <p:sldIdLst>
    <p:sldId id="257" r:id="rId2"/>
    <p:sldId id="467" r:id="rId3"/>
    <p:sldId id="472" r:id="rId4"/>
    <p:sldId id="492" r:id="rId5"/>
    <p:sldId id="263" r:id="rId6"/>
    <p:sldId id="259" r:id="rId7"/>
    <p:sldId id="447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460" r:id="rId21"/>
    <p:sldId id="273" r:id="rId22"/>
    <p:sldId id="274" r:id="rId23"/>
    <p:sldId id="275" r:id="rId24"/>
    <p:sldId id="276" r:id="rId25"/>
    <p:sldId id="277" r:id="rId26"/>
    <p:sldId id="490" r:id="rId27"/>
    <p:sldId id="491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453" r:id="rId65"/>
    <p:sldId id="454" r:id="rId66"/>
    <p:sldId id="495" r:id="rId67"/>
    <p:sldId id="314" r:id="rId68"/>
    <p:sldId id="315" r:id="rId69"/>
    <p:sldId id="316" r:id="rId70"/>
    <p:sldId id="317" r:id="rId71"/>
    <p:sldId id="318" r:id="rId72"/>
    <p:sldId id="452" r:id="rId73"/>
    <p:sldId id="462" r:id="rId74"/>
    <p:sldId id="468" r:id="rId75"/>
    <p:sldId id="469" r:id="rId76"/>
    <p:sldId id="470" r:id="rId77"/>
    <p:sldId id="471" r:id="rId78"/>
    <p:sldId id="319" r:id="rId79"/>
    <p:sldId id="320" r:id="rId80"/>
    <p:sldId id="321" r:id="rId81"/>
    <p:sldId id="322" r:id="rId82"/>
    <p:sldId id="496" r:id="rId83"/>
    <p:sldId id="323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32" r:id="rId93"/>
    <p:sldId id="333" r:id="rId94"/>
    <p:sldId id="334" r:id="rId95"/>
    <p:sldId id="335" r:id="rId96"/>
    <p:sldId id="336" r:id="rId97"/>
    <p:sldId id="337" r:id="rId98"/>
    <p:sldId id="485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0" r:id="rId122"/>
    <p:sldId id="361" r:id="rId123"/>
    <p:sldId id="362" r:id="rId124"/>
    <p:sldId id="363" r:id="rId125"/>
    <p:sldId id="364" r:id="rId126"/>
    <p:sldId id="365" r:id="rId127"/>
    <p:sldId id="366" r:id="rId128"/>
    <p:sldId id="367" r:id="rId129"/>
    <p:sldId id="368" r:id="rId130"/>
    <p:sldId id="369" r:id="rId131"/>
    <p:sldId id="370" r:id="rId132"/>
    <p:sldId id="371" r:id="rId133"/>
    <p:sldId id="372" r:id="rId134"/>
    <p:sldId id="473" r:id="rId135"/>
    <p:sldId id="474" r:id="rId136"/>
    <p:sldId id="258" r:id="rId137"/>
    <p:sldId id="475" r:id="rId138"/>
    <p:sldId id="476" r:id="rId139"/>
    <p:sldId id="477" r:id="rId140"/>
    <p:sldId id="478" r:id="rId141"/>
    <p:sldId id="479" r:id="rId142"/>
    <p:sldId id="480" r:id="rId143"/>
    <p:sldId id="481" r:id="rId144"/>
    <p:sldId id="482" r:id="rId145"/>
    <p:sldId id="483" r:id="rId146"/>
    <p:sldId id="484" r:id="rId147"/>
    <p:sldId id="373" r:id="rId148"/>
    <p:sldId id="374" r:id="rId149"/>
    <p:sldId id="375" r:id="rId150"/>
    <p:sldId id="376" r:id="rId151"/>
    <p:sldId id="378" r:id="rId152"/>
    <p:sldId id="379" r:id="rId153"/>
    <p:sldId id="381" r:id="rId154"/>
    <p:sldId id="464" r:id="rId155"/>
    <p:sldId id="465" r:id="rId156"/>
    <p:sldId id="382" r:id="rId157"/>
    <p:sldId id="383" r:id="rId158"/>
    <p:sldId id="384" r:id="rId159"/>
    <p:sldId id="386" r:id="rId160"/>
    <p:sldId id="387" r:id="rId161"/>
    <p:sldId id="388" r:id="rId162"/>
    <p:sldId id="389" r:id="rId163"/>
    <p:sldId id="390" r:id="rId164"/>
    <p:sldId id="392" r:id="rId165"/>
    <p:sldId id="393" r:id="rId166"/>
    <p:sldId id="395" r:id="rId167"/>
    <p:sldId id="396" r:id="rId168"/>
    <p:sldId id="398" r:id="rId169"/>
    <p:sldId id="399" r:id="rId170"/>
    <p:sldId id="401" r:id="rId171"/>
    <p:sldId id="402" r:id="rId172"/>
    <p:sldId id="403" r:id="rId173"/>
    <p:sldId id="405" r:id="rId174"/>
    <p:sldId id="406" r:id="rId175"/>
    <p:sldId id="408" r:id="rId176"/>
    <p:sldId id="409" r:id="rId177"/>
    <p:sldId id="411" r:id="rId178"/>
    <p:sldId id="412" r:id="rId179"/>
    <p:sldId id="414" r:id="rId180"/>
    <p:sldId id="416" r:id="rId181"/>
    <p:sldId id="417" r:id="rId182"/>
    <p:sldId id="418" r:id="rId183"/>
    <p:sldId id="420" r:id="rId184"/>
    <p:sldId id="421" r:id="rId185"/>
    <p:sldId id="422" r:id="rId186"/>
    <p:sldId id="423" r:id="rId187"/>
    <p:sldId id="424" r:id="rId188"/>
    <p:sldId id="425" r:id="rId189"/>
    <p:sldId id="426" r:id="rId190"/>
    <p:sldId id="487" r:id="rId191"/>
    <p:sldId id="488" r:id="rId192"/>
    <p:sldId id="494" r:id="rId193"/>
    <p:sldId id="489" r:id="rId194"/>
    <p:sldId id="427" r:id="rId195"/>
    <p:sldId id="428" r:id="rId196"/>
    <p:sldId id="429" r:id="rId197"/>
    <p:sldId id="430" r:id="rId198"/>
    <p:sldId id="431" r:id="rId199"/>
    <p:sldId id="432" r:id="rId200"/>
    <p:sldId id="433" r:id="rId201"/>
    <p:sldId id="493" r:id="rId202"/>
    <p:sldId id="434" r:id="rId203"/>
    <p:sldId id="435" r:id="rId204"/>
    <p:sldId id="436" r:id="rId205"/>
    <p:sldId id="437" r:id="rId206"/>
    <p:sldId id="438" r:id="rId207"/>
    <p:sldId id="439" r:id="rId208"/>
    <p:sldId id="440" r:id="rId209"/>
    <p:sldId id="441" r:id="rId210"/>
    <p:sldId id="442" r:id="rId211"/>
    <p:sldId id="443" r:id="rId212"/>
    <p:sldId id="444" r:id="rId213"/>
    <p:sldId id="445" r:id="rId214"/>
    <p:sldId id="455" r:id="rId215"/>
    <p:sldId id="456" r:id="rId216"/>
    <p:sldId id="457" r:id="rId217"/>
    <p:sldId id="458" r:id="rId218"/>
    <p:sldId id="446" r:id="rId219"/>
    <p:sldId id="448" r:id="rId220"/>
    <p:sldId id="449" r:id="rId221"/>
    <p:sldId id="451" r:id="rId222"/>
    <p:sldId id="450" r:id="rId223"/>
    <p:sldId id="486" r:id="rId224"/>
    <p:sldId id="463" r:id="rId225"/>
    <p:sldId id="459" r:id="rId2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C553AAA-8B96-48A6-AEAA-9057CD4B4984}">
          <p14:sldIdLst>
            <p14:sldId id="257"/>
            <p14:sldId id="467"/>
            <p14:sldId id="472"/>
            <p14:sldId id="492"/>
          </p14:sldIdLst>
        </p14:section>
        <p14:section name="Introduction" id="{D81AE830-F4BE-4BA8-81FA-8AA16B9649C1}">
          <p14:sldIdLst>
            <p14:sldId id="263"/>
            <p14:sldId id="259"/>
            <p14:sldId id="447"/>
            <p14:sldId id="260"/>
            <p14:sldId id="261"/>
            <p14:sldId id="262"/>
          </p14:sldIdLst>
        </p14:section>
        <p14:section name="Basic language features" id="{B06FFF4E-8360-4B8B-9567-14F70F02450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460"/>
            <p14:sldId id="273"/>
            <p14:sldId id="274"/>
            <p14:sldId id="275"/>
            <p14:sldId id="276"/>
            <p14:sldId id="277"/>
            <p14:sldId id="490"/>
            <p14:sldId id="491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User defined types" id="{44DA99A6-1BA5-4962-A07B-BB6026F92171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Separate compilation" id="{158108C9-4864-46E4-AD2E-5885893AEB69}">
          <p14:sldIdLst>
            <p14:sldId id="308"/>
            <p14:sldId id="309"/>
            <p14:sldId id="310"/>
            <p14:sldId id="311"/>
            <p14:sldId id="312"/>
            <p14:sldId id="313"/>
            <p14:sldId id="453"/>
            <p14:sldId id="454"/>
            <p14:sldId id="495"/>
          </p14:sldIdLst>
        </p14:section>
        <p14:section name="Make files" id="{7FF1D8A3-8B96-425E-965B-FBDED2404BF2}">
          <p14:sldIdLst>
            <p14:sldId id="314"/>
            <p14:sldId id="315"/>
            <p14:sldId id="316"/>
            <p14:sldId id="317"/>
            <p14:sldId id="318"/>
            <p14:sldId id="452"/>
            <p14:sldId id="462"/>
          </p14:sldIdLst>
        </p14:section>
        <p14:section name="CMake" id="{07CA6DA2-1053-4ACD-87C3-F7EDAF5814FE}">
          <p14:sldIdLst>
            <p14:sldId id="468"/>
            <p14:sldId id="469"/>
            <p14:sldId id="470"/>
            <p14:sldId id="471"/>
          </p14:sldIdLst>
        </p14:section>
        <p14:section name="Error handling" id="{430A9301-662F-41B3-8ED2-63B359CF008B}">
          <p14:sldIdLst>
            <p14:sldId id="319"/>
            <p14:sldId id="320"/>
            <p14:sldId id="321"/>
            <p14:sldId id="322"/>
            <p14:sldId id="496"/>
            <p14:sldId id="323"/>
            <p14:sldId id="324"/>
            <p14:sldId id="325"/>
          </p14:sldIdLst>
        </p14:section>
        <p14:section name="Classes" id="{90916EDB-DFE4-4164-A523-0A2DC2DC72C5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Templates" id="{9E78B1E6-5C7F-4769-83BA-2C36ED07960B}">
          <p14:sldIdLst>
            <p14:sldId id="336"/>
            <p14:sldId id="337"/>
            <p14:sldId id="485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String and regular expresions" id="{238848CA-CFA4-478F-8429-9802F3BC0F72}">
          <p14:sldIdLst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I/O streams" id="{D9933E25-C52D-4357-8EA0-5297F9B10704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  <p14:section name="Pointers" id="{34CEBEF9-27C0-4D4A-9ECD-41470C6826CB}">
          <p14:sldIdLst>
            <p14:sldId id="473"/>
            <p14:sldId id="474"/>
            <p14:sldId id="258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</p14:sldIdLst>
        </p14:section>
        <p14:section name="Containers" id="{221F6767-5E47-40CF-B605-3F7E4534AEA3}">
          <p14:sldIdLst>
            <p14:sldId id="373"/>
            <p14:sldId id="374"/>
            <p14:sldId id="375"/>
            <p14:sldId id="376"/>
            <p14:sldId id="378"/>
            <p14:sldId id="379"/>
            <p14:sldId id="381"/>
            <p14:sldId id="464"/>
            <p14:sldId id="465"/>
            <p14:sldId id="382"/>
            <p14:sldId id="383"/>
            <p14:sldId id="384"/>
            <p14:sldId id="386"/>
            <p14:sldId id="387"/>
            <p14:sldId id="388"/>
            <p14:sldId id="389"/>
            <p14:sldId id="390"/>
            <p14:sldId id="392"/>
            <p14:sldId id="393"/>
            <p14:sldId id="395"/>
            <p14:sldId id="396"/>
            <p14:sldId id="398"/>
            <p14:sldId id="399"/>
            <p14:sldId id="401"/>
            <p14:sldId id="402"/>
            <p14:sldId id="403"/>
            <p14:sldId id="405"/>
            <p14:sldId id="406"/>
            <p14:sldId id="408"/>
            <p14:sldId id="409"/>
            <p14:sldId id="411"/>
            <p14:sldId id="412"/>
            <p14:sldId id="414"/>
            <p14:sldId id="416"/>
            <p14:sldId id="417"/>
            <p14:sldId id="418"/>
          </p14:sldIdLst>
        </p14:section>
        <p14:section name="Algorithms" id="{5B0AD1DD-439B-4D33-8C50-AE799930C189}">
          <p14:sldIdLst>
            <p14:sldId id="420"/>
            <p14:sldId id="421"/>
            <p14:sldId id="422"/>
            <p14:sldId id="423"/>
            <p14:sldId id="424"/>
            <p14:sldId id="425"/>
            <p14:sldId id="426"/>
            <p14:sldId id="487"/>
            <p14:sldId id="488"/>
            <p14:sldId id="494"/>
            <p14:sldId id="489"/>
            <p14:sldId id="427"/>
            <p14:sldId id="428"/>
          </p14:sldIdLst>
        </p14:section>
        <p14:section name="Numerics" id="{F9DF5547-D8D7-458C-B6D0-70D9A0B18FE6}">
          <p14:sldIdLst>
            <p14:sldId id="429"/>
            <p14:sldId id="430"/>
            <p14:sldId id="431"/>
            <p14:sldId id="432"/>
            <p14:sldId id="433"/>
            <p14:sldId id="49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55"/>
            <p14:sldId id="456"/>
            <p14:sldId id="457"/>
            <p14:sldId id="458"/>
            <p14:sldId id="446"/>
          </p14:sldIdLst>
        </p14:section>
        <p14:section name="Conclusions" id="{39855A80-448C-4A47-9ED0-62EB2AFFA778}">
          <p14:sldIdLst>
            <p14:sldId id="448"/>
            <p14:sldId id="449"/>
            <p14:sldId id="451"/>
            <p14:sldId id="450"/>
            <p14:sldId id="486"/>
            <p14:sldId id="463"/>
            <p14:sldId id="4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0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viewProps" Target="viewProp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tableStyles" Target="tableStyle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40CC-666A-4604-A9BC-2EDD7357F8B7}" type="datetimeFigureOut">
              <a:rPr lang="en-US" smtClean="0"/>
              <a:t>2026-02-17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86CEE-8CD7-4E00-9519-9947DFF1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86CEE-8CD7-4E00-9519-9947DFF1C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3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36D822-3532-4288-A765-5C2355C117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53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58AC32-B3E1-43F6-A93B-BFEE32E8751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8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39FFE-5AD4-4F7E-A3C2-C69313493348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9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39FFE-5AD4-4F7E-A3C2-C6931349334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21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ED49E-3B52-4D1C-85F4-C21F07234187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21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0244-F4EC-482D-9BBC-58F107091CFF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EB4F-AC1D-4EFB-8016-F205EB6E6747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50ED-2300-4050-B0E3-33AB33E3AAB4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4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F60-3FF1-4549-B4B1-BE4A0B6B4D90}" type="datetime1">
              <a:rPr lang="en-US" smtClean="0"/>
              <a:t>2026-02-17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3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D1E9-2460-462A-90A5-F2E317F80C4A}" type="datetime1">
              <a:rPr lang="en-US" smtClean="0"/>
              <a:t>2026-02-17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6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1D4A-1C98-47BC-A409-7EB85472B925}" type="datetime1">
              <a:rPr lang="en-US" smtClean="0"/>
              <a:t>2026-02-17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7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F480-7D42-493E-BD9D-CC3EFCEBCFBF}" type="datetime1">
              <a:rPr lang="en-US" smtClean="0"/>
              <a:t>2026-02-17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2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176-A5A2-4ECC-965E-7D597F7CD996}" type="datetime1">
              <a:rPr lang="en-US" smtClean="0"/>
              <a:t>2026-02-17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4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4794-33A1-4EE3-B772-FED14B1D4169}" type="datetime1">
              <a:rPr lang="en-US" smtClean="0"/>
              <a:t>2026-02-17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7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C670B-029F-4ED6-9001-D4AD7908B153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9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ACFE-ADE8-4DC5-A3B0-C39E486B4B93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7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FFC76-3DC1-42F2-8CA9-9587A1FB4DE0}" type="datetime1">
              <a:rPr lang="en-US" smtClean="0"/>
              <a:t>2026-02-17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B90BF-DFC6-4821-92D8-D156D603F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bit.ly/2P40p4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Basic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UserDefinedTypes" TargetMode="Externa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Modularity" TargetMode="Externa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Modularity/NamespaceParticles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Modularity" TargetMode="Externa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Modularity" TargetMode="Externa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Modularity" TargetMode="Externa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Classes" TargetMode="Externa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Classes/Mixin" TargetMode="External"/><Relationship Id="rId2" Type="http://schemas.openxmlformats.org/officeDocument/2006/relationships/hyperlink" Target="https://github.com/gjbex/Scientific-C-plus-plus/tree/master/source-code/Classes/Quadratu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jbex/Scientific-C-plus-plus/tree/master/source-code/UserDefinedTypes/ObjectLifeCycle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Templates" TargetMode="Externa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Templates/Grid" TargetMode="External"/><Relationship Id="rId2" Type="http://schemas.openxmlformats.org/officeDocument/2006/relationships/hyperlink" Target="https://github.com/gjbex/Scientific-C-plus-plus/tree/master/source-code/Templates/Count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jbex/Scientific-C-plus-plus/tree/master/source-code/Templates/DuckTyping" TargetMode="Externa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Regexes" TargetMode="Externa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IoStreams" TargetMode="Externa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C-plus-plus/tree/master/source-code/Pointers" TargetMode="Externa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CPlusPlus/Containers" TargetMode="External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C-plus-plus/tree/master/source-code/Ranges" TargetMode="External"/><Relationship Id="rId2" Type="http://schemas.openxmlformats.org/officeDocument/2006/relationships/hyperlink" Target="https://github.com/gjbex/Scientific-C-plus-plus/tree/master/source-code/Algorithms" TargetMode="External"/><Relationship Id="rId1" Type="http://schemas.openxmlformats.org/officeDocument/2006/relationships/slideLayout" Target="../slideLayouts/slideLayout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training-material/tree/master/CPlusPlus/Armadillo" TargetMode="External"/><Relationship Id="rId2" Type="http://schemas.openxmlformats.org/officeDocument/2006/relationships/hyperlink" Target="https://github.com/gjbex/training-material/tree/master/CPlusPlus/Numerics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gjbex/training-material/tree/master/CPlusPlus/UsingCLibraries" TargetMode="External"/><Relationship Id="rId4" Type="http://schemas.openxmlformats.org/officeDocument/2006/relationships/hyperlink" Target="https://github.com/gjbex/training-material/tree/master/CPlusPlus/Boost" TargetMode="Externa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hyperlink" Target="http://eigen.tuxfamily.org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rma.sourceforge.net/" TargetMode="Externa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hyperlink" Target="http://isocpp.github.io/CppCoreGuidelines/CppCoreGuidelines#main" TargetMode="External"/><Relationship Id="rId2" Type="http://schemas.openxmlformats.org/officeDocument/2006/relationships/hyperlink" Target="https://en.cppreference.com/w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socpp.org/wiki/faq" TargetMode="External"/><Relationship Id="rId4" Type="http://schemas.openxmlformats.org/officeDocument/2006/relationships/hyperlink" Target="https://google.github.io/styleguide/cppguide.html" TargetMode="Externa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plusplus/cpp_overview.htm" TargetMode="External"/><Relationship Id="rId2" Type="http://schemas.openxmlformats.org/officeDocument/2006/relationships/hyperlink" Target="http://www.cplusplus.com/" TargetMode="Externa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echef.com/ide" TargetMode="External"/><Relationship Id="rId13" Type="http://schemas.openxmlformats.org/officeDocument/2006/relationships/hyperlink" Target="https://www.eclipse.org/ide/" TargetMode="External"/><Relationship Id="rId3" Type="http://schemas.openxmlformats.org/officeDocument/2006/relationships/hyperlink" Target="https://software.intel.com/en-us/c-compilers" TargetMode="External"/><Relationship Id="rId7" Type="http://schemas.openxmlformats.org/officeDocument/2006/relationships/hyperlink" Target="http://wandbox.org/" TargetMode="External"/><Relationship Id="rId12" Type="http://schemas.openxmlformats.org/officeDocument/2006/relationships/hyperlink" Target="https://code.visualstudio.com/" TargetMode="External"/><Relationship Id="rId2" Type="http://schemas.openxmlformats.org/officeDocument/2006/relationships/hyperlink" Target="https://gcc.gnu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vgvassilev/cling" TargetMode="External"/><Relationship Id="rId11" Type="http://schemas.openxmlformats.org/officeDocument/2006/relationships/hyperlink" Target="https://www.jetbrains.com/clion/" TargetMode="External"/><Relationship Id="rId5" Type="http://schemas.openxmlformats.org/officeDocument/2006/relationships/hyperlink" Target="https://godbolt.org/" TargetMode="External"/><Relationship Id="rId10" Type="http://schemas.openxmlformats.org/officeDocument/2006/relationships/hyperlink" Target="http://cppcheck.sourceforge.net/" TargetMode="External"/><Relationship Id="rId4" Type="http://schemas.openxmlformats.org/officeDocument/2006/relationships/hyperlink" Target="https://clang.llvm.org/" TargetMode="External"/><Relationship Id="rId9" Type="http://schemas.openxmlformats.org/officeDocument/2006/relationships/hyperlink" Target="https://repli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C++ for scientific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441AE-5200-4BFA-A8F5-12C89683891A}"/>
              </a:ext>
            </a:extLst>
          </p:cNvPr>
          <p:cNvSpPr txBox="1"/>
          <p:nvPr/>
        </p:nvSpPr>
        <p:spPr>
          <a:xfrm>
            <a:off x="1604424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8C3C4-56EB-4DE2-82FF-67D885887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710852"/>
            <a:ext cx="2085975" cy="35242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D7E98AD-C0E4-47B9-A24A-465D3C622D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9"/>
          <a:stretch/>
        </p:blipFill>
        <p:spPr bwMode="auto">
          <a:xfrm>
            <a:off x="6562312" y="134093"/>
            <a:ext cx="1534493" cy="142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3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95627" y="4941168"/>
            <a:ext cx="3682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hlinkClick r:id="rId2"/>
              </a:rPr>
              <a:t>http://bit.ly/2P40p4L</a:t>
            </a:r>
            <a:r>
              <a:rPr lang="en-BE" sz="3000" dirty="0"/>
              <a:t> 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E825E9-F790-48D6-A2C6-1A5A7B576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08" y="1592795"/>
            <a:ext cx="3069785" cy="306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8F059-BBF4-426A-926B-672366F8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1651B9F1-7A7F-4E0B-8AF9-807ED9F10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3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924" y="1031001"/>
            <a:ext cx="73414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E045-54CD-598D-7DDC-36956A224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4169924"/>
            <a:ext cx="3230118" cy="198409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/>
              <a:t>Table of Contents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67512"/>
            <a:ext cx="3710178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Lines of code">
            <a:extLst>
              <a:ext uri="{FF2B5EF4-FFF2-40B4-BE49-F238E27FC236}">
                <a16:creationId xmlns:a16="http://schemas.microsoft.com/office/drawing/2014/main" id="{8AA82440-3A68-4318-BEB2-FDDCE6664D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2596" r="21686" b="3"/>
          <a:stretch/>
        </p:blipFill>
        <p:spPr>
          <a:xfrm>
            <a:off x="20" y="703983"/>
            <a:ext cx="3710159" cy="3133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E1B33-E325-7561-9D9A-37AB8BF60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1386" y="665018"/>
            <a:ext cx="4416870" cy="563290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buSzPct val="87000"/>
            </a:pPr>
            <a:r>
              <a:rPr lang="en-US" sz="1500"/>
              <a:t>Introduction to C++ for Scientific Computing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Key Features and Benefits of C++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History and Evolution of C++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Basic Language Features and Syntax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Data Types and Operators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Functions and Recursion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Object-Oriented Programming Concepts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Templates and Generic Programming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Error Handling in C++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Data Structures and Algorithms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Numerical Methods and Libraries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Best Practices for Scientific Computing in C++</a:t>
            </a:r>
          </a:p>
          <a:p>
            <a:pPr>
              <a:lnSpc>
                <a:spcPct val="110000"/>
              </a:lnSpc>
              <a:buSzPct val="87000"/>
            </a:pPr>
            <a:r>
              <a:rPr lang="en-US" sz="1500"/>
              <a:t>Conclusion and Further Reading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A8D94-CE20-ED8B-ED1B-14428EDE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5996" y="6356350"/>
            <a:ext cx="5422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C7B90BF-DFC6-4821-92D8-D156D603F43D}" type="slidenum">
              <a:rPr lang="en-US" sz="800" b="1" cap="all" spc="300">
                <a:solidFill>
                  <a:prstClr val="black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800" b="1" cap="all" spc="3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17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0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Industrial strength programming language</a:t>
            </a:r>
          </a:p>
          <a:p>
            <a:r>
              <a:rPr lang="en-US" dirty="0"/>
              <a:t>General purpose</a:t>
            </a:r>
          </a:p>
          <a:p>
            <a:r>
              <a:rPr lang="en-US" dirty="0"/>
              <a:t>Feature rich</a:t>
            </a:r>
          </a:p>
          <a:p>
            <a:pPr lvl="1"/>
            <a:r>
              <a:rPr lang="en-US" dirty="0"/>
              <a:t>object oriented</a:t>
            </a:r>
          </a:p>
          <a:p>
            <a:pPr lvl="1"/>
            <a:r>
              <a:rPr lang="en-US" dirty="0"/>
              <a:t>functional features</a:t>
            </a:r>
          </a:p>
          <a:p>
            <a:r>
              <a:rPr lang="en-US" dirty="0"/>
              <a:t>Good standard library</a:t>
            </a:r>
          </a:p>
          <a:p>
            <a:r>
              <a:rPr lang="en-US" dirty="0"/>
              <a:t>Excellent performance…</a:t>
            </a:r>
          </a:p>
          <a:p>
            <a:pPr lvl="1"/>
            <a:r>
              <a:rPr lang="en-US" dirty="0"/>
              <a:t>when used well</a:t>
            </a:r>
          </a:p>
          <a:p>
            <a:r>
              <a:rPr lang="en-US" dirty="0"/>
              <a:t>However…</a:t>
            </a:r>
          </a:p>
          <a:p>
            <a:pPr lvl="1"/>
            <a:r>
              <a:rPr lang="en-US" dirty="0"/>
              <a:t>not that easy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986958" y="4062405"/>
            <a:ext cx="3528392" cy="1404495"/>
            <a:chOff x="4821276" y="4447838"/>
            <a:chExt cx="3528392" cy="1404495"/>
          </a:xfrm>
        </p:grpSpPr>
        <p:sp>
          <p:nvSpPr>
            <p:cNvPr id="6" name="Rounded Rectangle 5"/>
            <p:cNvSpPr/>
            <p:nvPr/>
          </p:nvSpPr>
          <p:spPr>
            <a:xfrm>
              <a:off x="4821276" y="4447838"/>
              <a:ext cx="3528392" cy="14044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60032" y="4447838"/>
              <a:ext cx="324960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Anybody who comes to you and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says he has a perfect language is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either naïve or a salesman.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20853" y="5408069"/>
              <a:ext cx="209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— Bjarne </a:t>
              </a:r>
              <a:r>
                <a:rPr lang="en-US" dirty="0" err="1">
                  <a:solidFill>
                    <a:srgbClr val="0070C0"/>
                  </a:solidFill>
                </a:rPr>
                <a:t>Stroustrup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31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  <a:p>
            <a:pPr lvl="1"/>
            <a:r>
              <a:rPr lang="en-US" dirty="0"/>
              <a:t>You are fluent in another programming language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subset of C++ most useful for scientific computation</a:t>
            </a:r>
          </a:p>
          <a:p>
            <a:pPr lvl="2"/>
            <a:r>
              <a:rPr lang="en-US" dirty="0"/>
              <a:t>data structures</a:t>
            </a:r>
          </a:p>
          <a:p>
            <a:pPr lvl="2"/>
            <a:r>
              <a:rPr lang="en-US" dirty="0" err="1"/>
              <a:t>numerics</a:t>
            </a:r>
            <a:endParaRPr lang="en-US" dirty="0"/>
          </a:p>
          <a:p>
            <a:pPr lvl="2"/>
            <a:r>
              <a:rPr lang="en-US" dirty="0"/>
              <a:t>data processing</a:t>
            </a:r>
          </a:p>
          <a:p>
            <a:pPr lvl="2"/>
            <a:r>
              <a:rPr lang="en-US" dirty="0"/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998839"/>
            <a:ext cx="754867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This is not a training to teach you how to program!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407877" y="4947138"/>
            <a:ext cx="4321908" cy="1409213"/>
            <a:chOff x="4407877" y="4947138"/>
            <a:chExt cx="4321908" cy="1409213"/>
          </a:xfrm>
        </p:grpSpPr>
        <p:sp>
          <p:nvSpPr>
            <p:cNvPr id="6" name="Rounded Rectangle 5"/>
            <p:cNvSpPr/>
            <p:nvPr/>
          </p:nvSpPr>
          <p:spPr>
            <a:xfrm>
              <a:off x="4407877" y="4947138"/>
              <a:ext cx="4321908" cy="14092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510728" y="5056553"/>
              <a:ext cx="4161717" cy="1188508"/>
              <a:chOff x="4510728" y="5056553"/>
              <a:chExt cx="4161717" cy="1188508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4510728" y="5056553"/>
                <a:ext cx="416171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latin typeface="Informal Roman" panose="030604020304060B0204" pitchFamily="66" charset="0"/>
                  </a:rPr>
                  <a:t>Within C++, there is a much smaller and</a:t>
                </a:r>
              </a:p>
              <a:p>
                <a:r>
                  <a:rPr lang="en-US" sz="2000" dirty="0">
                    <a:solidFill>
                      <a:srgbClr val="0070C0"/>
                    </a:solidFill>
                    <a:latin typeface="Informal Roman" panose="030604020304060B0204" pitchFamily="66" charset="0"/>
                  </a:rPr>
                  <a:t>cleaner language struggling to get out.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457950" y="5875729"/>
                <a:ext cx="20971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— Bjarne </a:t>
                </a:r>
                <a:r>
                  <a:rPr lang="en-US" dirty="0" err="1">
                    <a:solidFill>
                      <a:srgbClr val="0070C0"/>
                    </a:solidFill>
                  </a:rPr>
                  <a:t>Stroustrup</a:t>
                </a:r>
                <a:endParaRPr lang="en-US" dirty="0">
                  <a:solidFill>
                    <a:srgbClr val="0070C0"/>
                  </a:solidFill>
                </a:endParaRPr>
              </a:p>
            </p:txBody>
          </p:sp>
        </p:grp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5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created by Bjarne </a:t>
            </a:r>
            <a:r>
              <a:rPr lang="en-US" dirty="0" err="1"/>
              <a:t>Stroustrup</a:t>
            </a:r>
            <a:r>
              <a:rPr lang="en-US" dirty="0"/>
              <a:t> in 1983</a:t>
            </a:r>
          </a:p>
          <a:p>
            <a:r>
              <a:rPr lang="en-US" dirty="0"/>
              <a:t>Many changes over the years</a:t>
            </a:r>
          </a:p>
          <a:p>
            <a:pPr lvl="1"/>
            <a:r>
              <a:rPr lang="en-US" dirty="0"/>
              <a:t>C++98: coming of age: ISO standardization</a:t>
            </a:r>
          </a:p>
          <a:p>
            <a:pPr lvl="1"/>
            <a:r>
              <a:rPr lang="en-US" dirty="0"/>
              <a:t>C++11: gets easier to use</a:t>
            </a:r>
          </a:p>
          <a:p>
            <a:pPr lvl="1"/>
            <a:r>
              <a:rPr lang="en-US" dirty="0"/>
              <a:t>C++14: fix things in C++11</a:t>
            </a:r>
          </a:p>
          <a:p>
            <a:pPr lvl="1"/>
            <a:r>
              <a:rPr lang="en-US" dirty="0"/>
              <a:t>C++17: new features</a:t>
            </a:r>
          </a:p>
          <a:p>
            <a:pPr lvl="1"/>
            <a:r>
              <a:rPr lang="en-US" dirty="0"/>
              <a:t>C++20: lots of new features, not fully supported yet</a:t>
            </a:r>
          </a:p>
          <a:p>
            <a:pPr lvl="1"/>
            <a:r>
              <a:rPr lang="en-US" dirty="0"/>
              <a:t>C++23: some new features, not fully supported yet</a:t>
            </a:r>
          </a:p>
          <a:p>
            <a:r>
              <a:rPr lang="en-US" dirty="0"/>
              <a:t>Here, C++20 (a bit of C++23) + quite some STL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288" y="5767015"/>
            <a:ext cx="713188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Presentation based on:</a:t>
            </a:r>
            <a:br>
              <a:rPr lang="en-US" dirty="0"/>
            </a:br>
            <a:r>
              <a:rPr lang="en-US" sz="2400" dirty="0"/>
              <a:t>Bjarne </a:t>
            </a:r>
            <a:r>
              <a:rPr lang="en-US" sz="2400" dirty="0" err="1"/>
              <a:t>Stroustrup</a:t>
            </a:r>
            <a:r>
              <a:rPr lang="en-US" sz="2400" dirty="0"/>
              <a:t> , </a:t>
            </a:r>
            <a:r>
              <a:rPr lang="en-US" sz="2400" i="1" dirty="0"/>
              <a:t>A tour of C++, </a:t>
            </a:r>
            <a:r>
              <a:rPr lang="en-US" sz="2400" dirty="0"/>
              <a:t>Addison-Wesley,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8</a:t>
            </a:fld>
            <a:endParaRPr lang="en-US"/>
          </a:p>
        </p:txBody>
      </p:sp>
      <p:pic>
        <p:nvPicPr>
          <p:cNvPr id="14338" name="Picture 2" descr="https://upload.wikimedia.org/wikipedia/commons/d/da/BjarneStroustru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420" y="213361"/>
            <a:ext cx="1969770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96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hello_world.cpp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9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1214772" y="2408280"/>
            <a:ext cx="3414717" cy="3000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g++  -o hello.exe  hello.cpp</a:t>
            </a:r>
            <a:endParaRPr lang="nl-BE" sz="135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4772" y="4604111"/>
            <a:ext cx="2554792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315" y="5576455"/>
            <a:ext cx="1943279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case dim temp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1 1 -0.5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2 1 0.0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683797" y="4604111"/>
            <a:ext cx="5552877" cy="2014050"/>
            <a:chOff x="-2125758" y="5793669"/>
            <a:chExt cx="7403837" cy="2685400"/>
          </a:xfrm>
        </p:grpSpPr>
        <p:sp>
          <p:nvSpPr>
            <p:cNvPr id="13" name="Oval 12"/>
            <p:cNvSpPr/>
            <p:nvPr/>
          </p:nvSpPr>
          <p:spPr>
            <a:xfrm>
              <a:off x="2115117" y="820555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350"/>
            </a:p>
          </p:txBody>
        </p:sp>
        <p:cxnSp>
          <p:nvCxnSpPr>
            <p:cNvPr id="14" name="Straight Arrow Connector 13"/>
            <p:cNvCxnSpPr>
              <a:stCxn id="15" idx="1"/>
              <a:endCxn id="13" idx="6"/>
            </p:cNvCxnSpPr>
            <p:nvPr/>
          </p:nvCxnSpPr>
          <p:spPr>
            <a:xfrm flipH="1">
              <a:off x="2475159" y="6224557"/>
              <a:ext cx="1232747" cy="211775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707905" y="5793669"/>
              <a:ext cx="1570174" cy="8617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</a:t>
              </a:r>
              <a:br>
                <a:rPr lang="en-US" dirty="0"/>
              </a:br>
              <a:r>
                <a:rPr lang="en-US" dirty="0"/>
                <a:t>not shown</a:t>
              </a:r>
              <a:endParaRPr lang="nl-BE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-2125758" y="65775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350"/>
            </a:p>
          </p:txBody>
        </p:sp>
        <p:cxnSp>
          <p:nvCxnSpPr>
            <p:cNvPr id="17" name="Straight Arrow Connector 16"/>
            <p:cNvCxnSpPr>
              <a:stCxn id="15" idx="1"/>
              <a:endCxn id="16" idx="6"/>
            </p:cNvCxnSpPr>
            <p:nvPr/>
          </p:nvCxnSpPr>
          <p:spPr>
            <a:xfrm flipH="1">
              <a:off x="-1765717" y="6224557"/>
              <a:ext cx="5473622" cy="48971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942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versus semantics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syntax: form, grammar</a:t>
            </a:r>
          </a:p>
          <a:p>
            <a:pPr lvl="1"/>
            <a:r>
              <a:rPr lang="en-US" dirty="0"/>
              <a:t>correct:</a:t>
            </a:r>
            <a:br>
              <a:rPr lang="en-US" dirty="0"/>
            </a:br>
            <a:r>
              <a:rPr lang="en-US" i="1" dirty="0"/>
              <a:t>The dog is barking.</a:t>
            </a:r>
          </a:p>
          <a:p>
            <a:pPr lvl="1"/>
            <a:r>
              <a:rPr lang="en-US" dirty="0"/>
              <a:t>incorrect:</a:t>
            </a:r>
            <a:br>
              <a:rPr lang="en-US" dirty="0"/>
            </a:br>
            <a:r>
              <a:rPr lang="en-US" i="1" dirty="0"/>
              <a:t>The dog barking.</a:t>
            </a:r>
          </a:p>
          <a:p>
            <a:r>
              <a:rPr lang="en-US" dirty="0"/>
              <a:t>semantics: meaning, interpretation</a:t>
            </a:r>
          </a:p>
          <a:p>
            <a:pPr lvl="1"/>
            <a:r>
              <a:rPr lang="en-US" dirty="0"/>
              <a:t>correct:</a:t>
            </a:r>
            <a:br>
              <a:rPr lang="nl-BE" dirty="0"/>
            </a:br>
            <a:r>
              <a:rPr lang="nl-BE" i="1" dirty="0"/>
              <a:t>The dog </a:t>
            </a:r>
            <a:r>
              <a:rPr lang="nl-BE" i="1" dirty="0" err="1"/>
              <a:t>barked</a:t>
            </a:r>
            <a:r>
              <a:rPr lang="nl-BE" i="1" dirty="0"/>
              <a:t>.</a:t>
            </a:r>
          </a:p>
          <a:p>
            <a:pPr lvl="1"/>
            <a:r>
              <a:rPr lang="en-US" dirty="0"/>
              <a:t>incorrect:</a:t>
            </a:r>
            <a:br>
              <a:rPr lang="en-US" dirty="0"/>
            </a:br>
            <a:r>
              <a:rPr lang="en-US" i="1" dirty="0"/>
              <a:t>The dog spoke.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1960" y="5981218"/>
            <a:ext cx="24769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Except in fairy tales!</a:t>
            </a:r>
            <a:endParaRPr lang="nl-BE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4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language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GB" sz="1600" dirty="0">
                <a:hlinkClick r:id="rId2"/>
              </a:rPr>
              <a:t>https://github.com/gjbex/Scientific-C-plus-plus/tree/master/source-code/Basics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3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(Almost) minimal C++ program: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hello.cpp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Compile &amp; link</a:t>
            </a:r>
          </a:p>
          <a:p>
            <a:endParaRPr lang="en-US" dirty="0"/>
          </a:p>
          <a:p>
            <a:r>
              <a:rPr lang="en-US" dirty="0"/>
              <a:t>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14771" y="2441011"/>
            <a:ext cx="7644094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"hello 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 &lt;&lt; "!"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771" y="4877564"/>
            <a:ext cx="6849952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g++  -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c++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14  -Wall  -g  -o hello.exe  hello.cpp</a:t>
            </a:r>
            <a:endParaRPr lang="nl-BE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4770" y="5858073"/>
            <a:ext cx="5368777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./hello.exe  world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 world!</a:t>
            </a:r>
            <a:endParaRPr lang="nl-BE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D9611-2EC0-3DCE-C63E-18C75117FAA0}"/>
              </a:ext>
            </a:extLst>
          </p:cNvPr>
          <p:cNvSpPr txBox="1"/>
          <p:nvPr/>
        </p:nvSpPr>
        <p:spPr>
          <a:xfrm>
            <a:off x="7984908" y="3702894"/>
            <a:ext cx="85632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hello.cpp</a:t>
            </a:r>
          </a:p>
        </p:txBody>
      </p:sp>
    </p:spTree>
    <p:extLst>
      <p:ext uri="{BB962C8B-B14F-4D97-AF65-F5344CB8AC3E}">
        <p14:creationId xmlns:p14="http://schemas.microsoft.com/office/powerpoint/2010/main" val="99677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declarations of (standard) libraries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dirty="0"/>
              <a:t> function definition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Statements in function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14771" y="2441011"/>
            <a:ext cx="5815293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770" y="3842287"/>
            <a:ext cx="5815293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770" y="5397117"/>
            <a:ext cx="5815293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"hello world!"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214770" y="3344860"/>
            <a:ext cx="7031202" cy="1036036"/>
            <a:chOff x="-1469923" y="3344860"/>
            <a:chExt cx="7031202" cy="1036036"/>
          </a:xfrm>
        </p:grpSpPr>
        <p:sp>
          <p:nvSpPr>
            <p:cNvPr id="8" name="TextBox 7"/>
            <p:cNvSpPr txBox="1"/>
            <p:nvPr/>
          </p:nvSpPr>
          <p:spPr>
            <a:xfrm>
              <a:off x="3779701" y="3344860"/>
              <a:ext cx="1781578" cy="10156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Application has</a:t>
              </a:r>
              <a:br>
                <a:rPr lang="en-US" sz="2000" dirty="0">
                  <a:solidFill>
                    <a:srgbClr val="C00000"/>
                  </a:solidFill>
                </a:rPr>
              </a:br>
              <a:r>
                <a:rPr lang="en-US" sz="2000" dirty="0">
                  <a:solidFill>
                    <a:srgbClr val="C00000"/>
                  </a:solidFill>
                </a:rPr>
                <a:t>exactly one</a:t>
              </a:r>
            </a:p>
            <a:p>
              <a:r>
                <a: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  <a:r>
                <a:rPr lang="en-US" sz="2000" dirty="0">
                  <a:solidFill>
                    <a:srgbClr val="C00000"/>
                  </a:solidFill>
                </a:rPr>
                <a:t> function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-1469923" y="4100052"/>
              <a:ext cx="4055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8" idx="1"/>
              <a:endCxn id="9" idx="3"/>
            </p:cNvCxnSpPr>
            <p:nvPr/>
          </p:nvCxnSpPr>
          <p:spPr>
            <a:xfrm flipH="1">
              <a:off x="2585884" y="3852692"/>
              <a:ext cx="1193817" cy="38778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369574" y="2265719"/>
            <a:ext cx="6250218" cy="480122"/>
            <a:chOff x="-1460577" y="3913434"/>
            <a:chExt cx="6250218" cy="480122"/>
          </a:xfrm>
        </p:grpSpPr>
        <p:sp>
          <p:nvSpPr>
            <p:cNvPr id="17" name="TextBox 16"/>
            <p:cNvSpPr txBox="1"/>
            <p:nvPr/>
          </p:nvSpPr>
          <p:spPr>
            <a:xfrm>
              <a:off x="2627799" y="3913434"/>
              <a:ext cx="216184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required for I/O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-1460577" y="4112712"/>
              <a:ext cx="1322925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1"/>
              <a:endCxn id="18" idx="3"/>
            </p:cNvCxnSpPr>
            <p:nvPr/>
          </p:nvCxnSpPr>
          <p:spPr>
            <a:xfrm flipH="1">
              <a:off x="-137652" y="4113489"/>
              <a:ext cx="2765451" cy="13964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2615382" y="5920105"/>
            <a:ext cx="6194320" cy="459085"/>
            <a:chOff x="-318524" y="4112712"/>
            <a:chExt cx="6194320" cy="459085"/>
          </a:xfrm>
        </p:grpSpPr>
        <p:sp>
          <p:nvSpPr>
            <p:cNvPr id="25" name="TextBox 24"/>
            <p:cNvSpPr txBox="1"/>
            <p:nvPr/>
          </p:nvSpPr>
          <p:spPr>
            <a:xfrm>
              <a:off x="3530487" y="4171687"/>
              <a:ext cx="234530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program's exit code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318524" y="4112712"/>
              <a:ext cx="180872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25" idx="1"/>
              <a:endCxn id="26" idx="3"/>
            </p:cNvCxnSpPr>
            <p:nvPr/>
          </p:nvCxnSpPr>
          <p:spPr>
            <a:xfrm flipH="1" flipV="1">
              <a:off x="-137652" y="4253134"/>
              <a:ext cx="3668139" cy="11860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182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name conflicts</a:t>
            </a:r>
          </a:p>
          <a:p>
            <a:pPr lvl="1"/>
            <a:r>
              <a:rPr lang="en-US" dirty="0"/>
              <a:t>functions/variables with same name in multiple contexts</a:t>
            </a:r>
          </a:p>
          <a:p>
            <a:r>
              <a:rPr lang="en-US" dirty="0"/>
              <a:t>E.g., standard library in namespace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cs typeface="Courier New" panose="02070309020205020404" pitchFamily="49" charset="0"/>
              </a:rPr>
              <a:t>, …</a:t>
            </a:r>
          </a:p>
          <a:p>
            <a:r>
              <a:rPr lang="en-US" dirty="0"/>
              <a:t>Either</a:t>
            </a:r>
          </a:p>
          <a:p>
            <a:pPr lvl="1"/>
            <a:r>
              <a:rPr lang="en-US" dirty="0"/>
              <a:t>prefix with namespace,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, or</a:t>
            </a:r>
          </a:p>
          <a:p>
            <a:pPr lvl="1"/>
            <a:r>
              <a:rPr lang="en-US" dirty="0"/>
              <a:t>use namespace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1267" y="4942368"/>
            <a:ext cx="6244101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"hello 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 &lt;&lt; "!" &lt;&lt;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35117" y="4986915"/>
            <a:ext cx="7412455" cy="480122"/>
            <a:chOff x="-2622814" y="3913434"/>
            <a:chExt cx="7412455" cy="480122"/>
          </a:xfrm>
        </p:grpSpPr>
        <p:sp>
          <p:nvSpPr>
            <p:cNvPr id="7" name="TextBox 6"/>
            <p:cNvSpPr txBox="1"/>
            <p:nvPr/>
          </p:nvSpPr>
          <p:spPr>
            <a:xfrm>
              <a:off x="2627799" y="3913434"/>
              <a:ext cx="216184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assumed in slides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-2622814" y="4112712"/>
              <a:ext cx="248516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1"/>
              <a:endCxn id="8" idx="3"/>
            </p:cNvCxnSpPr>
            <p:nvPr/>
          </p:nvCxnSpPr>
          <p:spPr>
            <a:xfrm flipH="1">
              <a:off x="-137651" y="4113489"/>
              <a:ext cx="2765450" cy="13964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441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things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to terminal, i.e.,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1267" y="2415473"/>
            <a:ext cx="6244101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"hello 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 &lt;&lt; "!" &lt;&lt;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61267" y="2008321"/>
            <a:ext cx="7305983" cy="707886"/>
            <a:chOff x="-2572239" y="3685670"/>
            <a:chExt cx="7305983" cy="707886"/>
          </a:xfrm>
        </p:grpSpPr>
        <p:sp>
          <p:nvSpPr>
            <p:cNvPr id="7" name="TextBox 6"/>
            <p:cNvSpPr txBox="1"/>
            <p:nvPr/>
          </p:nvSpPr>
          <p:spPr>
            <a:xfrm>
              <a:off x="2146017" y="3685670"/>
              <a:ext cx="2587727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import declarations of</a:t>
              </a:r>
            </a:p>
            <a:p>
              <a:r>
                <a:rPr lang="en-US" sz="2000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cout</a:t>
              </a:r>
              <a:r>
                <a:rPr lang="en-US" sz="2000" dirty="0">
                  <a:solidFill>
                    <a:srgbClr val="C00000"/>
                  </a:solidFill>
                </a:rPr>
                <a:t>, </a:t>
              </a:r>
              <a:r>
                <a:rPr lang="en-US" sz="2000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endl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-2572239" y="4112712"/>
              <a:ext cx="2434588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1"/>
              <a:endCxn id="8" idx="3"/>
            </p:cNvCxnSpPr>
            <p:nvPr/>
          </p:nvCxnSpPr>
          <p:spPr>
            <a:xfrm flipH="1">
              <a:off x="-137651" y="4039613"/>
              <a:ext cx="2283668" cy="21352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6213986" y="3176831"/>
            <a:ext cx="1415846" cy="1141579"/>
            <a:chOff x="2044622" y="2944201"/>
            <a:chExt cx="1415846" cy="1141579"/>
          </a:xfrm>
        </p:grpSpPr>
        <p:sp>
          <p:nvSpPr>
            <p:cNvPr id="14" name="TextBox 13"/>
            <p:cNvSpPr txBox="1"/>
            <p:nvPr/>
          </p:nvSpPr>
          <p:spPr>
            <a:xfrm>
              <a:off x="2146017" y="3685670"/>
              <a:ext cx="131445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end of line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44622" y="2944201"/>
              <a:ext cx="59042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>
              <a:stCxn id="14" idx="0"/>
              <a:endCxn id="15" idx="2"/>
            </p:cNvCxnSpPr>
            <p:nvPr/>
          </p:nvCxnSpPr>
          <p:spPr>
            <a:xfrm flipH="1" flipV="1">
              <a:off x="2339834" y="3225045"/>
              <a:ext cx="463409" cy="46062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56038" y="3188012"/>
            <a:ext cx="1605023" cy="1140748"/>
            <a:chOff x="1030022" y="2944201"/>
            <a:chExt cx="1605023" cy="1140748"/>
          </a:xfrm>
        </p:grpSpPr>
        <p:sp>
          <p:nvSpPr>
            <p:cNvPr id="23" name="TextBox 22"/>
            <p:cNvSpPr txBox="1"/>
            <p:nvPr/>
          </p:nvSpPr>
          <p:spPr>
            <a:xfrm>
              <a:off x="1030022" y="3684839"/>
              <a:ext cx="140546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destination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044622" y="2944201"/>
              <a:ext cx="59042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3" idx="0"/>
              <a:endCxn id="24" idx="2"/>
            </p:cNvCxnSpPr>
            <p:nvPr/>
          </p:nvCxnSpPr>
          <p:spPr>
            <a:xfrm flipV="1">
              <a:off x="1732754" y="3225045"/>
              <a:ext cx="607080" cy="45979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720644" y="5020162"/>
            <a:ext cx="490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"hello "</a:t>
            </a:r>
            <a:r>
              <a:rPr lang="en-US" sz="2400" dirty="0"/>
              <a:t>: string constant, i.e., text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115136" y="3165633"/>
            <a:ext cx="2329045" cy="1163127"/>
            <a:chOff x="2115136" y="3165633"/>
            <a:chExt cx="2329045" cy="1163127"/>
          </a:xfrm>
        </p:grpSpPr>
        <p:grpSp>
          <p:nvGrpSpPr>
            <p:cNvPr id="30" name="Group 29"/>
            <p:cNvGrpSpPr/>
            <p:nvPr/>
          </p:nvGrpSpPr>
          <p:grpSpPr>
            <a:xfrm>
              <a:off x="2115136" y="3188012"/>
              <a:ext cx="2329045" cy="1140748"/>
              <a:chOff x="1030021" y="2944201"/>
              <a:chExt cx="2329045" cy="1140748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1030021" y="3684839"/>
                <a:ext cx="2329045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"send to" </a:t>
                </a:r>
                <a:r>
                  <a:rPr lang="en-US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operator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1159044" y="2944201"/>
                <a:ext cx="251811" cy="280844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/>
              <p:cNvCxnSpPr>
                <a:stCxn id="31" idx="0"/>
                <a:endCxn id="32" idx="2"/>
              </p:cNvCxnSpPr>
              <p:nvPr/>
            </p:nvCxnSpPr>
            <p:spPr>
              <a:xfrm flipH="1" flipV="1">
                <a:off x="1284950" y="3225045"/>
                <a:ext cx="909594" cy="459794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Rectangle 41"/>
            <p:cNvSpPr/>
            <p:nvPr/>
          </p:nvSpPr>
          <p:spPr>
            <a:xfrm>
              <a:off x="3730852" y="3165633"/>
              <a:ext cx="251811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stCxn id="31" idx="0"/>
              <a:endCxn id="42" idx="2"/>
            </p:cNvCxnSpPr>
            <p:nvPr/>
          </p:nvCxnSpPr>
          <p:spPr>
            <a:xfrm flipV="1">
              <a:off x="3279659" y="3446477"/>
              <a:ext cx="577099" cy="4821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592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things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75441" y="2308628"/>
            <a:ext cx="5368777" cy="10772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./hello.exe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world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world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./hello.exe 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C++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C++</a:t>
            </a:r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 </a:t>
            </a:r>
            <a:endParaRPr lang="nl-BE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156154" y="2322613"/>
            <a:ext cx="3677265" cy="1678681"/>
            <a:chOff x="3156154" y="2322613"/>
            <a:chExt cx="3677265" cy="1678681"/>
          </a:xfrm>
        </p:grpSpPr>
        <p:grpSp>
          <p:nvGrpSpPr>
            <p:cNvPr id="6" name="Group 5"/>
            <p:cNvGrpSpPr/>
            <p:nvPr/>
          </p:nvGrpSpPr>
          <p:grpSpPr>
            <a:xfrm>
              <a:off x="3156154" y="2322613"/>
              <a:ext cx="3677265" cy="1678681"/>
              <a:chOff x="2044622" y="2944201"/>
              <a:chExt cx="3677265" cy="1678681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578636" y="4222772"/>
                <a:ext cx="3143251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argument passed at runtime</a:t>
                </a:r>
                <a:endPara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044622" y="2944201"/>
                <a:ext cx="751500" cy="280844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/>
              <p:cNvCxnSpPr>
                <a:stCxn id="7" idx="0"/>
                <a:endCxn id="8" idx="2"/>
              </p:cNvCxnSpPr>
              <p:nvPr/>
            </p:nvCxnSpPr>
            <p:spPr>
              <a:xfrm flipH="1" flipV="1">
                <a:off x="2420372" y="3225045"/>
                <a:ext cx="1729890" cy="99772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/>
            <p:cNvSpPr/>
            <p:nvPr/>
          </p:nvSpPr>
          <p:spPr>
            <a:xfrm>
              <a:off x="3177942" y="2818795"/>
              <a:ext cx="512226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7" idx="0"/>
              <a:endCxn id="13" idx="2"/>
            </p:cNvCxnSpPr>
            <p:nvPr/>
          </p:nvCxnSpPr>
          <p:spPr>
            <a:xfrm flipH="1" flipV="1">
              <a:off x="3434055" y="3099639"/>
              <a:ext cx="1827739" cy="50154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1061267" y="4027966"/>
            <a:ext cx="6244101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"hello 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 &lt;&lt; "!"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641746" y="4308105"/>
            <a:ext cx="1624687" cy="1686991"/>
            <a:chOff x="1010358" y="2944201"/>
            <a:chExt cx="1624687" cy="1686991"/>
          </a:xfrm>
        </p:grpSpPr>
        <p:sp>
          <p:nvSpPr>
            <p:cNvPr id="22" name="TextBox 21"/>
            <p:cNvSpPr txBox="1"/>
            <p:nvPr/>
          </p:nvSpPr>
          <p:spPr>
            <a:xfrm>
              <a:off x="1010358" y="3923306"/>
              <a:ext cx="1405464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number of arguments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044622" y="2944201"/>
              <a:ext cx="59042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22" idx="0"/>
              <a:endCxn id="23" idx="2"/>
            </p:cNvCxnSpPr>
            <p:nvPr/>
          </p:nvCxnSpPr>
          <p:spPr>
            <a:xfrm flipV="1">
              <a:off x="1713090" y="3225045"/>
              <a:ext cx="626744" cy="69826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191341" y="4308105"/>
            <a:ext cx="1838155" cy="1692599"/>
            <a:chOff x="513342" y="2984727"/>
            <a:chExt cx="1838155" cy="1692599"/>
          </a:xfrm>
        </p:grpSpPr>
        <p:sp>
          <p:nvSpPr>
            <p:cNvPr id="28" name="TextBox 27"/>
            <p:cNvSpPr txBox="1"/>
            <p:nvPr/>
          </p:nvSpPr>
          <p:spPr>
            <a:xfrm>
              <a:off x="946033" y="3969440"/>
              <a:ext cx="1405464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values of arguments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3342" y="2984727"/>
              <a:ext cx="59042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/>
            <p:cNvCxnSpPr>
              <a:stCxn id="28" idx="0"/>
              <a:endCxn id="29" idx="2"/>
            </p:cNvCxnSpPr>
            <p:nvPr/>
          </p:nvCxnSpPr>
          <p:spPr>
            <a:xfrm flipH="1" flipV="1">
              <a:off x="808554" y="3265571"/>
              <a:ext cx="840211" cy="70386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2981805" y="4797748"/>
            <a:ext cx="1934324" cy="1379215"/>
            <a:chOff x="1010359" y="2944201"/>
            <a:chExt cx="1934324" cy="1379215"/>
          </a:xfrm>
        </p:grpSpPr>
        <p:sp>
          <p:nvSpPr>
            <p:cNvPr id="36" name="TextBox 35"/>
            <p:cNvSpPr txBox="1"/>
            <p:nvPr/>
          </p:nvSpPr>
          <p:spPr>
            <a:xfrm>
              <a:off x="1010359" y="3923306"/>
              <a:ext cx="1423048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1</a:t>
              </a:r>
              <a:r>
                <a:rPr lang="en-US" sz="2000" baseline="30000" dirty="0">
                  <a:solidFill>
                    <a:srgbClr val="C00000"/>
                  </a:solidFill>
                </a:rPr>
                <a:t>st</a:t>
              </a:r>
              <a:r>
                <a:rPr lang="en-US" sz="2000" dirty="0">
                  <a:solidFill>
                    <a:srgbClr val="C00000"/>
                  </a:solidFill>
                </a:rPr>
                <a:t> value (?)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44622" y="2944201"/>
              <a:ext cx="900061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>
              <a:stCxn id="36" idx="0"/>
              <a:endCxn id="37" idx="2"/>
            </p:cNvCxnSpPr>
            <p:nvPr/>
          </p:nvCxnSpPr>
          <p:spPr>
            <a:xfrm flipV="1">
              <a:off x="1721883" y="3225045"/>
              <a:ext cx="772770" cy="69826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432166" y="5363730"/>
            <a:ext cx="159530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Assigned when</a:t>
            </a:r>
          </a:p>
          <a:p>
            <a:r>
              <a:rPr lang="en-US" dirty="0"/>
              <a:t>program starts</a:t>
            </a:r>
          </a:p>
        </p:txBody>
      </p:sp>
    </p:spTree>
    <p:extLst>
      <p:ext uri="{BB962C8B-B14F-4D97-AF65-F5344CB8AC3E}">
        <p14:creationId xmlns:p14="http://schemas.microsoft.com/office/powerpoint/2010/main" val="353506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for values in memory (RAM)</a:t>
            </a:r>
          </a:p>
          <a:p>
            <a:r>
              <a:rPr lang="en-US" dirty="0"/>
              <a:t>Names start with letter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/>
              <a:t>, can contain digits</a:t>
            </a:r>
          </a:p>
          <a:p>
            <a:r>
              <a:rPr lang="en-US" dirty="0"/>
              <a:t>Value can change during run</a:t>
            </a:r>
          </a:p>
          <a:p>
            <a:r>
              <a:rPr lang="en-US" dirty="0"/>
              <a:t>Must be declared, i.e.,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264067" y="3372461"/>
            <a:ext cx="1799546" cy="1103060"/>
            <a:chOff x="1010358" y="2903294"/>
            <a:chExt cx="1799546" cy="1103060"/>
          </a:xfrm>
        </p:grpSpPr>
        <p:sp>
          <p:nvSpPr>
            <p:cNvPr id="6" name="TextBox 5"/>
            <p:cNvSpPr txBox="1"/>
            <p:nvPr/>
          </p:nvSpPr>
          <p:spPr>
            <a:xfrm>
              <a:off x="1010358" y="3606244"/>
              <a:ext cx="179954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variable type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9896" y="2903294"/>
              <a:ext cx="692357" cy="38074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6" idx="0"/>
              <a:endCxn id="7" idx="2"/>
            </p:cNvCxnSpPr>
            <p:nvPr/>
          </p:nvCxnSpPr>
          <p:spPr>
            <a:xfrm flipV="1">
              <a:off x="1910131" y="3284037"/>
              <a:ext cx="415944" cy="32220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5029364" y="3372461"/>
            <a:ext cx="2342742" cy="1103060"/>
            <a:chOff x="566968" y="2903294"/>
            <a:chExt cx="2342742" cy="1103060"/>
          </a:xfrm>
        </p:grpSpPr>
        <p:sp>
          <p:nvSpPr>
            <p:cNvPr id="13" name="TextBox 12"/>
            <p:cNvSpPr txBox="1"/>
            <p:nvPr/>
          </p:nvSpPr>
          <p:spPr>
            <a:xfrm>
              <a:off x="875372" y="3606244"/>
              <a:ext cx="2034338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variable name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6968" y="2903294"/>
              <a:ext cx="1042218" cy="38074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3" idx="0"/>
              <a:endCxn id="14" idx="2"/>
            </p:cNvCxnSpPr>
            <p:nvPr/>
          </p:nvCxnSpPr>
          <p:spPr>
            <a:xfrm flipH="1" flipV="1">
              <a:off x="1088077" y="3284037"/>
              <a:ext cx="804464" cy="32220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061267" y="4529411"/>
            <a:ext cx="6244101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 {13};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 {3*m};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m = m + n;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m &lt;&lt; ", " &lt;&lt; n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4325" y="5924892"/>
            <a:ext cx="925253" cy="8309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52, 39</a:t>
            </a:r>
          </a:p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…</a:t>
            </a:r>
            <a:endParaRPr lang="nl-BE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825945" y="5070654"/>
            <a:ext cx="4679630" cy="493904"/>
            <a:chOff x="296846" y="4643387"/>
            <a:chExt cx="4679630" cy="493904"/>
          </a:xfrm>
        </p:grpSpPr>
        <p:sp>
          <p:nvSpPr>
            <p:cNvPr id="18" name="TextBox 17"/>
            <p:cNvSpPr txBox="1"/>
            <p:nvPr/>
          </p:nvSpPr>
          <p:spPr>
            <a:xfrm>
              <a:off x="2573450" y="4643387"/>
              <a:ext cx="240302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assignment operator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96846" y="4856447"/>
              <a:ext cx="254755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>
              <a:stCxn id="18" idx="1"/>
            </p:cNvCxnSpPr>
            <p:nvPr/>
          </p:nvCxnSpPr>
          <p:spPr>
            <a:xfrm flipH="1">
              <a:off x="551602" y="4843442"/>
              <a:ext cx="2021848" cy="14901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630921" y="4576750"/>
            <a:ext cx="6244100" cy="493904"/>
            <a:chOff x="-658380" y="4643387"/>
            <a:chExt cx="6244100" cy="493904"/>
          </a:xfrm>
        </p:grpSpPr>
        <p:sp>
          <p:nvSpPr>
            <p:cNvPr id="25" name="TextBox 24"/>
            <p:cNvSpPr txBox="1"/>
            <p:nvPr/>
          </p:nvSpPr>
          <p:spPr>
            <a:xfrm>
              <a:off x="2573449" y="4643387"/>
              <a:ext cx="301227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  <a:cs typeface="Courier New" panose="02070309020205020404" pitchFamily="49" charset="0"/>
                </a:rPr>
                <a:t>declaration + initialization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658380" y="4856447"/>
              <a:ext cx="1209981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25" idx="1"/>
            </p:cNvCxnSpPr>
            <p:nvPr/>
          </p:nvCxnSpPr>
          <p:spPr>
            <a:xfrm flipH="1">
              <a:off x="551603" y="4843442"/>
              <a:ext cx="2021846" cy="14901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575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3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: character,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'7'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::string: </a:t>
            </a:r>
            <a:r>
              <a:rPr lang="en-US" dirty="0">
                <a:cs typeface="Courier New" panose="02070309020205020404" pitchFamily="49" charset="0"/>
              </a:rPr>
              <a:t>character sequence,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"hello", ""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: integer number,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-15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1034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: single precision floating point number,</a:t>
            </a:r>
            <a:br>
              <a:rPr lang="en-US" dirty="0"/>
            </a:br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7.0f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-0.531f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1.37e-3f</a:t>
            </a:r>
          </a:p>
          <a:p>
            <a:pPr lvl="1"/>
            <a:r>
              <a:rPr lang="en-US" dirty="0"/>
              <a:t>4 byte representation</a:t>
            </a:r>
          </a:p>
          <a:p>
            <a:pPr lvl="1"/>
            <a:r>
              <a:rPr lang="en-US" dirty="0"/>
              <a:t>7 significant digits, smallest non-zero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10</a:t>
            </a:r>
            <a:r>
              <a:rPr lang="en-US" baseline="30000" dirty="0"/>
              <a:t>-38</a:t>
            </a:r>
            <a:endParaRPr lang="en-US" dirty="0"/>
          </a:p>
          <a:p>
            <a:pPr lvl="1"/>
            <a:r>
              <a:rPr lang="en-US" dirty="0"/>
              <a:t>range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[-10</a:t>
            </a:r>
            <a:r>
              <a:rPr lang="en-US" baseline="30000" dirty="0"/>
              <a:t>38</a:t>
            </a:r>
            <a:r>
              <a:rPr lang="en-US" dirty="0"/>
              <a:t>, 10</a:t>
            </a:r>
            <a:r>
              <a:rPr lang="en-US" baseline="30000" dirty="0"/>
              <a:t>38</a:t>
            </a:r>
            <a:r>
              <a:rPr lang="en-US" dirty="0"/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: double precision floating point number,</a:t>
            </a:r>
            <a:br>
              <a:rPr lang="en-US" dirty="0"/>
            </a:br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7.0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-0.531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1.37e-3</a:t>
            </a:r>
          </a:p>
          <a:p>
            <a:pPr lvl="1"/>
            <a:r>
              <a:rPr lang="en-US" dirty="0"/>
              <a:t>8 byte representation</a:t>
            </a:r>
          </a:p>
          <a:p>
            <a:pPr lvl="1"/>
            <a:r>
              <a:rPr lang="en-US" dirty="0"/>
              <a:t>15 significant digits , smallest non-zero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10</a:t>
            </a:r>
            <a:r>
              <a:rPr lang="en-US" baseline="30000" dirty="0"/>
              <a:t>-308</a:t>
            </a:r>
            <a:endParaRPr lang="en-US" dirty="0"/>
          </a:p>
          <a:p>
            <a:pPr lvl="1"/>
            <a:r>
              <a:rPr lang="en-US" dirty="0"/>
              <a:t>range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[-10</a:t>
            </a:r>
            <a:r>
              <a:rPr lang="en-US" baseline="30000" dirty="0"/>
              <a:t>308</a:t>
            </a:r>
            <a:r>
              <a:rPr lang="en-US" dirty="0"/>
              <a:t>, 10</a:t>
            </a:r>
            <a:r>
              <a:rPr lang="en-US" baseline="30000" dirty="0"/>
              <a:t>308</a:t>
            </a:r>
            <a:r>
              <a:rPr lang="en-US" dirty="0"/>
              <a:t>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dirty="0"/>
              <a:t>: Boolean value, i.e.,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9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&amp; math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>
                <a:cs typeface="Courier New" panose="02070309020205020404" pitchFamily="49" charset="0"/>
              </a:rPr>
              <a:t> (modulo)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dirty="0"/>
              <a:t> (and),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dirty="0"/>
              <a:t> (or),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/>
              <a:t> (not)</a:t>
            </a:r>
          </a:p>
          <a:p>
            <a:r>
              <a:rPr lang="en-US" dirty="0"/>
              <a:t>Comparison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(???)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Mathematical functions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tan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>
                <a:cs typeface="Courier New" panose="02070309020205020404" pitchFamily="49" charset="0"/>
              </a:rPr>
              <a:t>,…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322143" y="1769345"/>
            <a:ext cx="24239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3/5 == 0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61653" y="4322259"/>
            <a:ext cx="5274391" cy="523220"/>
            <a:chOff x="2172931" y="4354409"/>
            <a:chExt cx="5274391" cy="523220"/>
          </a:xfrm>
        </p:grpSpPr>
        <p:sp>
          <p:nvSpPr>
            <p:cNvPr id="6" name="TextBox 5"/>
            <p:cNvSpPr txBox="1"/>
            <p:nvPr/>
          </p:nvSpPr>
          <p:spPr>
            <a:xfrm>
              <a:off x="2212259" y="4385187"/>
              <a:ext cx="51619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1.0/3.0 == 0.33333333333333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72931" y="4354409"/>
              <a:ext cx="5274391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64309" y="4260703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866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shortcuts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x + y</a:t>
            </a:r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</a:t>
            </a:r>
            <a:r>
              <a:rPr lang="en-US" dirty="0"/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+= 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x – y</a:t>
            </a:r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 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-= 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a*x</a:t>
            </a:r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 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*= a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n + 1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 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n++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 = n – 1</a:t>
            </a:r>
            <a:r>
              <a:rPr lang="en-US" dirty="0">
                <a:sym typeface="Symbol" panose="05050102010706020507" pitchFamily="18" charset="2"/>
              </a:rPr>
              <a:t>  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n--</a:t>
            </a:r>
          </a:p>
          <a:p>
            <a:r>
              <a:rPr lang="en-US" dirty="0">
                <a:sym typeface="Symbol" panose="05050102010706020507" pitchFamily="18" charset="2"/>
              </a:rPr>
              <a:t>Post-increment/decrement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Pre-increment/decrement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1266" y="4718591"/>
            <a:ext cx="3153381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 {3}, n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 += n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m &lt;&lt; " " &lt;&lt; n…;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265" y="5940852"/>
            <a:ext cx="3153381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 {3}, n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++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n;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m &lt;&lt; " " &lt;&lt; n…;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131782" y="5211034"/>
            <a:ext cx="1298959" cy="338554"/>
            <a:chOff x="6409603" y="4128799"/>
            <a:chExt cx="1298959" cy="338554"/>
          </a:xfrm>
        </p:grpSpPr>
        <p:sp>
          <p:nvSpPr>
            <p:cNvPr id="9" name="TextBox 8"/>
            <p:cNvSpPr txBox="1"/>
            <p:nvPr/>
          </p:nvSpPr>
          <p:spPr>
            <a:xfrm>
              <a:off x="7112387" y="4128799"/>
              <a:ext cx="596175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8 6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131782" y="6433295"/>
            <a:ext cx="1298959" cy="338554"/>
            <a:chOff x="6409603" y="4128799"/>
            <a:chExt cx="1298959" cy="338554"/>
          </a:xfrm>
        </p:grpSpPr>
        <p:sp>
          <p:nvSpPr>
            <p:cNvPr id="12" name="TextBox 11"/>
            <p:cNvSpPr txBox="1"/>
            <p:nvPr/>
          </p:nvSpPr>
          <p:spPr>
            <a:xfrm>
              <a:off x="7112387" y="4128799"/>
              <a:ext cx="596175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9 6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068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is case sensitive</a:t>
            </a:r>
          </a:p>
          <a:p>
            <a:pPr lvl="1"/>
            <a:r>
              <a:rPr lang="en-US" dirty="0"/>
              <a:t>language keywords</a:t>
            </a:r>
          </a:p>
          <a:p>
            <a:pPr lvl="1"/>
            <a:r>
              <a:rPr lang="en-US" dirty="0"/>
              <a:t>variable, function, class names</a:t>
            </a:r>
          </a:p>
          <a:p>
            <a:r>
              <a:rPr lang="en-US" dirty="0"/>
              <a:t>Statements end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Comments</a:t>
            </a:r>
          </a:p>
          <a:p>
            <a:pPr lvl="1"/>
            <a:r>
              <a:rPr lang="en-US" dirty="0"/>
              <a:t>single-line comment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block comment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69424" y="4527561"/>
            <a:ext cx="4779091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 {10}; 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this is a comment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9424" y="5352262"/>
            <a:ext cx="4779091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/*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This is a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multi-line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comment.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46042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data.txt</a:t>
            </a:r>
            <a:r>
              <a:rPr lang="en-US" dirty="0"/>
              <a:t> contains coordinates in 2D, compute distance from origin, write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out.txt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76735" y="3225009"/>
            <a:ext cx="1943279" cy="834020"/>
            <a:chOff x="6187999" y="569019"/>
            <a:chExt cx="1943279" cy="834020"/>
          </a:xfrm>
        </p:grpSpPr>
        <p:sp>
          <p:nvSpPr>
            <p:cNvPr id="5" name="TextBox 4"/>
            <p:cNvSpPr txBox="1"/>
            <p:nvPr/>
          </p:nvSpPr>
          <p:spPr>
            <a:xfrm>
              <a:off x="6187999" y="569019"/>
              <a:ext cx="1943279" cy="8309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5.0 3.0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2.0 1.5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16 -3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79918" y="1095262"/>
              <a:ext cx="75136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data.txt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22577" y="3225009"/>
            <a:ext cx="2814081" cy="832277"/>
            <a:chOff x="4122577" y="2939873"/>
            <a:chExt cx="2814081" cy="832277"/>
          </a:xfrm>
        </p:grpSpPr>
        <p:grpSp>
          <p:nvGrpSpPr>
            <p:cNvPr id="8" name="Group 7"/>
            <p:cNvGrpSpPr/>
            <p:nvPr/>
          </p:nvGrpSpPr>
          <p:grpSpPr>
            <a:xfrm>
              <a:off x="4993379" y="2939873"/>
              <a:ext cx="1943279" cy="832277"/>
              <a:chOff x="6187999" y="569019"/>
              <a:chExt cx="1943279" cy="832277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187999" y="569019"/>
                <a:ext cx="1943279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Courier New" pitchFamily="49" charset="0"/>
                    <a:cs typeface="Courier New" pitchFamily="49" charset="0"/>
                  </a:rPr>
                  <a:t>5.83095</a:t>
                </a:r>
              </a:p>
              <a:p>
                <a:r>
                  <a:rPr lang="en-US" sz="1600" dirty="0">
                    <a:latin typeface="Courier New" pitchFamily="49" charset="0"/>
                    <a:cs typeface="Courier New" pitchFamily="49" charset="0"/>
                  </a:rPr>
                  <a:t>2.5</a:t>
                </a:r>
              </a:p>
              <a:p>
                <a:r>
                  <a:rPr lang="en-US" sz="1600" dirty="0">
                    <a:latin typeface="Courier New" pitchFamily="49" charset="0"/>
                    <a:cs typeface="Courier New" pitchFamily="49" charset="0"/>
                  </a:rPr>
                  <a:t>16.2788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448742" y="1093519"/>
                <a:ext cx="676660" cy="3077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out.txt</a:t>
                </a:r>
              </a:p>
            </p:txBody>
          </p:sp>
        </p:grpSp>
        <p:cxnSp>
          <p:nvCxnSpPr>
            <p:cNvPr id="12" name="Straight Arrow Connector 11"/>
            <p:cNvCxnSpPr/>
            <p:nvPr/>
          </p:nvCxnSpPr>
          <p:spPr>
            <a:xfrm>
              <a:off x="4122577" y="3355371"/>
              <a:ext cx="55060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23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signature = declaration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name (same rules as for variables)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argument types and names (zero or more)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return type</a:t>
            </a:r>
          </a:p>
          <a:p>
            <a:r>
              <a:rPr lang="en-US" dirty="0">
                <a:cs typeface="Courier New" panose="02070309020205020404" pitchFamily="49" charset="0"/>
              </a:rPr>
              <a:t>Function implementation: statements in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23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162479" y="4772481"/>
            <a:ext cx="4503791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x, double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d {sqrt(x*x + y*y)};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d;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83220" y="5078099"/>
            <a:ext cx="2614658" cy="494365"/>
            <a:chOff x="1010358" y="3923306"/>
            <a:chExt cx="2614658" cy="494365"/>
          </a:xfrm>
        </p:grpSpPr>
        <p:sp>
          <p:nvSpPr>
            <p:cNvPr id="17" name="TextBox 16"/>
            <p:cNvSpPr txBox="1"/>
            <p:nvPr/>
          </p:nvSpPr>
          <p:spPr>
            <a:xfrm>
              <a:off x="1010358" y="3923306"/>
              <a:ext cx="140546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return type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856209" y="4136827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2415822" y="4123361"/>
              <a:ext cx="440387" cy="15388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379991" y="5757209"/>
            <a:ext cx="3405429" cy="831154"/>
            <a:chOff x="1007129" y="3503552"/>
            <a:chExt cx="3405429" cy="831154"/>
          </a:xfrm>
        </p:grpSpPr>
        <p:sp>
          <p:nvSpPr>
            <p:cNvPr id="25" name="TextBox 24"/>
            <p:cNvSpPr txBox="1"/>
            <p:nvPr/>
          </p:nvSpPr>
          <p:spPr>
            <a:xfrm>
              <a:off x="1007129" y="3934596"/>
              <a:ext cx="147528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return value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54068" y="3503552"/>
              <a:ext cx="258490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25" idx="3"/>
              <a:endCxn id="26" idx="1"/>
            </p:cNvCxnSpPr>
            <p:nvPr/>
          </p:nvCxnSpPr>
          <p:spPr>
            <a:xfrm flipV="1">
              <a:off x="2482414" y="3643974"/>
              <a:ext cx="1671654" cy="49067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3711895" y="4353960"/>
            <a:ext cx="2462762" cy="1213985"/>
            <a:chOff x="296846" y="3923306"/>
            <a:chExt cx="2462762" cy="1213985"/>
          </a:xfrm>
        </p:grpSpPr>
        <p:sp>
          <p:nvSpPr>
            <p:cNvPr id="32" name="TextBox 31"/>
            <p:cNvSpPr txBox="1"/>
            <p:nvPr/>
          </p:nvSpPr>
          <p:spPr>
            <a:xfrm>
              <a:off x="1010357" y="3923306"/>
              <a:ext cx="174925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argument type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96846" y="4856447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>
              <a:stCxn id="32" idx="2"/>
              <a:endCxn id="33" idx="0"/>
            </p:cNvCxnSpPr>
            <p:nvPr/>
          </p:nvCxnSpPr>
          <p:spPr>
            <a:xfrm flipH="1">
              <a:off x="681250" y="4323416"/>
              <a:ext cx="1203733" cy="53303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523318" y="4351249"/>
            <a:ext cx="3772153" cy="1214535"/>
            <a:chOff x="296846" y="3922756"/>
            <a:chExt cx="3772153" cy="1214535"/>
          </a:xfrm>
        </p:grpSpPr>
        <p:sp>
          <p:nvSpPr>
            <p:cNvPr id="40" name="TextBox 39"/>
            <p:cNvSpPr txBox="1"/>
            <p:nvPr/>
          </p:nvSpPr>
          <p:spPr>
            <a:xfrm>
              <a:off x="2148400" y="3922756"/>
              <a:ext cx="192059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argument name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96846" y="4856447"/>
              <a:ext cx="254755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>
              <a:stCxn id="40" idx="2"/>
              <a:endCxn id="41" idx="0"/>
            </p:cNvCxnSpPr>
            <p:nvPr/>
          </p:nvCxnSpPr>
          <p:spPr>
            <a:xfrm flipH="1">
              <a:off x="424224" y="4322866"/>
              <a:ext cx="2684476" cy="53358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2036169" y="4080062"/>
            <a:ext cx="1749251" cy="1492402"/>
            <a:chOff x="-727110" y="3644889"/>
            <a:chExt cx="1749251" cy="1492402"/>
          </a:xfrm>
        </p:grpSpPr>
        <p:sp>
          <p:nvSpPr>
            <p:cNvPr id="47" name="TextBox 46"/>
            <p:cNvSpPr txBox="1"/>
            <p:nvPr/>
          </p:nvSpPr>
          <p:spPr>
            <a:xfrm>
              <a:off x="-727110" y="3644889"/>
              <a:ext cx="174925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function name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6846" y="4856447"/>
              <a:ext cx="59578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/>
            <p:cNvCxnSpPr>
              <a:stCxn id="47" idx="2"/>
              <a:endCxn id="48" idx="0"/>
            </p:cNvCxnSpPr>
            <p:nvPr/>
          </p:nvCxnSpPr>
          <p:spPr>
            <a:xfrm>
              <a:off x="147516" y="4044999"/>
              <a:ext cx="447224" cy="81144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6254122" y="5190270"/>
            <a:ext cx="2520044" cy="847783"/>
            <a:chOff x="6254122" y="5190270"/>
            <a:chExt cx="2520044" cy="847783"/>
          </a:xfrm>
        </p:grpSpPr>
        <p:sp>
          <p:nvSpPr>
            <p:cNvPr id="53" name="Right Brace 52"/>
            <p:cNvSpPr/>
            <p:nvPr/>
          </p:nvSpPr>
          <p:spPr>
            <a:xfrm>
              <a:off x="6254122" y="5572464"/>
              <a:ext cx="120750" cy="465589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6454550" y="5190270"/>
              <a:ext cx="2319616" cy="614988"/>
              <a:chOff x="-370787" y="3441725"/>
              <a:chExt cx="2319616" cy="614988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199578" y="3441725"/>
                <a:ext cx="1749251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function body</a:t>
                </a:r>
                <a:endPara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7" name="Straight Arrow Connector 56"/>
              <p:cNvCxnSpPr>
                <a:stCxn id="55" idx="1"/>
              </p:cNvCxnSpPr>
              <p:nvPr/>
            </p:nvCxnSpPr>
            <p:spPr>
              <a:xfrm flipH="1">
                <a:off x="-370787" y="3641780"/>
                <a:ext cx="570365" cy="41493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TextBox 62"/>
          <p:cNvSpPr txBox="1"/>
          <p:nvPr/>
        </p:nvSpPr>
        <p:spPr>
          <a:xfrm>
            <a:off x="6689027" y="5787820"/>
            <a:ext cx="182389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/>
              <a:t> local</a:t>
            </a:r>
            <a:br>
              <a:rPr lang="en-US" dirty="0"/>
            </a:br>
            <a:r>
              <a:rPr lang="en-US" dirty="0"/>
              <a:t>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106161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6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1493420"/>
            <a:ext cx="4503791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x, double y);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(3.0, 4.0)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x {7.23};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(-11.8, x);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x, double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d {sqrt(x*x + y*y)};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d;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85135" y="2477726"/>
            <a:ext cx="3962402" cy="1012288"/>
            <a:chOff x="285135" y="2989006"/>
            <a:chExt cx="3962402" cy="1012288"/>
          </a:xfrm>
        </p:grpSpPr>
        <p:grpSp>
          <p:nvGrpSpPr>
            <p:cNvPr id="10" name="Group 9"/>
            <p:cNvGrpSpPr/>
            <p:nvPr/>
          </p:nvGrpSpPr>
          <p:grpSpPr>
            <a:xfrm>
              <a:off x="2743200" y="2989006"/>
              <a:ext cx="530942" cy="1012288"/>
              <a:chOff x="2743200" y="2989006"/>
              <a:chExt cx="530942" cy="1012288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743200" y="2989006"/>
                <a:ext cx="530942" cy="235975"/>
              </a:xfrm>
              <a:prstGeom prst="ellipse">
                <a:avLst/>
              </a:prstGeom>
              <a:solidFill>
                <a:schemeClr val="accent1">
                  <a:alpha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/>
              <p:cNvCxnSpPr>
                <a:stCxn id="6" idx="4"/>
              </p:cNvCxnSpPr>
              <p:nvPr/>
            </p:nvCxnSpPr>
            <p:spPr>
              <a:xfrm>
                <a:off x="3008671" y="3224981"/>
                <a:ext cx="88490" cy="776313"/>
              </a:xfrm>
              <a:prstGeom prst="straightConnector1">
                <a:avLst/>
              </a:prstGeom>
              <a:ln w="12700"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313471" y="2989172"/>
              <a:ext cx="934066" cy="1012122"/>
              <a:chOff x="2743200" y="2989006"/>
              <a:chExt cx="934066" cy="1012122"/>
            </a:xfrm>
            <a:solidFill>
              <a:srgbClr val="C00000">
                <a:alpha val="39000"/>
              </a:srgbClr>
            </a:solidFill>
          </p:grpSpPr>
          <p:sp>
            <p:nvSpPr>
              <p:cNvPr id="13" name="Oval 12"/>
              <p:cNvSpPr/>
              <p:nvPr/>
            </p:nvSpPr>
            <p:spPr>
              <a:xfrm>
                <a:off x="2743200" y="2989006"/>
                <a:ext cx="530942" cy="235975"/>
              </a:xfrm>
              <a:prstGeom prst="ellipse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Arrow Connector 13"/>
              <p:cNvCxnSpPr>
                <a:stCxn id="13" idx="4"/>
              </p:cNvCxnSpPr>
              <p:nvPr/>
            </p:nvCxnSpPr>
            <p:spPr>
              <a:xfrm>
                <a:off x="3008671" y="3224981"/>
                <a:ext cx="668595" cy="776147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Arrow Connector 16"/>
            <p:cNvCxnSpPr/>
            <p:nvPr/>
          </p:nvCxnSpPr>
          <p:spPr>
            <a:xfrm>
              <a:off x="285135" y="3165985"/>
              <a:ext cx="471949" cy="0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85134" y="2970804"/>
            <a:ext cx="3942122" cy="1012288"/>
            <a:chOff x="285134" y="3482084"/>
            <a:chExt cx="3942122" cy="1012288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85134" y="3637716"/>
              <a:ext cx="471949" cy="0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2782529" y="3482084"/>
              <a:ext cx="717754" cy="1012288"/>
              <a:chOff x="2743200" y="2989006"/>
              <a:chExt cx="717754" cy="1012288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743200" y="2989006"/>
                <a:ext cx="717754" cy="235975"/>
              </a:xfrm>
              <a:prstGeom prst="ellipse">
                <a:avLst/>
              </a:prstGeom>
              <a:solidFill>
                <a:schemeClr val="accent1">
                  <a:alpha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/>
              <p:cNvCxnSpPr>
                <a:stCxn id="21" idx="4"/>
              </p:cNvCxnSpPr>
              <p:nvPr/>
            </p:nvCxnSpPr>
            <p:spPr>
              <a:xfrm flipH="1">
                <a:off x="3097161" y="3224981"/>
                <a:ext cx="4916" cy="776313"/>
              </a:xfrm>
              <a:prstGeom prst="straightConnector1">
                <a:avLst/>
              </a:prstGeom>
              <a:ln w="12700"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3539612" y="3482250"/>
              <a:ext cx="687644" cy="519044"/>
              <a:chOff x="2930012" y="2989006"/>
              <a:chExt cx="687644" cy="519044"/>
            </a:xfrm>
            <a:solidFill>
              <a:srgbClr val="C00000">
                <a:alpha val="39000"/>
              </a:srgbClr>
            </a:solidFill>
          </p:grpSpPr>
          <p:sp>
            <p:nvSpPr>
              <p:cNvPr id="24" name="Oval 23"/>
              <p:cNvSpPr/>
              <p:nvPr/>
            </p:nvSpPr>
            <p:spPr>
              <a:xfrm>
                <a:off x="2930012" y="2989006"/>
                <a:ext cx="344129" cy="235975"/>
              </a:xfrm>
              <a:prstGeom prst="ellipse">
                <a:avLst/>
              </a:prstGeom>
              <a:grp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Arrow Connector 24"/>
              <p:cNvCxnSpPr>
                <a:stCxn id="24" idx="5"/>
              </p:cNvCxnSpPr>
              <p:nvPr/>
            </p:nvCxnSpPr>
            <p:spPr>
              <a:xfrm>
                <a:off x="3223744" y="3190423"/>
                <a:ext cx="393912" cy="317627"/>
              </a:xfrm>
              <a:prstGeom prst="straightConnector1">
                <a:avLst/>
              </a:prstGeom>
              <a:grpFill/>
              <a:ln w="1270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Content Placeholder 31"/>
          <p:cNvSpPr>
            <a:spLocks noGrp="1"/>
          </p:cNvSpPr>
          <p:nvPr>
            <p:ph idx="1"/>
          </p:nvPr>
        </p:nvSpPr>
        <p:spPr>
          <a:xfrm>
            <a:off x="628650" y="5023923"/>
            <a:ext cx="7886700" cy="1528959"/>
          </a:xfrm>
        </p:spPr>
        <p:txBody>
          <a:bodyPr/>
          <a:lstStyle/>
          <a:p>
            <a:r>
              <a:rPr lang="en-US" dirty="0"/>
              <a:t>Function arguments assigned at function call</a:t>
            </a:r>
          </a:p>
          <a:p>
            <a:r>
              <a:rPr lang="en-US" dirty="0" err="1"/>
              <a:t>Cfr</a:t>
            </a:r>
            <a:r>
              <a:rPr lang="en-US" dirty="0"/>
              <a:t>. mathematical functions</a:t>
            </a:r>
          </a:p>
        </p:txBody>
      </p:sp>
    </p:spTree>
    <p:extLst>
      <p:ext uri="{BB962C8B-B14F-4D97-AF65-F5344CB8AC3E}">
        <p14:creationId xmlns:p14="http://schemas.microsoft.com/office/powerpoint/2010/main" val="222207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 versus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886200" cy="4895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Call by value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Modifications in </a:t>
            </a:r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895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Call by reference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Modifications in </a:t>
            </a:r>
            <a:r>
              <a:rPr lang="en-US" dirty="0" err="1"/>
              <a:t>callee</a:t>
            </a:r>
            <a:r>
              <a:rPr lang="en-US" dirty="0"/>
              <a:t> </a:t>
            </a:r>
            <a:r>
              <a:rPr lang="en-US" i="1" dirty="0"/>
              <a:t>and</a:t>
            </a:r>
            <a:r>
              <a:rPr lang="en-US" dirty="0"/>
              <a:t> in caller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0603" y="2344450"/>
            <a:ext cx="3043086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(n) …;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n …;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result {1};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while (n &gt;= 2)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result *= n;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n = n - 1;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result;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0560" y="2344450"/>
            <a:ext cx="4098208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{3};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swap(a, b);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a &lt;&lt; ", " &lt;&lt; b …;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swap(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775998" y="3851468"/>
            <a:ext cx="2178008" cy="1109964"/>
            <a:chOff x="2116300" y="3027889"/>
            <a:chExt cx="2178008" cy="1109964"/>
          </a:xfrm>
        </p:grpSpPr>
        <p:sp>
          <p:nvSpPr>
            <p:cNvPr id="9" name="TextBox 8"/>
            <p:cNvSpPr txBox="1"/>
            <p:nvPr/>
          </p:nvSpPr>
          <p:spPr>
            <a:xfrm>
              <a:off x="2275008" y="3737743"/>
              <a:ext cx="201930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reference to </a:t>
              </a:r>
              <a:r>
                <a:rPr lang="en-US" sz="2000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16300" y="3027889"/>
              <a:ext cx="555953" cy="256148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9" idx="0"/>
              <a:endCxn id="10" idx="2"/>
            </p:cNvCxnSpPr>
            <p:nvPr/>
          </p:nvCxnSpPr>
          <p:spPr>
            <a:xfrm flipH="1" flipV="1">
              <a:off x="2394277" y="3284037"/>
              <a:ext cx="890381" cy="45370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428122" y="3089332"/>
            <a:ext cx="1030961" cy="338554"/>
            <a:chOff x="6409603" y="4128799"/>
            <a:chExt cx="1030961" cy="338554"/>
          </a:xfrm>
        </p:grpSpPr>
        <p:sp>
          <p:nvSpPr>
            <p:cNvPr id="13" name="TextBox 12"/>
            <p:cNvSpPr txBox="1"/>
            <p:nvPr/>
          </p:nvSpPr>
          <p:spPr>
            <a:xfrm>
              <a:off x="7112387" y="4128799"/>
              <a:ext cx="328177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77048" y="3319478"/>
            <a:ext cx="871531" cy="338554"/>
            <a:chOff x="6821207" y="4128799"/>
            <a:chExt cx="871531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7112387" y="4128799"/>
              <a:ext cx="580351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5 3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821207" y="4298076"/>
              <a:ext cx="227826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388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  <p:bldP spid="5" grpId="0" uiExpand="1" animBg="1"/>
      <p:bldP spid="7" grpId="0" uiExpan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966EC0B-6893-856E-4212-6C5794901B13}"/>
              </a:ext>
            </a:extLst>
          </p:cNvPr>
          <p:cNvGrpSpPr/>
          <p:nvPr/>
        </p:nvGrpSpPr>
        <p:grpSpPr>
          <a:xfrm>
            <a:off x="5020102" y="1775157"/>
            <a:ext cx="3458884" cy="1738311"/>
            <a:chOff x="4572001" y="1777764"/>
            <a:chExt cx="3458884" cy="173831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A2659A5-B21D-576E-C7FA-1CE0D1502DAD}"/>
                </a:ext>
              </a:extLst>
            </p:cNvPr>
            <p:cNvSpPr/>
            <p:nvPr/>
          </p:nvSpPr>
          <p:spPr>
            <a:xfrm>
              <a:off x="4572001" y="1777764"/>
              <a:ext cx="3458884" cy="1738311"/>
            </a:xfrm>
            <a:prstGeom prst="roundRect">
              <a:avLst/>
            </a:prstGeom>
            <a:solidFill>
              <a:schemeClr val="accent1">
                <a:alpha val="6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DD23E1-1FF4-9B7F-1043-A725AAA8CEEB}"/>
                </a:ext>
              </a:extLst>
            </p:cNvPr>
            <p:cNvSpPr txBox="1"/>
            <p:nvPr/>
          </p:nvSpPr>
          <p:spPr>
            <a:xfrm>
              <a:off x="7125566" y="1919378"/>
              <a:ext cx="69281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RAM</a:t>
              </a:r>
              <a:endParaRPr lang="LID4096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7C07C3-16A0-929E-FF05-56E9643C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value: illustration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55181-1C59-99EE-679B-CB9A0868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0462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ECE97-C9E3-48B7-8EC3-B649FFB70065}"/>
              </a:ext>
            </a:extLst>
          </p:cNvPr>
          <p:cNvSpPr txBox="1"/>
          <p:nvPr/>
        </p:nvSpPr>
        <p:spPr>
          <a:xfrm>
            <a:off x="550842" y="3224895"/>
            <a:ext cx="4098208" cy="304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 main()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{3};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swap(a, b);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swap(int  x, int 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AD9B31-7FE0-6903-5ADD-34EF58419FEE}"/>
              </a:ext>
            </a:extLst>
          </p:cNvPr>
          <p:cNvGrpSpPr/>
          <p:nvPr/>
        </p:nvGrpSpPr>
        <p:grpSpPr>
          <a:xfrm>
            <a:off x="2451327" y="2158834"/>
            <a:ext cx="3289118" cy="1480647"/>
            <a:chOff x="2118815" y="2158834"/>
            <a:chExt cx="3289118" cy="14806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6C28B7-9F91-0C50-0835-E132DD40E214}"/>
                </a:ext>
              </a:extLst>
            </p:cNvPr>
            <p:cNvSpPr txBox="1"/>
            <p:nvPr/>
          </p:nvSpPr>
          <p:spPr>
            <a:xfrm>
              <a:off x="5106247" y="2158834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  <a:endParaRPr lang="LID4096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C1B0327-4E9B-5B1A-C644-8B9835F26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8815" y="2527006"/>
              <a:ext cx="2868822" cy="1112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B86B78-24FB-6DB7-84A6-30728EC3D005}"/>
              </a:ext>
            </a:extLst>
          </p:cNvPr>
          <p:cNvGrpSpPr/>
          <p:nvPr/>
        </p:nvGrpSpPr>
        <p:grpSpPr>
          <a:xfrm>
            <a:off x="2456568" y="2157674"/>
            <a:ext cx="3853378" cy="1700899"/>
            <a:chOff x="2124056" y="2157674"/>
            <a:chExt cx="3853378" cy="17008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5C5BEF-3E55-8DC4-F36F-5639F597210C}"/>
                </a:ext>
              </a:extLst>
            </p:cNvPr>
            <p:cNvSpPr txBox="1"/>
            <p:nvPr/>
          </p:nvSpPr>
          <p:spPr>
            <a:xfrm>
              <a:off x="5675748" y="2157674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LID4096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A176B1F-A808-282C-384A-4F20836F2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4056" y="2606477"/>
              <a:ext cx="3551692" cy="1252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321653-0D98-0E7D-2DBC-1859DAE83937}"/>
              </a:ext>
            </a:extLst>
          </p:cNvPr>
          <p:cNvGrpSpPr/>
          <p:nvPr/>
        </p:nvGrpSpPr>
        <p:grpSpPr>
          <a:xfrm>
            <a:off x="2680858" y="3022477"/>
            <a:ext cx="4333587" cy="2326977"/>
            <a:chOff x="2348346" y="3022477"/>
            <a:chExt cx="4333587" cy="23269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73E0C2-CE9E-2EE8-4EDC-94B720778AB2}"/>
                </a:ext>
              </a:extLst>
            </p:cNvPr>
            <p:cNvSpPr txBox="1"/>
            <p:nvPr/>
          </p:nvSpPr>
          <p:spPr>
            <a:xfrm>
              <a:off x="6380247" y="3022477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LID4096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EB21940-42B9-4B39-D675-CD173223C9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8346" y="3391809"/>
              <a:ext cx="3948545" cy="19576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CA639C-3789-99BF-4701-AF34C78E5FF9}"/>
              </a:ext>
            </a:extLst>
          </p:cNvPr>
          <p:cNvGrpSpPr/>
          <p:nvPr/>
        </p:nvGrpSpPr>
        <p:grpSpPr>
          <a:xfrm>
            <a:off x="2680858" y="3002504"/>
            <a:ext cx="3675210" cy="2005914"/>
            <a:chOff x="2680858" y="3002504"/>
            <a:chExt cx="3675210" cy="20059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663BC0B-0BDC-993F-1FDF-1FD1F74C3B8F}"/>
                </a:ext>
              </a:extLst>
            </p:cNvPr>
            <p:cNvGrpSpPr/>
            <p:nvPr/>
          </p:nvGrpSpPr>
          <p:grpSpPr>
            <a:xfrm>
              <a:off x="2680858" y="3003664"/>
              <a:ext cx="3105709" cy="1917252"/>
              <a:chOff x="2348346" y="3003664"/>
              <a:chExt cx="3105709" cy="1917252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01444FC-90A4-D3D8-D781-A07436FF11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48346" y="3371836"/>
                <a:ext cx="2735005" cy="154908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72FA85-3477-8FB6-20F8-EB16DA435499}"/>
                  </a:ext>
                </a:extLst>
              </p:cNvPr>
              <p:cNvSpPr txBox="1"/>
              <p:nvPr/>
            </p:nvSpPr>
            <p:spPr>
              <a:xfrm>
                <a:off x="5152369" y="3003664"/>
                <a:ext cx="301686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  <a:endParaRPr lang="LID4096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905777-0693-5DB3-B2D9-237EE6A86562}"/>
                </a:ext>
              </a:extLst>
            </p:cNvPr>
            <p:cNvGrpSpPr/>
            <p:nvPr/>
          </p:nvGrpSpPr>
          <p:grpSpPr>
            <a:xfrm>
              <a:off x="3640285" y="3002504"/>
              <a:ext cx="2715783" cy="2005914"/>
              <a:chOff x="3307773" y="3002504"/>
              <a:chExt cx="2715783" cy="2005914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E0D93F9-2B85-A619-A8BB-5860DE3EFE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07773" y="3444144"/>
                <a:ext cx="2445099" cy="15642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FFA7F0-0A73-E7C6-8BD8-2C65DFB7F100}"/>
                  </a:ext>
                </a:extLst>
              </p:cNvPr>
              <p:cNvSpPr txBox="1"/>
              <p:nvPr/>
            </p:nvSpPr>
            <p:spPr>
              <a:xfrm>
                <a:off x="5721870" y="3002504"/>
                <a:ext cx="301686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  <a:endParaRPr lang="LID4096" dirty="0"/>
              </a:p>
            </p:txBody>
          </p:sp>
        </p:grp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C9A9901-3D7E-B76B-35BF-C3DF1054B08A}"/>
              </a:ext>
            </a:extLst>
          </p:cNvPr>
          <p:cNvSpPr/>
          <p:nvPr/>
        </p:nvSpPr>
        <p:spPr>
          <a:xfrm>
            <a:off x="229641" y="3541775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61BCCB-E7BF-C6E0-C161-A5AEE6B8BB41}"/>
              </a:ext>
            </a:extLst>
          </p:cNvPr>
          <p:cNvSpPr txBox="1"/>
          <p:nvPr/>
        </p:nvSpPr>
        <p:spPr>
          <a:xfrm>
            <a:off x="6063265" y="2985559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LID4096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8E9C89A-64CE-63DD-6876-A639DFC0FFDE}"/>
              </a:ext>
            </a:extLst>
          </p:cNvPr>
          <p:cNvSpPr/>
          <p:nvPr/>
        </p:nvSpPr>
        <p:spPr>
          <a:xfrm>
            <a:off x="229641" y="3808213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43B0369-36C8-2F74-8952-C9D14A126DE9}"/>
              </a:ext>
            </a:extLst>
          </p:cNvPr>
          <p:cNvSpPr/>
          <p:nvPr/>
        </p:nvSpPr>
        <p:spPr>
          <a:xfrm>
            <a:off x="229641" y="4074651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95BAC74-19D3-F488-0A70-E219805C29F6}"/>
              </a:ext>
            </a:extLst>
          </p:cNvPr>
          <p:cNvSpPr/>
          <p:nvPr/>
        </p:nvSpPr>
        <p:spPr>
          <a:xfrm>
            <a:off x="229641" y="5271393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C3D49AA-F679-9B6E-CD8D-CEEB1AB0CB2B}"/>
              </a:ext>
            </a:extLst>
          </p:cNvPr>
          <p:cNvSpPr/>
          <p:nvPr/>
        </p:nvSpPr>
        <p:spPr>
          <a:xfrm>
            <a:off x="229641" y="5528226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86839-FDF0-AAB0-49B7-D506B445E53C}"/>
              </a:ext>
            </a:extLst>
          </p:cNvPr>
          <p:cNvSpPr txBox="1"/>
          <p:nvPr/>
        </p:nvSpPr>
        <p:spPr>
          <a:xfrm>
            <a:off x="5495658" y="3002504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LID4096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AEEC66A-09EE-C25B-C329-0051A10D1022}"/>
              </a:ext>
            </a:extLst>
          </p:cNvPr>
          <p:cNvSpPr/>
          <p:nvPr/>
        </p:nvSpPr>
        <p:spPr>
          <a:xfrm>
            <a:off x="229641" y="5785060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3BB8CD13-0895-6FD9-95AF-B21E642C32A2}"/>
              </a:ext>
            </a:extLst>
          </p:cNvPr>
          <p:cNvSpPr/>
          <p:nvPr/>
        </p:nvSpPr>
        <p:spPr>
          <a:xfrm>
            <a:off x="229641" y="4341090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420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4" grpId="0" animBg="1"/>
      <p:bldP spid="24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1" grpId="0" animBg="1"/>
      <p:bldP spid="31" grpId="1" animBg="1"/>
      <p:bldP spid="13" grpId="0" animBg="1"/>
      <p:bldP spid="13" grpId="1" animBg="1"/>
      <p:bldP spid="32" grpId="0" animBg="1"/>
      <p:bldP spid="32" grpId="1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2FFA-9726-786F-7E3B-5CF46310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64C26D0-9296-9EEB-0951-F9FD33C02FD5}"/>
              </a:ext>
            </a:extLst>
          </p:cNvPr>
          <p:cNvGrpSpPr/>
          <p:nvPr/>
        </p:nvGrpSpPr>
        <p:grpSpPr>
          <a:xfrm>
            <a:off x="5020102" y="1775157"/>
            <a:ext cx="3458884" cy="1738311"/>
            <a:chOff x="4572001" y="1777764"/>
            <a:chExt cx="3458884" cy="173831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9753EB6-F6CE-3B0D-971C-0D5C5D65B184}"/>
                </a:ext>
              </a:extLst>
            </p:cNvPr>
            <p:cNvSpPr/>
            <p:nvPr/>
          </p:nvSpPr>
          <p:spPr>
            <a:xfrm>
              <a:off x="4572001" y="1777764"/>
              <a:ext cx="3458884" cy="1738311"/>
            </a:xfrm>
            <a:prstGeom prst="roundRect">
              <a:avLst/>
            </a:prstGeom>
            <a:solidFill>
              <a:schemeClr val="accent1">
                <a:alpha val="6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DC4763-8DC2-0CE8-11ED-E81933594800}"/>
                </a:ext>
              </a:extLst>
            </p:cNvPr>
            <p:cNvSpPr txBox="1"/>
            <p:nvPr/>
          </p:nvSpPr>
          <p:spPr>
            <a:xfrm>
              <a:off x="7125566" y="1919378"/>
              <a:ext cx="69281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RAM</a:t>
              </a:r>
              <a:endParaRPr lang="LID4096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DBCC88-80CF-6F3B-9BB3-4A57C2E7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by reference: illustration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26B03E-1E43-04B7-7D6F-990183FC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0462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B6B06-6E77-06E5-5719-491919ED7AB7}"/>
              </a:ext>
            </a:extLst>
          </p:cNvPr>
          <p:cNvSpPr txBox="1"/>
          <p:nvPr/>
        </p:nvSpPr>
        <p:spPr>
          <a:xfrm>
            <a:off x="550842" y="3224895"/>
            <a:ext cx="4098208" cy="304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 main()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{3};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swap(a, b);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swap(int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x, int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A08566-E922-DBCD-4662-A9DF65933E95}"/>
              </a:ext>
            </a:extLst>
          </p:cNvPr>
          <p:cNvGrpSpPr/>
          <p:nvPr/>
        </p:nvGrpSpPr>
        <p:grpSpPr>
          <a:xfrm>
            <a:off x="2451327" y="2158834"/>
            <a:ext cx="3289118" cy="1480647"/>
            <a:chOff x="2118815" y="2158834"/>
            <a:chExt cx="3289118" cy="14806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75F22-DBBB-6EA1-82BC-141DCB4F3A09}"/>
                </a:ext>
              </a:extLst>
            </p:cNvPr>
            <p:cNvSpPr txBox="1"/>
            <p:nvPr/>
          </p:nvSpPr>
          <p:spPr>
            <a:xfrm>
              <a:off x="5106247" y="2158834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  <a:endParaRPr lang="LID4096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EA2B4E-1B5B-66F2-F0A2-89E095FC6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8815" y="2527006"/>
              <a:ext cx="2868822" cy="1112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4F9D69-4A07-2FE5-5F55-DCFFAAA51A40}"/>
              </a:ext>
            </a:extLst>
          </p:cNvPr>
          <p:cNvGrpSpPr/>
          <p:nvPr/>
        </p:nvGrpSpPr>
        <p:grpSpPr>
          <a:xfrm>
            <a:off x="2456568" y="2157674"/>
            <a:ext cx="3853378" cy="1700899"/>
            <a:chOff x="2124056" y="2157674"/>
            <a:chExt cx="3853378" cy="17008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9B79FC-C2C1-6B5A-3CBD-3839CE2E8AB2}"/>
                </a:ext>
              </a:extLst>
            </p:cNvPr>
            <p:cNvSpPr txBox="1"/>
            <p:nvPr/>
          </p:nvSpPr>
          <p:spPr>
            <a:xfrm>
              <a:off x="5675748" y="2157674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  <a:endParaRPr lang="LID4096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E431EA4-9FE4-95CA-9EA5-C0ABE68E15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4056" y="2606477"/>
              <a:ext cx="3551692" cy="1252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837D33-32B2-8E57-019F-B6F78AD3CCEC}"/>
              </a:ext>
            </a:extLst>
          </p:cNvPr>
          <p:cNvGrpSpPr/>
          <p:nvPr/>
        </p:nvGrpSpPr>
        <p:grpSpPr>
          <a:xfrm>
            <a:off x="2680858" y="3022477"/>
            <a:ext cx="4333587" cy="2326977"/>
            <a:chOff x="2348346" y="3022477"/>
            <a:chExt cx="4333587" cy="23269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ED3BDE-5C7A-9A87-A0B2-C89E32F23883}"/>
                </a:ext>
              </a:extLst>
            </p:cNvPr>
            <p:cNvSpPr txBox="1"/>
            <p:nvPr/>
          </p:nvSpPr>
          <p:spPr>
            <a:xfrm>
              <a:off x="6380247" y="3022477"/>
              <a:ext cx="30168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LID4096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48ADA08-3D44-3F91-8D42-74E7770C4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8346" y="3391809"/>
              <a:ext cx="3948545" cy="19576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474996-0FA3-E2BE-D9AC-FC20011A33FD}"/>
              </a:ext>
            </a:extLst>
          </p:cNvPr>
          <p:cNvGrpSpPr/>
          <p:nvPr/>
        </p:nvGrpSpPr>
        <p:grpSpPr>
          <a:xfrm>
            <a:off x="2680858" y="2643437"/>
            <a:ext cx="3432712" cy="2364981"/>
            <a:chOff x="2680858" y="2643437"/>
            <a:chExt cx="3432712" cy="2364981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98C4238-B0B5-A11E-459E-5EE69F8A3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858" y="2643437"/>
              <a:ext cx="2769294" cy="227747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8CABFA5-5ED7-0C50-5268-2B0BA8CCD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0285" y="2693920"/>
              <a:ext cx="2473285" cy="23144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13B60CA-FB12-DAC6-59A7-B1EF4D69D8C4}"/>
              </a:ext>
            </a:extLst>
          </p:cNvPr>
          <p:cNvSpPr/>
          <p:nvPr/>
        </p:nvSpPr>
        <p:spPr>
          <a:xfrm>
            <a:off x="229641" y="3541775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4E8961-341C-B6FD-C11C-5AC2E6CB8C05}"/>
              </a:ext>
            </a:extLst>
          </p:cNvPr>
          <p:cNvSpPr txBox="1"/>
          <p:nvPr/>
        </p:nvSpPr>
        <p:spPr>
          <a:xfrm>
            <a:off x="6002165" y="2143526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LID4096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97BA695-A6BB-CB77-CBCE-6CD6B5682F6A}"/>
              </a:ext>
            </a:extLst>
          </p:cNvPr>
          <p:cNvSpPr/>
          <p:nvPr/>
        </p:nvSpPr>
        <p:spPr>
          <a:xfrm>
            <a:off x="229641" y="3808213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68A9F57-F1DA-1565-FCDF-2FFAE42D8DDE}"/>
              </a:ext>
            </a:extLst>
          </p:cNvPr>
          <p:cNvSpPr/>
          <p:nvPr/>
        </p:nvSpPr>
        <p:spPr>
          <a:xfrm>
            <a:off x="229641" y="4074651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EABE743-A179-52EA-2E85-1B61AB2B382D}"/>
              </a:ext>
            </a:extLst>
          </p:cNvPr>
          <p:cNvSpPr/>
          <p:nvPr/>
        </p:nvSpPr>
        <p:spPr>
          <a:xfrm>
            <a:off x="229641" y="5271393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4E186B71-5E1E-9CDB-157D-E0EEACABE0A7}"/>
              </a:ext>
            </a:extLst>
          </p:cNvPr>
          <p:cNvSpPr/>
          <p:nvPr/>
        </p:nvSpPr>
        <p:spPr>
          <a:xfrm>
            <a:off x="229641" y="5528226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2E87E-5FEA-5C68-D3D2-A8B2E1398123}"/>
              </a:ext>
            </a:extLst>
          </p:cNvPr>
          <p:cNvSpPr txBox="1"/>
          <p:nvPr/>
        </p:nvSpPr>
        <p:spPr>
          <a:xfrm>
            <a:off x="5433566" y="2167548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LID4096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8AEE263-DB0A-B27C-3BB1-0E91E05EE14A}"/>
              </a:ext>
            </a:extLst>
          </p:cNvPr>
          <p:cNvSpPr/>
          <p:nvPr/>
        </p:nvSpPr>
        <p:spPr>
          <a:xfrm>
            <a:off x="229641" y="5785060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E10D6688-43C6-7C68-4BBF-F9D7168C1956}"/>
              </a:ext>
            </a:extLst>
          </p:cNvPr>
          <p:cNvSpPr/>
          <p:nvPr/>
        </p:nvSpPr>
        <p:spPr>
          <a:xfrm>
            <a:off x="229641" y="4341090"/>
            <a:ext cx="500145" cy="19541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54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4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1" grpId="0" animBg="1"/>
      <p:bldP spid="31" grpId="1" animBg="1"/>
      <p:bldP spid="13" grpId="0" animBg="1"/>
      <p:bldP spid="32" grpId="0" animBg="1"/>
      <p:bldP spid="32" grpId="1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with same name but at least one distinct argument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1475" y="2906425"/>
            <a:ext cx="3848100" cy="28007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{3};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swap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(a, b);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a &lt;&lt; ", " &lt;&lt; b …;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swap(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9124" y="2906425"/>
            <a:ext cx="4295775" cy="28007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{3.5};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{5.7};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swap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(x, y);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x &lt;&lt; ", " &lt;&lt; y …;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swap(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double&amp;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4979" y="5992297"/>
            <a:ext cx="40691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However: generic programming, see later</a:t>
            </a:r>
          </a:p>
        </p:txBody>
      </p:sp>
    </p:spTree>
    <p:extLst>
      <p:ext uri="{BB962C8B-B14F-4D97-AF65-F5344CB8AC3E}">
        <p14:creationId xmlns:p14="http://schemas.microsoft.com/office/powerpoint/2010/main" val="20991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can call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777" y="3712997"/>
            <a:ext cx="4646971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int fac(int n)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if (n &lt; 2)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return 1;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} else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return n*fac(n - 1);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866094" y="4739267"/>
            <a:ext cx="1989565" cy="989667"/>
            <a:chOff x="2116300" y="3033765"/>
            <a:chExt cx="1989565" cy="989667"/>
          </a:xfrm>
        </p:grpSpPr>
        <p:sp>
          <p:nvSpPr>
            <p:cNvPr id="7" name="TextBox 6"/>
            <p:cNvSpPr txBox="1"/>
            <p:nvPr/>
          </p:nvSpPr>
          <p:spPr>
            <a:xfrm>
              <a:off x="2557238" y="3623322"/>
              <a:ext cx="1548627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recursive call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16300" y="3033765"/>
              <a:ext cx="1215252" cy="25027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0"/>
              <a:endCxn id="8" idx="2"/>
            </p:cNvCxnSpPr>
            <p:nvPr/>
          </p:nvCxnSpPr>
          <p:spPr>
            <a:xfrm flipH="1" flipV="1">
              <a:off x="2723926" y="3284037"/>
              <a:ext cx="607626" cy="33928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774283" y="3484444"/>
            <a:ext cx="4202770" cy="779322"/>
            <a:chOff x="296846" y="4357969"/>
            <a:chExt cx="4202770" cy="779322"/>
          </a:xfrm>
        </p:grpSpPr>
        <p:sp>
          <p:nvSpPr>
            <p:cNvPr id="14" name="TextBox 13"/>
            <p:cNvSpPr txBox="1"/>
            <p:nvPr/>
          </p:nvSpPr>
          <p:spPr>
            <a:xfrm>
              <a:off x="1795895" y="4357969"/>
              <a:ext cx="270372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  <a:cs typeface="Courier New" panose="02070309020205020404" pitchFamily="49" charset="0"/>
                </a:rPr>
                <a:t>termination condition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96846" y="4856447"/>
              <a:ext cx="634379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>
              <a:stCxn id="14" idx="1"/>
              <a:endCxn id="15" idx="3"/>
            </p:cNvCxnSpPr>
            <p:nvPr/>
          </p:nvCxnSpPr>
          <p:spPr>
            <a:xfrm flipH="1">
              <a:off x="931225" y="4558024"/>
              <a:ext cx="864670" cy="43884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5363891" y="1825625"/>
          <a:ext cx="321627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609480" progId="Equation.3">
                  <p:embed/>
                </p:oleObj>
              </mc:Choice>
              <mc:Fallback>
                <p:oleObj name="Equation" r:id="rId2" imgW="1485720" imgH="609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63891" y="1825625"/>
                        <a:ext cx="3216275" cy="132080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016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in, results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7306" y="1576997"/>
            <a:ext cx="6244101" cy="40318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x, double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(x*x + y*y);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a,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while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&gt;&gt; a &gt;&gt; b)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(a, b)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4244" y="4983009"/>
            <a:ext cx="4817317" cy="10772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./dist.exe  &lt; data.txt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5.83095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2.5</a:t>
            </a:r>
          </a:p>
          <a:p>
            <a:r>
              <a: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16.2788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4244" y="6200359"/>
            <a:ext cx="4817317" cy="3385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./dist.exe  &lt; data.txt  &gt; out.txt</a:t>
            </a:r>
            <a:endParaRPr lang="en-US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4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streams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</a:t>
            </a:r>
          </a:p>
          <a:p>
            <a:pPr lvl="1"/>
            <a:r>
              <a:rPr lang="en-US" dirty="0"/>
              <a:t>standard input: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 (via keyboard, I/O redirection)</a:t>
            </a:r>
          </a:p>
          <a:p>
            <a:pPr lvl="1"/>
            <a:r>
              <a:rPr lang="en-US" dirty="0"/>
              <a:t>files (see later)</a:t>
            </a:r>
          </a:p>
          <a:p>
            <a:r>
              <a:rPr lang="en-US" dirty="0"/>
              <a:t>Writing to</a:t>
            </a:r>
          </a:p>
          <a:p>
            <a:pPr lvl="1"/>
            <a:r>
              <a:rPr lang="en-US" dirty="0"/>
              <a:t>standard output: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 (to screen, I/O redirection)</a:t>
            </a:r>
          </a:p>
          <a:p>
            <a:pPr lvl="1"/>
            <a:r>
              <a:rPr lang="en-US" dirty="0"/>
              <a:t>standard error: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cerr</a:t>
            </a:r>
            <a:r>
              <a:rPr lang="en-US" dirty="0"/>
              <a:t> (to screen, I/O redirection)</a:t>
            </a:r>
          </a:p>
          <a:p>
            <a:pPr lvl="1"/>
            <a:r>
              <a:rPr lang="en-US" dirty="0"/>
              <a:t>files (see later)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8650" y="4943592"/>
            <a:ext cx="6244101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a,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while 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(a, b)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0700" y="1825625"/>
            <a:ext cx="149701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Operator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3493" y="3155986"/>
            <a:ext cx="149701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Operator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812025" y="4902194"/>
            <a:ext cx="5565058" cy="855582"/>
            <a:chOff x="-613024" y="3441725"/>
            <a:chExt cx="5565058" cy="855582"/>
          </a:xfrm>
        </p:grpSpPr>
        <p:sp>
          <p:nvSpPr>
            <p:cNvPr id="11" name="TextBox 10"/>
            <p:cNvSpPr txBox="1"/>
            <p:nvPr/>
          </p:nvSpPr>
          <p:spPr>
            <a:xfrm>
              <a:off x="199578" y="3441725"/>
              <a:ext cx="475245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automatic conversion </a:t>
              </a:r>
              <a:r>
                <a: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string</a:t>
              </a:r>
              <a:r>
                <a:rPr lang="en-US" sz="2000" dirty="0">
                  <a:solidFill>
                    <a:srgbClr val="C00000"/>
                  </a:solidFill>
                </a:rPr>
                <a:t> to </a:t>
              </a:r>
              <a:r>
                <a: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</a:t>
              </a: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>
              <a:off x="-613024" y="3641780"/>
              <a:ext cx="812602" cy="65552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566219" y="6253317"/>
            <a:ext cx="5506065" cy="535611"/>
            <a:chOff x="-806956" y="3306224"/>
            <a:chExt cx="5506065" cy="535611"/>
          </a:xfrm>
        </p:grpSpPr>
        <p:sp>
          <p:nvSpPr>
            <p:cNvPr id="17" name="TextBox 16"/>
            <p:cNvSpPr txBox="1"/>
            <p:nvPr/>
          </p:nvSpPr>
          <p:spPr>
            <a:xfrm>
              <a:off x="-40040" y="3441725"/>
              <a:ext cx="473914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automatic conversion </a:t>
              </a:r>
              <a:r>
                <a: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</a:t>
              </a:r>
              <a:r>
                <a:rPr lang="en-US" sz="2000" dirty="0">
                  <a:solidFill>
                    <a:srgbClr val="C00000"/>
                  </a:solidFill>
                </a:rPr>
                <a:t> to </a:t>
              </a:r>
              <a:r>
                <a:rPr lang="en-US" sz="20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string</a:t>
              </a: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-806956" y="3306224"/>
              <a:ext cx="766916" cy="33555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816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operator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Read string representation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 from standard input, assign to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/>
              <a:t>, read string representation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 from standard input, assign to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cs typeface="Courier New" panose="02070309020205020404" pitchFamily="49" charset="0"/>
              </a:rPr>
              <a:t> on success,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cs typeface="Courier New" panose="02070309020205020404" pitchFamily="49" charset="0"/>
              </a:rPr>
              <a:t> otherwise. Whitespace is separator.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, i.e., return value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/>
              <a:t> call to string representation, and write to standard output, write end-of-line to standard output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dirty="0"/>
              <a:t> on Linux/</a:t>
            </a:r>
            <a:r>
              <a:rPr lang="en-US" dirty="0" err="1"/>
              <a:t>MacOS</a:t>
            </a:r>
            <a:r>
              <a:rPr lang="en-US" dirty="0"/>
              <a:t> X,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'\r'</a:t>
            </a:r>
            <a:r>
              <a:rPr lang="en-US" dirty="0"/>
              <a:t> +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dirty="0"/>
              <a:t> on Windows).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6741" y="3681987"/>
            <a:ext cx="3717208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a,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b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6739" y="6200359"/>
            <a:ext cx="3717209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(a, b)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044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Greatest common divisor (GCD)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Repetition statement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01777" y="3032175"/>
            <a:ext cx="6244101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gcd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while (x !=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if (x &gt; y)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x -=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else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y -= x;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x;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09238" y="2357716"/>
            <a:ext cx="2806891" cy="1213985"/>
            <a:chOff x="296846" y="3923306"/>
            <a:chExt cx="2806891" cy="1213985"/>
          </a:xfrm>
        </p:grpSpPr>
        <p:sp>
          <p:nvSpPr>
            <p:cNvPr id="7" name="TextBox 6"/>
            <p:cNvSpPr txBox="1"/>
            <p:nvPr/>
          </p:nvSpPr>
          <p:spPr>
            <a:xfrm>
              <a:off x="1010357" y="3923306"/>
              <a:ext cx="209338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Boolean condition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6846" y="4856447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2"/>
              <a:endCxn id="8" idx="0"/>
            </p:cNvCxnSpPr>
            <p:nvPr/>
          </p:nvCxnSpPr>
          <p:spPr>
            <a:xfrm flipH="1">
              <a:off x="681250" y="4323416"/>
              <a:ext cx="1375797" cy="53303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443688" y="3215443"/>
            <a:ext cx="3242249" cy="1309371"/>
            <a:chOff x="6254122" y="5190270"/>
            <a:chExt cx="3242249" cy="1309371"/>
          </a:xfrm>
        </p:grpSpPr>
        <p:sp>
          <p:nvSpPr>
            <p:cNvPr id="12" name="Right Brace 11"/>
            <p:cNvSpPr/>
            <p:nvPr/>
          </p:nvSpPr>
          <p:spPr>
            <a:xfrm>
              <a:off x="6254122" y="5572464"/>
              <a:ext cx="46766" cy="927177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458204" y="5190270"/>
              <a:ext cx="3038167" cy="842822"/>
              <a:chOff x="-367133" y="3441725"/>
              <a:chExt cx="3038167" cy="842822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199577" y="3441725"/>
                <a:ext cx="2471457" cy="7078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repeat while Boolean condition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</a:p>
            </p:txBody>
          </p:sp>
          <p:cxnSp>
            <p:nvCxnSpPr>
              <p:cNvPr id="15" name="Straight Arrow Connector 14"/>
              <p:cNvCxnSpPr>
                <a:stCxn id="14" idx="1"/>
              </p:cNvCxnSpPr>
              <p:nvPr/>
            </p:nvCxnSpPr>
            <p:spPr>
              <a:xfrm flipH="1">
                <a:off x="-367133" y="3795668"/>
                <a:ext cx="566710" cy="48887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/>
          <p:cNvSpPr txBox="1"/>
          <p:nvPr/>
        </p:nvSpPr>
        <p:spPr>
          <a:xfrm flipH="1">
            <a:off x="4442467" y="4346138"/>
            <a:ext cx="224347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Body executed zero or more times</a:t>
            </a:r>
          </a:p>
        </p:txBody>
      </p:sp>
    </p:spTree>
    <p:extLst>
      <p:ext uri="{BB962C8B-B14F-4D97-AF65-F5344CB8AC3E}">
        <p14:creationId xmlns:p14="http://schemas.microsoft.com/office/powerpoint/2010/main" val="88133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Alternative to while</a:t>
            </a:r>
          </a:p>
          <a:p>
            <a:r>
              <a:rPr lang="en-US" dirty="0">
                <a:cs typeface="Courier New" panose="02070309020205020404" pitchFamily="49" charset="0"/>
              </a:rPr>
              <a:t>Less frequently  used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01777" y="3032175"/>
            <a:ext cx="6244101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gcd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if (x &gt; y)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x -=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else if (y &lt; x)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y -= x;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 while (x != y)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x;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72122" y="4532801"/>
            <a:ext cx="2862187" cy="1008658"/>
            <a:chOff x="241550" y="3314758"/>
            <a:chExt cx="2862187" cy="1008658"/>
          </a:xfrm>
        </p:grpSpPr>
        <p:sp>
          <p:nvSpPr>
            <p:cNvPr id="7" name="TextBox 6"/>
            <p:cNvSpPr txBox="1"/>
            <p:nvPr/>
          </p:nvSpPr>
          <p:spPr>
            <a:xfrm>
              <a:off x="1010357" y="3923306"/>
              <a:ext cx="209338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Boolean condition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41550" y="3314758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0"/>
              <a:endCxn id="8" idx="3"/>
            </p:cNvCxnSpPr>
            <p:nvPr/>
          </p:nvCxnSpPr>
          <p:spPr>
            <a:xfrm flipH="1" flipV="1">
              <a:off x="1010357" y="3455180"/>
              <a:ext cx="1046690" cy="46812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836977" y="3215443"/>
            <a:ext cx="3242249" cy="1309371"/>
            <a:chOff x="6254122" y="5190270"/>
            <a:chExt cx="3242249" cy="1309371"/>
          </a:xfrm>
        </p:grpSpPr>
        <p:sp>
          <p:nvSpPr>
            <p:cNvPr id="12" name="Right Brace 11"/>
            <p:cNvSpPr/>
            <p:nvPr/>
          </p:nvSpPr>
          <p:spPr>
            <a:xfrm>
              <a:off x="6254122" y="5572464"/>
              <a:ext cx="46766" cy="927177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458204" y="5190270"/>
              <a:ext cx="3038167" cy="842822"/>
              <a:chOff x="-367133" y="3441725"/>
              <a:chExt cx="3038167" cy="842822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199577" y="3441725"/>
                <a:ext cx="2471457" cy="7078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repeat while Boolean condition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</a:p>
            </p:txBody>
          </p:sp>
          <p:cxnSp>
            <p:nvCxnSpPr>
              <p:cNvPr id="15" name="Straight Arrow Connector 14"/>
              <p:cNvCxnSpPr>
                <a:stCxn id="14" idx="1"/>
              </p:cNvCxnSpPr>
              <p:nvPr/>
            </p:nvCxnSpPr>
            <p:spPr>
              <a:xfrm flipH="1">
                <a:off x="-367133" y="3795668"/>
                <a:ext cx="566710" cy="488879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TextBox 17"/>
          <p:cNvSpPr txBox="1"/>
          <p:nvPr/>
        </p:nvSpPr>
        <p:spPr>
          <a:xfrm flipH="1">
            <a:off x="5880048" y="4125686"/>
            <a:ext cx="219223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Body executed one or more times</a:t>
            </a:r>
          </a:p>
        </p:txBody>
      </p:sp>
    </p:spTree>
    <p:extLst>
      <p:ext uri="{BB962C8B-B14F-4D97-AF65-F5344CB8AC3E}">
        <p14:creationId xmlns:p14="http://schemas.microsoft.com/office/powerpoint/2010/main" val="39766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628650" y="4223886"/>
            <a:ext cx="7886700" cy="1953077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-clause is optional</a:t>
            </a:r>
          </a:p>
          <a:p>
            <a:r>
              <a:rPr lang="en-US" dirty="0"/>
              <a:t>Can be chained</a:t>
            </a:r>
          </a:p>
          <a:p>
            <a:r>
              <a:rPr lang="en-US" dirty="0"/>
              <a:t>Conditional</a:t>
            </a:r>
            <a:br>
              <a:rPr lang="en-US" dirty="0"/>
            </a:br>
            <a:r>
              <a:rPr lang="en-US" dirty="0"/>
              <a:t>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1777" y="2196433"/>
            <a:ext cx="3181965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if (x &gt;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x -=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 else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y -= x;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696283" y="1512142"/>
            <a:ext cx="2806891" cy="1213985"/>
            <a:chOff x="296846" y="3923306"/>
            <a:chExt cx="2806891" cy="1213985"/>
          </a:xfrm>
        </p:grpSpPr>
        <p:sp>
          <p:nvSpPr>
            <p:cNvPr id="8" name="TextBox 7"/>
            <p:cNvSpPr txBox="1"/>
            <p:nvPr/>
          </p:nvSpPr>
          <p:spPr>
            <a:xfrm>
              <a:off x="1010357" y="3923306"/>
              <a:ext cx="209338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Boolean condition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96846" y="4856447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2"/>
              <a:endCxn id="9" idx="0"/>
            </p:cNvCxnSpPr>
            <p:nvPr/>
          </p:nvCxnSpPr>
          <p:spPr>
            <a:xfrm flipH="1">
              <a:off x="681250" y="4323416"/>
              <a:ext cx="1375797" cy="53303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833271" y="1912252"/>
            <a:ext cx="4452432" cy="1073094"/>
            <a:chOff x="5250416" y="4211543"/>
            <a:chExt cx="4452432" cy="1073094"/>
          </a:xfrm>
        </p:grpSpPr>
        <p:sp>
          <p:nvSpPr>
            <p:cNvPr id="12" name="Right Brace 11"/>
            <p:cNvSpPr/>
            <p:nvPr/>
          </p:nvSpPr>
          <p:spPr>
            <a:xfrm>
              <a:off x="5250416" y="5054365"/>
              <a:ext cx="45719" cy="230272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5474977" y="4211543"/>
              <a:ext cx="4227871" cy="948936"/>
              <a:chOff x="-1350360" y="2462998"/>
              <a:chExt cx="4227871" cy="948936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278235" y="2462998"/>
                <a:ext cx="2599276" cy="7078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execute when Boolean condition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</a:p>
            </p:txBody>
          </p:sp>
          <p:cxnSp>
            <p:nvCxnSpPr>
              <p:cNvPr id="15" name="Straight Arrow Connector 14"/>
              <p:cNvCxnSpPr>
                <a:stCxn id="14" idx="1"/>
              </p:cNvCxnSpPr>
              <p:nvPr/>
            </p:nvCxnSpPr>
            <p:spPr>
              <a:xfrm flipH="1">
                <a:off x="-1350360" y="2816941"/>
                <a:ext cx="1628595" cy="59499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Group 17"/>
          <p:cNvGrpSpPr/>
          <p:nvPr/>
        </p:nvGrpSpPr>
        <p:grpSpPr>
          <a:xfrm>
            <a:off x="2833271" y="3078063"/>
            <a:ext cx="4475291" cy="707886"/>
            <a:chOff x="5227557" y="4211543"/>
            <a:chExt cx="4475291" cy="707886"/>
          </a:xfrm>
        </p:grpSpPr>
        <p:sp>
          <p:nvSpPr>
            <p:cNvPr id="19" name="Right Brace 18"/>
            <p:cNvSpPr/>
            <p:nvPr/>
          </p:nvSpPr>
          <p:spPr>
            <a:xfrm>
              <a:off x="5227557" y="4313481"/>
              <a:ext cx="45719" cy="230272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452118" y="4211543"/>
              <a:ext cx="4250730" cy="707886"/>
              <a:chOff x="-1373219" y="2462998"/>
              <a:chExt cx="4250730" cy="707886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78235" y="2462998"/>
                <a:ext cx="2599276" cy="7078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execute when Boolean condition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false</a:t>
                </a:r>
              </a:p>
            </p:txBody>
          </p:sp>
          <p:cxnSp>
            <p:nvCxnSpPr>
              <p:cNvPr id="22" name="Straight Arrow Connector 21"/>
              <p:cNvCxnSpPr>
                <a:stCxn id="21" idx="1"/>
              </p:cNvCxnSpPr>
              <p:nvPr/>
            </p:nvCxnSpPr>
            <p:spPr>
              <a:xfrm flipH="1" flipV="1">
                <a:off x="-1373219" y="2704048"/>
                <a:ext cx="1651454" cy="11289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TextBox 26"/>
          <p:cNvSpPr txBox="1"/>
          <p:nvPr/>
        </p:nvSpPr>
        <p:spPr>
          <a:xfrm>
            <a:off x="3426541" y="4804195"/>
            <a:ext cx="2153265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(…)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else if (…)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94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119715"/>
            <a:ext cx="7886700" cy="2057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Initialization once, before first iteration: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2</a:t>
            </a:r>
          </a:p>
          <a:p>
            <a:r>
              <a:rPr lang="en-US" dirty="0"/>
              <a:t>Condition check before each iteration: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&lt;= n</a:t>
            </a:r>
          </a:p>
          <a:p>
            <a:pPr lvl="1"/>
            <a:r>
              <a:rPr lang="en-US" dirty="0"/>
              <a:t>if true, body executed</a:t>
            </a:r>
          </a:p>
          <a:p>
            <a:pPr lvl="1"/>
            <a:r>
              <a:rPr lang="en-US" dirty="0"/>
              <a:t>index modified after iteration: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Repetition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777" y="2196433"/>
            <a:ext cx="4646971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int fac(int n)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int val {1};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for (int i = 2; i &lt;= n; ++i)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val *= i;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return val;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948614" y="1743506"/>
            <a:ext cx="2093380" cy="1237757"/>
            <a:chOff x="5513" y="3899534"/>
            <a:chExt cx="2093380" cy="1237757"/>
          </a:xfrm>
        </p:grpSpPr>
        <p:sp>
          <p:nvSpPr>
            <p:cNvPr id="7" name="TextBox 6"/>
            <p:cNvSpPr txBox="1"/>
            <p:nvPr/>
          </p:nvSpPr>
          <p:spPr>
            <a:xfrm>
              <a:off x="5513" y="3899534"/>
              <a:ext cx="209338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Boolean condition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6846" y="4856447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7" idx="2"/>
              <a:endCxn id="8" idx="0"/>
            </p:cNvCxnSpPr>
            <p:nvPr/>
          </p:nvCxnSpPr>
          <p:spPr>
            <a:xfrm flipH="1">
              <a:off x="681250" y="4299644"/>
              <a:ext cx="370953" cy="55680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1294250" y="1743506"/>
            <a:ext cx="1724253" cy="1237757"/>
            <a:chOff x="-281209" y="3899534"/>
            <a:chExt cx="1724253" cy="1237757"/>
          </a:xfrm>
        </p:grpSpPr>
        <p:sp>
          <p:nvSpPr>
            <p:cNvPr id="11" name="TextBox 10"/>
            <p:cNvSpPr txBox="1"/>
            <p:nvPr/>
          </p:nvSpPr>
          <p:spPr>
            <a:xfrm>
              <a:off x="-281209" y="3899534"/>
              <a:ext cx="148827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initialization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6846" y="4856447"/>
              <a:ext cx="1146198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11" idx="2"/>
              <a:endCxn id="12" idx="0"/>
            </p:cNvCxnSpPr>
            <p:nvPr/>
          </p:nvCxnSpPr>
          <p:spPr>
            <a:xfrm>
              <a:off x="462931" y="4299644"/>
              <a:ext cx="407014" cy="55680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4189031" y="1743506"/>
            <a:ext cx="2605059" cy="1251665"/>
            <a:chOff x="618714" y="3885626"/>
            <a:chExt cx="2605059" cy="1251665"/>
          </a:xfrm>
        </p:grpSpPr>
        <p:sp>
          <p:nvSpPr>
            <p:cNvPr id="20" name="TextBox 19"/>
            <p:cNvSpPr txBox="1"/>
            <p:nvPr/>
          </p:nvSpPr>
          <p:spPr>
            <a:xfrm>
              <a:off x="1637762" y="3885626"/>
              <a:ext cx="1586011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index change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8714" y="4856447"/>
              <a:ext cx="446939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20" idx="2"/>
              <a:endCxn id="21" idx="0"/>
            </p:cNvCxnSpPr>
            <p:nvPr/>
          </p:nvCxnSpPr>
          <p:spPr>
            <a:xfrm flipH="1">
              <a:off x="842184" y="4285736"/>
              <a:ext cx="1588584" cy="57071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110432" y="2981263"/>
            <a:ext cx="3575505" cy="1113974"/>
            <a:chOff x="5468585" y="4012192"/>
            <a:chExt cx="3575505" cy="1113974"/>
          </a:xfrm>
        </p:grpSpPr>
        <p:sp>
          <p:nvSpPr>
            <p:cNvPr id="27" name="Right Brace 26"/>
            <p:cNvSpPr/>
            <p:nvPr/>
          </p:nvSpPr>
          <p:spPr>
            <a:xfrm>
              <a:off x="5468585" y="4012192"/>
              <a:ext cx="45719" cy="230272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5644149" y="4135303"/>
              <a:ext cx="3399941" cy="990863"/>
              <a:chOff x="-1181188" y="2386758"/>
              <a:chExt cx="3399941" cy="990863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-380523" y="2669735"/>
                <a:ext cx="2599276" cy="70788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repeat while Boolean condition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true</a:t>
                </a:r>
              </a:p>
            </p:txBody>
          </p:sp>
          <p:cxnSp>
            <p:nvCxnSpPr>
              <p:cNvPr id="30" name="Straight Arrow Connector 29"/>
              <p:cNvCxnSpPr>
                <a:stCxn id="29" idx="1"/>
              </p:cNvCxnSpPr>
              <p:nvPr/>
            </p:nvCxnSpPr>
            <p:spPr>
              <a:xfrm flipH="1" flipV="1">
                <a:off x="-1181188" y="2386758"/>
                <a:ext cx="800665" cy="63692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288285" y="1545033"/>
          <a:ext cx="1154736" cy="93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431640" progId="Equation.3">
                  <p:embed/>
                </p:oleObj>
              </mc:Choice>
              <mc:Fallback>
                <p:oleObj name="Equation" r:id="rId2" imgW="53316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88285" y="1545033"/>
                        <a:ext cx="1154736" cy="93478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 flipH="1">
            <a:off x="5283097" y="2615955"/>
            <a:ext cx="224347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Body executed zero or more times</a:t>
            </a:r>
          </a:p>
        </p:txBody>
      </p:sp>
    </p:spTree>
    <p:extLst>
      <p:ext uri="{BB962C8B-B14F-4D97-AF65-F5344CB8AC3E}">
        <p14:creationId xmlns:p14="http://schemas.microsoft.com/office/powerpoint/2010/main" val="261464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&amp; continue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 repetition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Interrupt current iteration, start next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778" y="2276893"/>
            <a:ext cx="5345062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"Name?"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&gt;&gt; name)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if (name == "quit")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"Hi " &lt;&lt; name &lt;&lt; "!"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"Bye"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668606" y="3177047"/>
            <a:ext cx="902724" cy="736244"/>
            <a:chOff x="5555226" y="3556845"/>
            <a:chExt cx="902724" cy="736244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555226" y="3576325"/>
              <a:ext cx="90272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442280" y="3556845"/>
              <a:ext cx="15670" cy="73002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555226" y="3569110"/>
              <a:ext cx="902724" cy="196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555226" y="4273425"/>
              <a:ext cx="902724" cy="19664"/>
            </a:xfrm>
            <a:prstGeom prst="line">
              <a:avLst/>
            </a:prstGeom>
            <a:ln w="38100">
              <a:solidFill>
                <a:srgbClr val="C00000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701778" y="4828251"/>
            <a:ext cx="5345062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::string line;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sum {0.0};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getline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line))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if (line[0] == '#') continue;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sum +=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stof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(line);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"sum = " &lt;&lt; sum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 flipV="1">
            <a:off x="5668606" y="5473269"/>
            <a:ext cx="918626" cy="326419"/>
            <a:chOff x="5555226" y="3569110"/>
            <a:chExt cx="918626" cy="326419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5555226" y="3576325"/>
              <a:ext cx="90272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457950" y="3578942"/>
              <a:ext cx="0" cy="30487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555226" y="3569110"/>
              <a:ext cx="902724" cy="1966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555226" y="3883816"/>
              <a:ext cx="918626" cy="11713"/>
            </a:xfrm>
            <a:prstGeom prst="line">
              <a:avLst/>
            </a:prstGeom>
            <a:ln w="38100">
              <a:solidFill>
                <a:srgbClr val="C00000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814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Blocks: one or more statements</a:t>
            </a:r>
          </a:p>
          <a:p>
            <a:r>
              <a:rPr lang="en-US" dirty="0"/>
              <a:t>Enclosed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{…}</a:t>
            </a:r>
          </a:p>
          <a:p>
            <a:r>
              <a:rPr lang="en-US" dirty="0"/>
              <a:t>Defines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1022" y="3343174"/>
            <a:ext cx="3839762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{3};</a:t>
            </a:r>
          </a:p>
          <a:p>
            <a:r>
              <a:rPr lang="en-US" sz="1600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7;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10; ++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 ";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185143" y="4826482"/>
            <a:ext cx="1535482" cy="338554"/>
            <a:chOff x="6409603" y="4128799"/>
            <a:chExt cx="1535482" cy="338554"/>
          </a:xfrm>
        </p:grpSpPr>
        <p:sp>
          <p:nvSpPr>
            <p:cNvPr id="6" name="TextBox 5"/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185143" y="3835432"/>
            <a:ext cx="1535482" cy="338554"/>
            <a:chOff x="6409603" y="4128799"/>
            <a:chExt cx="1535482" cy="338554"/>
          </a:xfrm>
        </p:grpSpPr>
        <p:sp>
          <p:nvSpPr>
            <p:cNvPr id="13" name="TextBox 12"/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185143" y="5778094"/>
            <a:ext cx="1535482" cy="338554"/>
            <a:chOff x="6409603" y="4128799"/>
            <a:chExt cx="1535482" cy="338554"/>
          </a:xfrm>
        </p:grpSpPr>
        <p:sp>
          <p:nvSpPr>
            <p:cNvPr id="16" name="TextBox 15"/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7 8 9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185143" y="6142622"/>
            <a:ext cx="1535482" cy="338554"/>
            <a:chOff x="6409603" y="4128799"/>
            <a:chExt cx="1535482" cy="338554"/>
          </a:xfrm>
        </p:grpSpPr>
        <p:sp>
          <p:nvSpPr>
            <p:cNvPr id="19" name="TextBox 18"/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 rot="20068315">
            <a:off x="4273108" y="2507937"/>
            <a:ext cx="1866217" cy="83099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Don't do this:</a:t>
            </a:r>
            <a:br>
              <a:rPr lang="en-US" sz="2400" dirty="0"/>
            </a:br>
            <a:r>
              <a:rPr lang="en-US" sz="2400" dirty="0"/>
              <a:t>confusing!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A5FC5B-D009-5ED5-2010-5559C91E384D}"/>
              </a:ext>
            </a:extLst>
          </p:cNvPr>
          <p:cNvGrpSpPr/>
          <p:nvPr/>
        </p:nvGrpSpPr>
        <p:grpSpPr>
          <a:xfrm>
            <a:off x="4185143" y="4333058"/>
            <a:ext cx="1535482" cy="338554"/>
            <a:chOff x="6409603" y="4128799"/>
            <a:chExt cx="1535482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A9B431-5B87-7D8C-B640-3EB53776BB20}"/>
                </a:ext>
              </a:extLst>
            </p:cNvPr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6825A76-2900-8512-B1CB-9F6CC9BB7C11}"/>
                </a:ext>
              </a:extLst>
            </p:cNvPr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A6645B-2FE3-BA03-2D02-9FF5307BE118}"/>
              </a:ext>
            </a:extLst>
          </p:cNvPr>
          <p:cNvGrpSpPr/>
          <p:nvPr/>
        </p:nvGrpSpPr>
        <p:grpSpPr>
          <a:xfrm>
            <a:off x="4185143" y="5262091"/>
            <a:ext cx="1535482" cy="338554"/>
            <a:chOff x="6409603" y="4128799"/>
            <a:chExt cx="1535482" cy="3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7A4C37-02C4-B978-61B0-1FFA042B1D5A}"/>
                </a:ext>
              </a:extLst>
            </p:cNvPr>
            <p:cNvSpPr txBox="1"/>
            <p:nvPr/>
          </p:nvSpPr>
          <p:spPr>
            <a:xfrm>
              <a:off x="7112387" y="4128799"/>
              <a:ext cx="832698" cy="33855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lang="en-US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BA0ED2A-E63F-AA1E-4F6B-7DA241162E96}"/>
                </a:ext>
              </a:extLst>
            </p:cNvPr>
            <p:cNvCxnSpPr/>
            <p:nvPr/>
          </p:nvCxnSpPr>
          <p:spPr>
            <a:xfrm>
              <a:off x="6409603" y="4298076"/>
              <a:ext cx="59739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996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Contiguous data storage in memory, fixed size</a:t>
            </a:r>
          </a:p>
          <a:p>
            <a:r>
              <a:rPr lang="en-US" dirty="0"/>
              <a:t>Homogeneous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3035806"/>
            <a:ext cx="5944349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v[5];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5; ++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v[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static_cast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&lt;double&gt;(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sum_array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(v, 5)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sum_array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v[],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result {0.0};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n; ++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result += v[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result;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321654" y="2514692"/>
            <a:ext cx="4592102" cy="1058110"/>
            <a:chOff x="377993" y="4079181"/>
            <a:chExt cx="4592102" cy="1058110"/>
          </a:xfrm>
        </p:grpSpPr>
        <p:sp>
          <p:nvSpPr>
            <p:cNvPr id="15" name="TextBox 14"/>
            <p:cNvSpPr txBox="1"/>
            <p:nvPr/>
          </p:nvSpPr>
          <p:spPr>
            <a:xfrm>
              <a:off x="2423093" y="4079181"/>
              <a:ext cx="254700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number of elements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77993" y="4856447"/>
              <a:ext cx="101883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>
              <a:stCxn id="15" idx="2"/>
              <a:endCxn id="16" idx="0"/>
            </p:cNvCxnSpPr>
            <p:nvPr/>
          </p:nvCxnSpPr>
          <p:spPr>
            <a:xfrm flipH="1">
              <a:off x="428935" y="4479291"/>
              <a:ext cx="3267659" cy="37715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5880517" y="3194452"/>
            <a:ext cx="2455698" cy="728134"/>
            <a:chOff x="4850780" y="3194452"/>
            <a:chExt cx="2455698" cy="728134"/>
          </a:xfrm>
        </p:grpSpPr>
        <p:grpSp>
          <p:nvGrpSpPr>
            <p:cNvPr id="12" name="Group 11"/>
            <p:cNvGrpSpPr/>
            <p:nvPr/>
          </p:nvGrpSpPr>
          <p:grpSpPr>
            <a:xfrm>
              <a:off x="4850780" y="3553254"/>
              <a:ext cx="2398812" cy="369332"/>
              <a:chOff x="6155473" y="234176"/>
              <a:chExt cx="2398812" cy="369332"/>
            </a:xfrm>
            <a:solidFill>
              <a:schemeClr val="bg1"/>
            </a:solidFill>
          </p:grpSpPr>
          <p:sp>
            <p:nvSpPr>
              <p:cNvPr id="6" name="TextBox 5"/>
              <p:cNvSpPr txBox="1"/>
              <p:nvPr/>
            </p:nvSpPr>
            <p:spPr>
              <a:xfrm>
                <a:off x="6155473" y="234176"/>
                <a:ext cx="476412" cy="3693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0.0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630149" y="234176"/>
                <a:ext cx="476412" cy="3693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1.0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117370" y="234176"/>
                <a:ext cx="476412" cy="3693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2.0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592046" y="234176"/>
                <a:ext cx="476412" cy="3693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3.0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8077873" y="234176"/>
                <a:ext cx="476412" cy="369332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4.0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4850780" y="3194452"/>
              <a:ext cx="2455698" cy="356643"/>
              <a:chOff x="4850780" y="3127546"/>
              <a:chExt cx="2455698" cy="35664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4850780" y="3145635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v[0]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349650" y="3127546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v[1]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801868" y="3145635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v[2]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300738" y="3131230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v[3]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799608" y="3127546"/>
                <a:ext cx="5068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v[4]</a:t>
                </a:r>
              </a:p>
            </p:txBody>
          </p:sp>
        </p:grpSp>
      </p:grpSp>
      <p:sp>
        <p:nvSpPr>
          <p:cNvPr id="28" name="TextBox 27"/>
          <p:cNvSpPr txBox="1"/>
          <p:nvPr/>
        </p:nvSpPr>
        <p:spPr>
          <a:xfrm>
            <a:off x="5910636" y="4938750"/>
            <a:ext cx="133895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0-based</a:t>
            </a:r>
          </a:p>
          <a:p>
            <a:r>
              <a:rPr lang="en-US" sz="2400" dirty="0"/>
              <a:t>indexing!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9171" y="6369148"/>
            <a:ext cx="43810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Alternative(?): STL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::vector</a:t>
            </a:r>
            <a:r>
              <a:rPr lang="en-US" dirty="0"/>
              <a:t>, see later</a:t>
            </a:r>
          </a:p>
        </p:txBody>
      </p:sp>
    </p:spTree>
    <p:extLst>
      <p:ext uri="{BB962C8B-B14F-4D97-AF65-F5344CB8AC3E}">
        <p14:creationId xmlns:p14="http://schemas.microsoft.com/office/powerpoint/2010/main" val="407565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373DF-BCDA-4600-B448-AFBDB22F4A39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322130"/>
            <a:ext cx="5944349" cy="35394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 {10};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v[n];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sum_array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(v, n)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n = 5;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sum_array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v[],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result {0.0};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n; ++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result += v[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v[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 = 0.0;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result;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555547" y="1779852"/>
            <a:ext cx="3689136" cy="855582"/>
            <a:chOff x="-613024" y="3441725"/>
            <a:chExt cx="3689136" cy="855582"/>
          </a:xfrm>
        </p:grpSpPr>
        <p:sp>
          <p:nvSpPr>
            <p:cNvPr id="7" name="TextBox 6"/>
            <p:cNvSpPr txBox="1"/>
            <p:nvPr/>
          </p:nvSpPr>
          <p:spPr>
            <a:xfrm>
              <a:off x="199578" y="3441725"/>
              <a:ext cx="287653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value of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  <a:r>
                <a:rPr lang="en-US" sz="2000" dirty="0"/>
                <a:t> can not change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>
            <a:xfrm flipH="1">
              <a:off x="-613024" y="3641780"/>
              <a:ext cx="812602" cy="6555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4572000" y="2902408"/>
            <a:ext cx="3378174" cy="870292"/>
            <a:chOff x="-1236846" y="3441725"/>
            <a:chExt cx="3378174" cy="870292"/>
          </a:xfrm>
        </p:grpSpPr>
        <p:sp>
          <p:nvSpPr>
            <p:cNvPr id="11" name="TextBox 10"/>
            <p:cNvSpPr txBox="1"/>
            <p:nvPr/>
          </p:nvSpPr>
          <p:spPr>
            <a:xfrm>
              <a:off x="199578" y="3441725"/>
              <a:ext cx="1941750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array values in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</a:t>
              </a:r>
              <a:r>
                <a:rPr lang="en-US" sz="2000" dirty="0"/>
                <a:t> </a:t>
              </a:r>
              <a:br>
                <a:rPr lang="en-US" sz="2000" dirty="0"/>
              </a:br>
              <a:r>
                <a:rPr lang="en-US" sz="2000" dirty="0"/>
                <a:t>can not change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>
              <a:off x="-1236846" y="3795668"/>
              <a:ext cx="1436424" cy="5163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2028085" y="3329859"/>
            <a:ext cx="168264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compile error!!!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105" y="4920766"/>
            <a:ext cx="1682640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compile error!!!</a:t>
            </a:r>
          </a:p>
        </p:txBody>
      </p:sp>
    </p:spTree>
    <p:extLst>
      <p:ext uri="{BB962C8B-B14F-4D97-AF65-F5344CB8AC3E}">
        <p14:creationId xmlns:p14="http://schemas.microsoft.com/office/powerpoint/2010/main" val="411274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2,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https://github.com/gjbex/Scientific-C-plus-plus/tree/master/source-code/UserDefinedTypes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78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long</a:t>
            </a:r>
          </a:p>
          <a:p>
            <a:r>
              <a:rPr lang="en-US" dirty="0">
                <a:cs typeface="Courier New" panose="02070309020205020404" pitchFamily="49" charset="0"/>
              </a:rPr>
              <a:t>More portable integers: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int16_t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uint8_t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uint16_t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en-US" dirty="0">
                <a:cs typeface="Courier New" panose="02070309020205020404" pitchFamily="49" charset="0"/>
              </a:rPr>
              <a:t> 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uint64_t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Real numbers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  <a:p>
            <a:r>
              <a:rPr lang="en-US" dirty="0"/>
              <a:t>Vectors, matrices</a:t>
            </a:r>
          </a:p>
          <a:p>
            <a:pPr lvl="1"/>
            <a:r>
              <a:rPr lang="en-US" dirty="0"/>
              <a:t>arrays, better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::array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valarray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8963" y="6081066"/>
            <a:ext cx="322844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Mathematical modelling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42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95290" y="2461638"/>
            <a:ext cx="1377300" cy="1176087"/>
            <a:chOff x="7700796" y="2646270"/>
            <a:chExt cx="1377300" cy="1176087"/>
          </a:xfrm>
        </p:grpSpPr>
        <p:sp>
          <p:nvSpPr>
            <p:cNvPr id="5" name="Right Brace 4"/>
            <p:cNvSpPr/>
            <p:nvPr/>
          </p:nvSpPr>
          <p:spPr>
            <a:xfrm>
              <a:off x="8015416" y="3212757"/>
              <a:ext cx="74141" cy="6096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00796" y="2646270"/>
              <a:ext cx="137730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cstdint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Elbow Connector 7"/>
            <p:cNvCxnSpPr>
              <a:stCxn id="6" idx="2"/>
              <a:endCxn id="5" idx="1"/>
            </p:cNvCxnSpPr>
            <p:nvPr/>
          </p:nvCxnSpPr>
          <p:spPr>
            <a:xfrm rot="5400000">
              <a:off x="7988525" y="3116635"/>
              <a:ext cx="501955" cy="299889"/>
            </a:xfrm>
            <a:prstGeom prst="bentConnector4">
              <a:avLst>
                <a:gd name="adj1" fmla="val 19639"/>
                <a:gd name="adj2" fmla="val 422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298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tuples</a:t>
            </a:r>
          </a:p>
          <a:p>
            <a:r>
              <a:rPr lang="en-US" dirty="0"/>
              <a:t>Define new type, specify name, members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Members can have distinct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938" y="3108433"/>
            <a:ext cx="2955823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struct Particle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double x, y, z;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double mass;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int charge;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98111" y="3373693"/>
            <a:ext cx="3245838" cy="805198"/>
            <a:chOff x="241550" y="2790404"/>
            <a:chExt cx="3245838" cy="805198"/>
          </a:xfrm>
        </p:grpSpPr>
        <p:sp>
          <p:nvSpPr>
            <p:cNvPr id="6" name="TextBox 5"/>
            <p:cNvSpPr txBox="1"/>
            <p:nvPr/>
          </p:nvSpPr>
          <p:spPr>
            <a:xfrm>
              <a:off x="1748722" y="2790404"/>
              <a:ext cx="173866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member name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550" y="3314758"/>
              <a:ext cx="768807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6" idx="1"/>
              <a:endCxn id="7" idx="3"/>
            </p:cNvCxnSpPr>
            <p:nvPr/>
          </p:nvCxnSpPr>
          <p:spPr>
            <a:xfrm flipH="1">
              <a:off x="1010357" y="2990459"/>
              <a:ext cx="738365" cy="46472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1314659" y="3892091"/>
            <a:ext cx="2392102" cy="868816"/>
            <a:chOff x="592922" y="3314758"/>
            <a:chExt cx="2392102" cy="868816"/>
          </a:xfrm>
        </p:grpSpPr>
        <p:sp>
          <p:nvSpPr>
            <p:cNvPr id="11" name="TextBox 10"/>
            <p:cNvSpPr txBox="1"/>
            <p:nvPr/>
          </p:nvSpPr>
          <p:spPr>
            <a:xfrm>
              <a:off x="1394760" y="3783464"/>
              <a:ext cx="159026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member type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2922" y="3314758"/>
              <a:ext cx="417435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11" idx="1"/>
              <a:endCxn id="12" idx="2"/>
            </p:cNvCxnSpPr>
            <p:nvPr/>
          </p:nvCxnSpPr>
          <p:spPr>
            <a:xfrm flipH="1" flipV="1">
              <a:off x="801640" y="3595602"/>
              <a:ext cx="593120" cy="38791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7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declaration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938" y="2459510"/>
            <a:ext cx="2955823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Particle p1;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Particle p2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3.0,  // x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0.5,  // mass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1     // charge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310581" y="2182976"/>
            <a:ext cx="4553535" cy="400110"/>
            <a:chOff x="-1477423" y="3441725"/>
            <a:chExt cx="4553535" cy="400110"/>
          </a:xfrm>
        </p:grpSpPr>
        <p:sp>
          <p:nvSpPr>
            <p:cNvPr id="6" name="TextBox 5"/>
            <p:cNvSpPr txBox="1"/>
            <p:nvPr/>
          </p:nvSpPr>
          <p:spPr>
            <a:xfrm>
              <a:off x="199578" y="3441725"/>
              <a:ext cx="287653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members not initialized!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>
              <a:off x="-1477423" y="3641780"/>
              <a:ext cx="1677001" cy="2000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3600466" y="3057832"/>
            <a:ext cx="3955601" cy="863379"/>
            <a:chOff x="2949675" y="3126656"/>
            <a:chExt cx="3955601" cy="863379"/>
          </a:xfrm>
        </p:grpSpPr>
        <p:grpSp>
          <p:nvGrpSpPr>
            <p:cNvPr id="9" name="Group 8"/>
            <p:cNvGrpSpPr/>
            <p:nvPr/>
          </p:nvGrpSpPr>
          <p:grpSpPr>
            <a:xfrm>
              <a:off x="3178258" y="3236220"/>
              <a:ext cx="3727018" cy="400110"/>
              <a:chOff x="-650906" y="3441725"/>
              <a:chExt cx="3727018" cy="40011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99578" y="3441725"/>
                <a:ext cx="2876534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members initialization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1" name="Straight Arrow Connector 10"/>
              <p:cNvCxnSpPr>
                <a:stCxn id="10" idx="1"/>
              </p:cNvCxnSpPr>
              <p:nvPr/>
            </p:nvCxnSpPr>
            <p:spPr>
              <a:xfrm flipH="1">
                <a:off x="-650906" y="3641780"/>
                <a:ext cx="850484" cy="108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ight Brace 12"/>
            <p:cNvSpPr/>
            <p:nvPr/>
          </p:nvSpPr>
          <p:spPr>
            <a:xfrm>
              <a:off x="2949675" y="3126656"/>
              <a:ext cx="119783" cy="86337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50938" y="4909277"/>
            <a:ext cx="2955823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nn-NO" sz="1600" dirty="0">
                <a:latin typeface="Courier New" pitchFamily="49" charset="0"/>
                <a:cs typeface="Courier New" pitchFamily="49" charset="0"/>
              </a:rPr>
              <a:t>p1.x = -2.0;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p2.mass;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structures 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 by value copies, </a:t>
            </a:r>
            <a:r>
              <a:rPr lang="en-US" i="1" dirty="0">
                <a:solidFill>
                  <a:srgbClr val="C00000"/>
                </a:solidFill>
              </a:rPr>
              <a:t>not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what you want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459510"/>
            <a:ext cx="7886700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dist(const Particle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p1, const Particle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p2)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return sqrt(sqr(p1.x - p2.x) + sqr(p1.y - p2.y) +</a:t>
            </a:r>
            <a:br>
              <a:rPr lang="nn-NO" sz="1600" dirty="0">
                <a:latin typeface="Courier New" pitchFamily="49" charset="0"/>
                <a:cs typeface="Courier New" pitchFamily="49" charset="0"/>
              </a:rPr>
            </a:br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        sqr(p1.z - p2.z));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4001294"/>
            <a:ext cx="7886700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void move(Particle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p, double dx, double dy, double dz)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p.x += dx;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p.y += dy;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p.z += dz;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04568" y="4650132"/>
            <a:ext cx="4522838" cy="1489589"/>
            <a:chOff x="-572855" y="2302558"/>
            <a:chExt cx="4522838" cy="1489589"/>
          </a:xfrm>
        </p:grpSpPr>
        <p:sp>
          <p:nvSpPr>
            <p:cNvPr id="7" name="TextBox 6"/>
            <p:cNvSpPr txBox="1"/>
            <p:nvPr/>
          </p:nvSpPr>
          <p:spPr>
            <a:xfrm>
              <a:off x="-12431" y="3392037"/>
              <a:ext cx="396241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Note: function doesn't return value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>
            <a:xfrm flipH="1" flipV="1">
              <a:off x="-572855" y="2302558"/>
              <a:ext cx="560424" cy="128953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versus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structures/classes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good fit for modelling</a:t>
            </a:r>
          </a:p>
          <a:p>
            <a:r>
              <a:rPr lang="en-US" dirty="0"/>
              <a:t>Structures</a:t>
            </a:r>
          </a:p>
          <a:p>
            <a:pPr lvl="1"/>
            <a:r>
              <a:rPr lang="en-US" dirty="0"/>
              <a:t>Members/methods are public by default</a:t>
            </a:r>
          </a:p>
          <a:p>
            <a:pPr lvl="2"/>
            <a:r>
              <a:rPr lang="en-US" dirty="0"/>
              <a:t>members can be modified inadvertently</a:t>
            </a:r>
          </a:p>
          <a:p>
            <a:r>
              <a:rPr lang="en-US" dirty="0"/>
              <a:t>Classes</a:t>
            </a:r>
          </a:p>
          <a:p>
            <a:pPr lvl="1"/>
            <a:r>
              <a:rPr lang="en-US" dirty="0"/>
              <a:t>Members/methods are private by default</a:t>
            </a:r>
          </a:p>
          <a:p>
            <a:pPr lvl="2"/>
            <a:r>
              <a:rPr lang="en-US" dirty="0"/>
              <a:t>inspectors/</a:t>
            </a:r>
            <a:r>
              <a:rPr lang="en-US" dirty="0" err="1"/>
              <a:t>mutators</a:t>
            </a:r>
            <a:r>
              <a:rPr lang="en-US" dirty="0"/>
              <a:t> are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7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private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only be accessed (read/write) from within class</a:t>
            </a:r>
          </a:p>
          <a:p>
            <a:r>
              <a:rPr lang="en-US" dirty="0"/>
              <a:t>Can also be public</a:t>
            </a:r>
          </a:p>
          <a:p>
            <a:r>
              <a:rPr lang="en-US" dirty="0"/>
              <a:t>Determine state of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410354"/>
            <a:ext cx="7886700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class Particle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private: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x_, y_, z_;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mass_;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7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public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called on instance</a:t>
            </a:r>
          </a:p>
          <a:p>
            <a:r>
              <a:rPr lang="en-US" dirty="0"/>
              <a:t>Can also be private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8650" y="2272706"/>
            <a:ext cx="7886700" cy="2554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class Particle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x()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 return x_;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mass()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{return mass_;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void move(double dx,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72697" y="2389454"/>
            <a:ext cx="5605002" cy="825695"/>
            <a:chOff x="-1182456" y="3441725"/>
            <a:chExt cx="5605002" cy="825695"/>
          </a:xfrm>
        </p:grpSpPr>
        <p:sp>
          <p:nvSpPr>
            <p:cNvPr id="6" name="TextBox 5"/>
            <p:cNvSpPr txBox="1"/>
            <p:nvPr/>
          </p:nvSpPr>
          <p:spPr>
            <a:xfrm>
              <a:off x="199578" y="3441725"/>
              <a:ext cx="4222968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definition for inspector of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x_</a:t>
              </a:r>
              <a:r>
                <a:rPr lang="en-US" sz="2000" dirty="0"/>
                <a:t> attribute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>
              <a:off x="-1182456" y="3641780"/>
              <a:ext cx="1382034" cy="6256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2772697" y="4306531"/>
            <a:ext cx="5605002" cy="1006878"/>
            <a:chOff x="-1182456" y="2834957"/>
            <a:chExt cx="5605002" cy="1006878"/>
          </a:xfrm>
        </p:grpSpPr>
        <p:sp>
          <p:nvSpPr>
            <p:cNvPr id="11" name="TextBox 10"/>
            <p:cNvSpPr txBox="1"/>
            <p:nvPr/>
          </p:nvSpPr>
          <p:spPr>
            <a:xfrm>
              <a:off x="199578" y="3441725"/>
              <a:ext cx="4222968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declaration of  </a:t>
              </a:r>
              <a:r>
                <a:rPr lang="en-US" sz="2000" dirty="0" err="1"/>
                <a:t>mutator</a:t>
              </a:r>
              <a:r>
                <a:rPr lang="en-US" sz="2000" dirty="0"/>
                <a:t> for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x_</a:t>
              </a:r>
              <a:r>
                <a:rPr lang="en-US" sz="2000" dirty="0"/>
                <a:t>,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y_</a:t>
              </a:r>
              <a:r>
                <a:rPr lang="en-US" sz="2000" dirty="0"/>
                <a:t>,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z_</a:t>
              </a: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 flipV="1">
              <a:off x="-1182456" y="2834957"/>
              <a:ext cx="1382034" cy="8068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3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public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Creates new instance</a:t>
            </a:r>
          </a:p>
          <a:p>
            <a:r>
              <a:rPr lang="en-US" dirty="0"/>
              <a:t>Can also be private (factories, 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272706"/>
            <a:ext cx="7886700" cy="2554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class Particle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Particle(double x, double y, double z,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double mass,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charge) 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x_ {x}, y_ {y}, z_ {z},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mass_ {mass}, charge_ {charge} {};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25281" y="4270853"/>
            <a:ext cx="3991897" cy="691334"/>
            <a:chOff x="-661347" y="3150501"/>
            <a:chExt cx="3991897" cy="691334"/>
          </a:xfrm>
        </p:grpSpPr>
        <p:sp>
          <p:nvSpPr>
            <p:cNvPr id="6" name="TextBox 5"/>
            <p:cNvSpPr txBox="1"/>
            <p:nvPr/>
          </p:nvSpPr>
          <p:spPr>
            <a:xfrm>
              <a:off x="199578" y="3441725"/>
              <a:ext cx="313097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trivial attribute initialization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 flipV="1">
              <a:off x="-661347" y="3150501"/>
              <a:ext cx="860925" cy="49127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6243145" y="2944842"/>
            <a:ext cx="2801177" cy="1072246"/>
            <a:chOff x="-242459" y="3441725"/>
            <a:chExt cx="2801177" cy="1072246"/>
          </a:xfrm>
        </p:grpSpPr>
        <p:sp>
          <p:nvSpPr>
            <p:cNvPr id="11" name="TextBox 10"/>
            <p:cNvSpPr txBox="1"/>
            <p:nvPr/>
          </p:nvSpPr>
          <p:spPr>
            <a:xfrm>
              <a:off x="199578" y="3441725"/>
              <a:ext cx="2359140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empty  method body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2"/>
            </p:cNvCxnSpPr>
            <p:nvPr/>
          </p:nvCxnSpPr>
          <p:spPr>
            <a:xfrm flipH="1">
              <a:off x="-242459" y="3841835"/>
              <a:ext cx="1621607" cy="6721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3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Constructor(s)</a:t>
            </a:r>
          </a:p>
          <a:p>
            <a:pPr lvl="1"/>
            <a:r>
              <a:rPr lang="en-US" dirty="0"/>
              <a:t>creates new object (instance) of class</a:t>
            </a:r>
          </a:p>
          <a:p>
            <a:r>
              <a:rPr lang="en-US" dirty="0"/>
              <a:t>Inspectors</a:t>
            </a:r>
          </a:p>
          <a:p>
            <a:pPr lvl="1"/>
            <a:r>
              <a:rPr lang="en-US" dirty="0"/>
              <a:t>retrieve state information of object</a:t>
            </a:r>
          </a:p>
          <a:p>
            <a:pPr lvl="1"/>
            <a:r>
              <a:rPr lang="en-US" dirty="0"/>
              <a:t>doesn't change state of object</a:t>
            </a:r>
          </a:p>
          <a:p>
            <a:r>
              <a:rPr lang="en-US" dirty="0" err="1"/>
              <a:t>Mutators</a:t>
            </a:r>
            <a:endParaRPr lang="en-US" dirty="0"/>
          </a:p>
          <a:p>
            <a:pPr lvl="1"/>
            <a:r>
              <a:rPr lang="en-US" dirty="0"/>
              <a:t>changes state of object</a:t>
            </a:r>
          </a:p>
          <a:p>
            <a:r>
              <a:rPr lang="en-US" dirty="0"/>
              <a:t>Destructor</a:t>
            </a:r>
          </a:p>
          <a:p>
            <a:pPr lvl="1"/>
            <a:r>
              <a:rPr lang="en-US" dirty="0"/>
              <a:t>releases resources acquired by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6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trivial, in class definition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inspector, …,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en-US" dirty="0"/>
              <a:t> constructor</a:t>
            </a:r>
          </a:p>
          <a:p>
            <a:r>
              <a:rPr lang="en-US" dirty="0"/>
              <a:t>Otherwise, outside class definition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n-US" dirty="0"/>
              <a:t> </a:t>
            </a:r>
            <a:r>
              <a:rPr lang="en-US" dirty="0" err="1"/>
              <a:t>mutator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8650" y="4239166"/>
            <a:ext cx="7886700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Particle</a:t>
            </a:r>
            <a:r>
              <a:rPr lang="fr-F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::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move(double dx, double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, double dz) {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x_ += dx;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y_ +=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z_ += dz;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212256" y="3507814"/>
            <a:ext cx="2959510" cy="790344"/>
            <a:chOff x="-1511838" y="3501842"/>
            <a:chExt cx="2959510" cy="790344"/>
          </a:xfrm>
        </p:grpSpPr>
        <p:sp>
          <p:nvSpPr>
            <p:cNvPr id="6" name="TextBox 5"/>
            <p:cNvSpPr txBox="1"/>
            <p:nvPr/>
          </p:nvSpPr>
          <p:spPr>
            <a:xfrm>
              <a:off x="91423" y="3501842"/>
              <a:ext cx="135624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name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>
              <a:off x="-1511838" y="3701897"/>
              <a:ext cx="1603261" cy="5902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474840" y="5326194"/>
            <a:ext cx="3392128" cy="625439"/>
            <a:chOff x="-1280779" y="3276513"/>
            <a:chExt cx="3392128" cy="625439"/>
          </a:xfrm>
        </p:grpSpPr>
        <p:sp>
          <p:nvSpPr>
            <p:cNvPr id="12" name="TextBox 11"/>
            <p:cNvSpPr txBox="1"/>
            <p:nvPr/>
          </p:nvSpPr>
          <p:spPr>
            <a:xfrm>
              <a:off x="91423" y="3501842"/>
              <a:ext cx="201992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object attributes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 flipV="1">
              <a:off x="-1280779" y="3276513"/>
              <a:ext cx="1372202" cy="4253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0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class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Constructing a new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Calling inspectors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Calling </a:t>
            </a:r>
            <a:r>
              <a:rPr lang="en-US" dirty="0" err="1"/>
              <a:t>mutator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8650" y="2361206"/>
            <a:ext cx="5673827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Particle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p(0.3, 0.5, 0.7, 1.0, -1);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3832017"/>
            <a:ext cx="5673827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cout &lt;&lt; "(" &lt;&lt;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p.x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() &lt;&lt; ", " &lt;&lt;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p.y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() &lt;&lt; …;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5441382"/>
            <a:ext cx="5752485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p.move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(0.5, 0.5, 0.5);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11149"/>
          </a:xfrm>
        </p:spPr>
        <p:txBody>
          <a:bodyPr>
            <a:normAutofit/>
          </a:bodyPr>
          <a:lstStyle/>
          <a:p>
            <a:r>
              <a:rPr lang="en-US" dirty="0"/>
              <a:t>Declaration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Implementation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2292370"/>
            <a:ext cx="6657053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class Particle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Particle&amp; other)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4326385"/>
            <a:ext cx="6657053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inline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x) { return x*x;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Particle::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Particle&amp; other)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(x_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 +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(y_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(z_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8650" y="6328317"/>
            <a:ext cx="6657053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r {p1.dist(p2)};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3421" y="4997441"/>
            <a:ext cx="171874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Could use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/>
              <a:t>, but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other.x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is</a:t>
            </a:r>
            <a:br>
              <a:rPr lang="en-US" dirty="0"/>
            </a:br>
            <a:r>
              <a:rPr lang="en-US" dirty="0"/>
              <a:t>better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457951" y="2336906"/>
            <a:ext cx="2057399" cy="911392"/>
            <a:chOff x="-609727" y="3501842"/>
            <a:chExt cx="2057399" cy="911392"/>
          </a:xfrm>
        </p:grpSpPr>
        <p:sp>
          <p:nvSpPr>
            <p:cNvPr id="11" name="TextBox 10"/>
            <p:cNvSpPr txBox="1"/>
            <p:nvPr/>
          </p:nvSpPr>
          <p:spPr>
            <a:xfrm>
              <a:off x="91423" y="3501842"/>
              <a:ext cx="1356249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object will</a:t>
              </a:r>
            </a:p>
            <a:p>
              <a:r>
                <a:rPr lang="en-US" sz="2000" dirty="0">
                  <a:cs typeface="Courier New" panose="02070309020205020404" pitchFamily="49" charset="0"/>
                </a:rPr>
                <a:t>not change</a:t>
              </a: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>
              <a:off x="-609727" y="3855785"/>
              <a:ext cx="701150" cy="5574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3830428" y="1997140"/>
            <a:ext cx="2795751" cy="1261462"/>
            <a:chOff x="-1268595" y="3501842"/>
            <a:chExt cx="2795751" cy="1261462"/>
          </a:xfrm>
        </p:grpSpPr>
        <p:sp>
          <p:nvSpPr>
            <p:cNvPr id="14" name="TextBox 13"/>
            <p:cNvSpPr txBox="1"/>
            <p:nvPr/>
          </p:nvSpPr>
          <p:spPr>
            <a:xfrm>
              <a:off x="91423" y="3501842"/>
              <a:ext cx="1435733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other</a:t>
              </a:r>
              <a:r>
                <a:rPr lang="en-US" sz="2000" dirty="0"/>
                <a:t> will</a:t>
              </a:r>
            </a:p>
            <a:p>
              <a:r>
                <a:rPr lang="en-US" sz="2000" dirty="0">
                  <a:cs typeface="Courier New" panose="02070309020205020404" pitchFamily="49" charset="0"/>
                </a:rPr>
                <a:t>not change</a:t>
              </a:r>
            </a:p>
          </p:txBody>
        </p:sp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>
              <a:off x="-1268595" y="3855785"/>
              <a:ext cx="1360018" cy="9075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004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uiExpand="1" animBg="1"/>
      <p:bldP spid="8" grpId="0" animBg="1"/>
      <p:bldP spid="9" grpId="0" uiExpan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function </a:t>
            </a:r>
            <a:r>
              <a:rPr lang="en-US" dirty="0" err="1"/>
              <a:t>inlining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functions</a:t>
            </a:r>
          </a:p>
          <a:p>
            <a:pPr lvl="1"/>
            <a:r>
              <a:rPr lang="en-US" dirty="0"/>
              <a:t>improve code quality, easier to understand</a:t>
            </a:r>
          </a:p>
          <a:p>
            <a:pPr lvl="1"/>
            <a:r>
              <a:rPr lang="en-US" dirty="0"/>
              <a:t>but calls may have performance impact</a:t>
            </a:r>
          </a:p>
          <a:p>
            <a:r>
              <a:rPr lang="en-US" dirty="0"/>
              <a:t>Solution: inline</a:t>
            </a:r>
          </a:p>
          <a:p>
            <a:pPr lvl="1"/>
            <a:r>
              <a:rPr lang="en-US" dirty="0"/>
              <a:t>explicitly declared: inline keyword (advise to compiler)</a:t>
            </a:r>
          </a:p>
          <a:p>
            <a:pPr lvl="1"/>
            <a:r>
              <a:rPr lang="en-US" dirty="0"/>
              <a:t>automatically by compiler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4503365"/>
            <a:ext cx="6657053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inline double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(double x) { return x*x;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Particle::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Particle&amp; other)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((x_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())*(x_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 +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(y_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())*(y_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(z_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())*(z_ 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other.z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37907" y="5781369"/>
            <a:ext cx="3602919" cy="907438"/>
            <a:chOff x="91423" y="3368249"/>
            <a:chExt cx="3534093" cy="841479"/>
          </a:xfrm>
        </p:grpSpPr>
        <p:sp>
          <p:nvSpPr>
            <p:cNvPr id="7" name="TextBox 6"/>
            <p:cNvSpPr txBox="1"/>
            <p:nvPr/>
          </p:nvSpPr>
          <p:spPr>
            <a:xfrm>
              <a:off x="91423" y="3501842"/>
              <a:ext cx="2019926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substitution at compile time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3"/>
            </p:cNvCxnSpPr>
            <p:nvPr/>
          </p:nvCxnSpPr>
          <p:spPr>
            <a:xfrm flipV="1">
              <a:off x="2111349" y="3368249"/>
              <a:ext cx="1514167" cy="4875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65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charge: positive, neutral, negative</a:t>
            </a:r>
          </a:p>
          <a:p>
            <a:pPr lvl="1"/>
            <a:r>
              <a:rPr lang="en-US" dirty="0"/>
              <a:t>color: magenta, cyan, yellow, black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3372657"/>
            <a:ext cx="6657053" cy="304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Charge {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negative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neutral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charge_value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Charge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charge)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switch (charge)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Charge::negative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-1;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Charge::neutral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case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Charge::positive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1;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  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89755" y="3736259"/>
            <a:ext cx="3569110" cy="665145"/>
            <a:chOff x="-1020223" y="3236807"/>
            <a:chExt cx="3569110" cy="665145"/>
          </a:xfrm>
        </p:grpSpPr>
        <p:sp>
          <p:nvSpPr>
            <p:cNvPr id="8" name="TextBox 7"/>
            <p:cNvSpPr txBox="1"/>
            <p:nvPr/>
          </p:nvSpPr>
          <p:spPr>
            <a:xfrm>
              <a:off x="91423" y="3501842"/>
              <a:ext cx="245746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enum</a:t>
              </a:r>
              <a:r>
                <a:rPr lang="en-US" sz="2000" dirty="0"/>
                <a:t> class definition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</p:cNvCxnSpPr>
            <p:nvPr/>
          </p:nvCxnSpPr>
          <p:spPr>
            <a:xfrm flipH="1" flipV="1">
              <a:off x="-1020223" y="3236807"/>
              <a:ext cx="1111646" cy="4650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032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statement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only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scalar types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  <a:r>
              <a:rPr lang="en-US" dirty="0"/>
              <a:t>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753231"/>
            <a:ext cx="3176434" cy="35394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char op;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result, a,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switch (op)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case '+':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result = a +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case '-':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result = a -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default: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// error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2554" y="2753231"/>
            <a:ext cx="2974873" cy="30469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char op;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result, a,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(op == '+')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result = a +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else if (op == '-')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result = a - b;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…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// error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4339" y="6037062"/>
            <a:ext cx="222148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better performance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15283" y="4889234"/>
            <a:ext cx="170006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more versatile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/>
              <a:t> data type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::variant</a:t>
            </a:r>
            <a:r>
              <a:rPr lang="en-US" dirty="0"/>
              <a:t> (C++17) instead</a:t>
            </a:r>
          </a:p>
          <a:p>
            <a:pPr lvl="1"/>
            <a:r>
              <a:rPr lang="en-US" dirty="0"/>
              <a:t>not so relevant for scientific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501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compilation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https://github.com/gjbex/Scientific-C-plus-plus/tree/master/source-code/Modularity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files</a:t>
            </a:r>
          </a:p>
          <a:p>
            <a:pPr lvl="1"/>
            <a:r>
              <a:rPr lang="en-US" dirty="0"/>
              <a:t>difficult to maintain</a:t>
            </a:r>
          </a:p>
          <a:p>
            <a:pPr lvl="1"/>
            <a:r>
              <a:rPr lang="en-US" dirty="0"/>
              <a:t>discourage reuse</a:t>
            </a:r>
          </a:p>
          <a:p>
            <a:r>
              <a:rPr lang="en-US" dirty="0"/>
              <a:t>Small files</a:t>
            </a:r>
          </a:p>
          <a:p>
            <a:pPr lvl="1"/>
            <a:r>
              <a:rPr lang="en-US" dirty="0"/>
              <a:t>files have single concern</a:t>
            </a:r>
          </a:p>
          <a:p>
            <a:pPr lvl="1"/>
            <a:r>
              <a:rPr lang="en-US" dirty="0"/>
              <a:t>can be compiled separately</a:t>
            </a:r>
          </a:p>
          <a:p>
            <a:r>
              <a:rPr lang="en-US" dirty="0"/>
              <a:t>Header files </a:t>
            </a:r>
            <a:r>
              <a:rPr lang="en-US" dirty="0"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declarations</a:t>
            </a:r>
          </a:p>
          <a:p>
            <a:pPr lvl="1"/>
            <a:r>
              <a:rPr lang="en-US" dirty="0"/>
              <a:t>very short definitions (one liners)</a:t>
            </a:r>
          </a:p>
          <a:p>
            <a:pPr lvl="1"/>
            <a:r>
              <a:rPr lang="en-US" dirty="0"/>
              <a:t>(typically) used from various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r>
              <a:rPr lang="en-US" dirty="0"/>
              <a:t> files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1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declaration: header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28650" y="1825625"/>
            <a:ext cx="6672417" cy="3785652"/>
            <a:chOff x="628650" y="1825625"/>
            <a:chExt cx="6672417" cy="3785652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825625"/>
              <a:ext cx="6672417" cy="378565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Particle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private: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x_, y_, z_;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mass_;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Particle(double x, double y, double z,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double mass) 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x_ {x}, y_ {y}, z_ {z}, mass_ {mass} {};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x() const { return x_;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y() const { return y_;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z() const { return z_;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mass() const {return mass_; }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void move(double dx, double dy, double dz);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dist(const Particle&amp; other) const;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86659" y="1825625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1713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methods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53915" y="1761362"/>
            <a:ext cx="7028505" cy="4524315"/>
            <a:chOff x="628650" y="1825625"/>
            <a:chExt cx="6672417" cy="4524315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825625"/>
              <a:ext cx="6672417" cy="452431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&lt;cmath&gt;</a:t>
              </a: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#include "particle.h"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using namespace std;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inline double sqr(double x) { return x*x; }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void Particle::move(double dx, double dy, double dz)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x_ += dx;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y_ += dy;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z_ += dz;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double Particle::dist(const Particle&amp; other) const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return sqrt(sqr(x_ - other.x()) + 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sqr(y_ - other.y()) +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sqr(z_ - other.z()));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999849" y="1825625"/>
              <a:ext cx="1300356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particle.cpp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33138" y="2275903"/>
            <a:ext cx="3254476" cy="406521"/>
            <a:chOff x="421568" y="2783993"/>
            <a:chExt cx="3254476" cy="406521"/>
          </a:xfrm>
        </p:grpSpPr>
        <p:sp>
          <p:nvSpPr>
            <p:cNvPr id="9" name="TextBox 8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class declaration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/>
            <p:cNvCxnSpPr>
              <a:stCxn id="9" idx="1"/>
            </p:cNvCxnSpPr>
            <p:nvPr/>
          </p:nvCxnSpPr>
          <p:spPr>
            <a:xfrm flipH="1" flipV="1">
              <a:off x="421568" y="2783993"/>
              <a:ext cx="1327154" cy="20646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763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class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62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1825625"/>
            <a:ext cx="6672417" cy="2800767"/>
            <a:chOff x="628650" y="1825625"/>
            <a:chExt cx="6672417" cy="2800767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825625"/>
              <a:ext cx="6672417" cy="28007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&lt;iostream&gt;</a:t>
              </a: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#include "particle.h"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using namespace std;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int main()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Particle p(0.0, 0.0, 0.0, 1.0);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p.move(0.3, 0.5, 0.7);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p.x() &lt;&lt; ", " &lt;&lt; p.y() &lt;&lt; ", "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&lt;&lt; p.z()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return 0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53808" y="1825625"/>
              <a:ext cx="92845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main.cpp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333138" y="2275903"/>
            <a:ext cx="3254476" cy="406521"/>
            <a:chOff x="421568" y="2783993"/>
            <a:chExt cx="3254476" cy="406521"/>
          </a:xfrm>
        </p:grpSpPr>
        <p:sp>
          <p:nvSpPr>
            <p:cNvPr id="8" name="TextBox 7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class declaration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</p:cNvCxnSpPr>
            <p:nvPr/>
          </p:nvCxnSpPr>
          <p:spPr>
            <a:xfrm flipH="1" flipV="1">
              <a:off x="421568" y="2783993"/>
              <a:ext cx="1327154" cy="20646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96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Preprocessing</a:t>
            </a:r>
          </a:p>
          <a:p>
            <a:pPr lvl="1"/>
            <a:r>
              <a:rPr lang="en-US" dirty="0"/>
              <a:t>processes,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…</a:t>
            </a:r>
          </a:p>
          <a:p>
            <a:pPr lvl="1"/>
            <a:r>
              <a:rPr lang="en-US" dirty="0"/>
              <a:t>called  by compiler</a:t>
            </a:r>
          </a:p>
          <a:p>
            <a:endParaRPr lang="en-US" dirty="0"/>
          </a:p>
          <a:p>
            <a:r>
              <a:rPr lang="en-US" dirty="0"/>
              <a:t>Compilation</a:t>
            </a:r>
          </a:p>
          <a:p>
            <a:pPr lvl="1"/>
            <a:r>
              <a:rPr lang="en-US" dirty="0"/>
              <a:t>create object file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Linking</a:t>
            </a:r>
          </a:p>
          <a:p>
            <a:pPr lvl="1"/>
            <a:r>
              <a:rPr lang="en-US" dirty="0"/>
              <a:t>create executable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63</a:t>
            </a:fld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533138" y="1083025"/>
            <a:ext cx="3359015" cy="2333265"/>
            <a:chOff x="5533138" y="1083025"/>
            <a:chExt cx="3359015" cy="2333265"/>
          </a:xfrm>
        </p:grpSpPr>
        <p:grpSp>
          <p:nvGrpSpPr>
            <p:cNvPr id="7" name="Group 6"/>
            <p:cNvGrpSpPr/>
            <p:nvPr/>
          </p:nvGrpSpPr>
          <p:grpSpPr>
            <a:xfrm>
              <a:off x="5533138" y="1651817"/>
              <a:ext cx="1047082" cy="790269"/>
              <a:chOff x="1452743" y="2458065"/>
              <a:chExt cx="1047082" cy="790269"/>
            </a:xfrm>
          </p:grpSpPr>
          <p:sp>
            <p:nvSpPr>
              <p:cNvPr id="5" name="Folded Corner 4"/>
              <p:cNvSpPr/>
              <p:nvPr/>
            </p:nvSpPr>
            <p:spPr>
              <a:xfrm>
                <a:off x="1789471" y="2458065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452743" y="2940557"/>
                <a:ext cx="10470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particle.cpp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6803927" y="1083025"/>
              <a:ext cx="877163" cy="799390"/>
              <a:chOff x="1452743" y="2448944"/>
              <a:chExt cx="877163" cy="799390"/>
            </a:xfrm>
          </p:grpSpPr>
          <p:sp>
            <p:nvSpPr>
              <p:cNvPr id="9" name="Folded Corner 8"/>
              <p:cNvSpPr/>
              <p:nvPr/>
            </p:nvSpPr>
            <p:spPr>
              <a:xfrm>
                <a:off x="1704511" y="2448944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452743" y="2940557"/>
                <a:ext cx="8771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particle.h</a:t>
                </a:r>
                <a:endParaRPr lang="en-US" sz="1400" dirty="0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626912" y="2617060"/>
              <a:ext cx="859531" cy="797754"/>
              <a:chOff x="1461558" y="2448944"/>
              <a:chExt cx="859531" cy="797754"/>
            </a:xfrm>
          </p:grpSpPr>
          <p:sp>
            <p:nvSpPr>
              <p:cNvPr id="12" name="Folded Corner 11"/>
              <p:cNvSpPr/>
              <p:nvPr/>
            </p:nvSpPr>
            <p:spPr>
              <a:xfrm>
                <a:off x="1704511" y="2448944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461558" y="2938921"/>
                <a:ext cx="8595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main.cpp</a:t>
                </a:r>
              </a:p>
            </p:txBody>
          </p:sp>
        </p:grpSp>
        <p:cxnSp>
          <p:nvCxnSpPr>
            <p:cNvPr id="15" name="Straight Arrow Connector 14"/>
            <p:cNvCxnSpPr>
              <a:stCxn id="9" idx="1"/>
              <a:endCxn id="5" idx="3"/>
            </p:cNvCxnSpPr>
            <p:nvPr/>
          </p:nvCxnSpPr>
          <p:spPr>
            <a:xfrm flipH="1">
              <a:off x="6243492" y="1333748"/>
              <a:ext cx="812203" cy="56879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1"/>
              <a:endCxn id="12" idx="3"/>
            </p:cNvCxnSpPr>
            <p:nvPr/>
          </p:nvCxnSpPr>
          <p:spPr>
            <a:xfrm flipH="1">
              <a:off x="6243491" y="1333748"/>
              <a:ext cx="812204" cy="153403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7804996" y="1653293"/>
              <a:ext cx="1087157" cy="790269"/>
              <a:chOff x="1452743" y="2458065"/>
              <a:chExt cx="1087157" cy="790269"/>
            </a:xfrm>
          </p:grpSpPr>
          <p:sp>
            <p:nvSpPr>
              <p:cNvPr id="21" name="Folded Corner 20"/>
              <p:cNvSpPr/>
              <p:nvPr/>
            </p:nvSpPr>
            <p:spPr>
              <a:xfrm>
                <a:off x="1789471" y="2458065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452743" y="2940557"/>
                <a:ext cx="10871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particle.cpp'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7898770" y="2618536"/>
              <a:ext cx="899605" cy="797754"/>
              <a:chOff x="1461558" y="2448944"/>
              <a:chExt cx="899605" cy="797754"/>
            </a:xfrm>
          </p:grpSpPr>
          <p:sp>
            <p:nvSpPr>
              <p:cNvPr id="24" name="Folded Corner 23"/>
              <p:cNvSpPr/>
              <p:nvPr/>
            </p:nvSpPr>
            <p:spPr>
              <a:xfrm>
                <a:off x="1704511" y="2448944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461558" y="2938921"/>
                <a:ext cx="8996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main.cpp'</a:t>
                </a:r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7012497" y="2124725"/>
              <a:ext cx="66859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012497" y="2971606"/>
              <a:ext cx="66859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5514609" y="3530362"/>
            <a:ext cx="3149021" cy="1764473"/>
            <a:chOff x="5514609" y="3530362"/>
            <a:chExt cx="3149021" cy="1764473"/>
          </a:xfrm>
        </p:grpSpPr>
        <p:grpSp>
          <p:nvGrpSpPr>
            <p:cNvPr id="29" name="Group 28"/>
            <p:cNvGrpSpPr/>
            <p:nvPr/>
          </p:nvGrpSpPr>
          <p:grpSpPr>
            <a:xfrm>
              <a:off x="5514609" y="3530362"/>
              <a:ext cx="1087157" cy="790269"/>
              <a:chOff x="1452743" y="2458065"/>
              <a:chExt cx="1087157" cy="790269"/>
            </a:xfrm>
          </p:grpSpPr>
          <p:sp>
            <p:nvSpPr>
              <p:cNvPr id="30" name="Folded Corner 29"/>
              <p:cNvSpPr/>
              <p:nvPr/>
            </p:nvSpPr>
            <p:spPr>
              <a:xfrm>
                <a:off x="1789471" y="2458065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452743" y="2940557"/>
                <a:ext cx="10871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particle.cpp'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5608383" y="4495605"/>
              <a:ext cx="899605" cy="797754"/>
              <a:chOff x="1461558" y="2448944"/>
              <a:chExt cx="899605" cy="797754"/>
            </a:xfrm>
          </p:grpSpPr>
          <p:sp>
            <p:nvSpPr>
              <p:cNvPr id="33" name="Folded Corner 32"/>
              <p:cNvSpPr/>
              <p:nvPr/>
            </p:nvSpPr>
            <p:spPr>
              <a:xfrm>
                <a:off x="1704511" y="2448944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461558" y="2938921"/>
                <a:ext cx="8996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main.cpp'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7786467" y="3551226"/>
              <a:ext cx="877163" cy="770881"/>
              <a:chOff x="1452743" y="2477453"/>
              <a:chExt cx="877163" cy="770881"/>
            </a:xfrm>
          </p:grpSpPr>
          <p:sp>
            <p:nvSpPr>
              <p:cNvPr id="36" name="Folded Corner 35"/>
              <p:cNvSpPr/>
              <p:nvPr/>
            </p:nvSpPr>
            <p:spPr>
              <a:xfrm>
                <a:off x="1650188" y="2477453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452743" y="2940557"/>
                <a:ext cx="8771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particle.o</a:t>
                </a:r>
                <a:endParaRPr lang="en-US" sz="1400" dirty="0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7880241" y="4466899"/>
              <a:ext cx="689612" cy="827936"/>
              <a:chOff x="1461558" y="2418762"/>
              <a:chExt cx="689612" cy="827936"/>
            </a:xfrm>
          </p:grpSpPr>
          <p:sp>
            <p:nvSpPr>
              <p:cNvPr id="39" name="Folded Corner 38"/>
              <p:cNvSpPr/>
              <p:nvPr/>
            </p:nvSpPr>
            <p:spPr>
              <a:xfrm>
                <a:off x="1639258" y="2418762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1461558" y="2938921"/>
                <a:ext cx="6896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main.o</a:t>
                </a:r>
                <a:endParaRPr lang="en-US" sz="1400" dirty="0"/>
              </a:p>
            </p:txBody>
          </p:sp>
        </p:grpSp>
        <p:cxnSp>
          <p:nvCxnSpPr>
            <p:cNvPr id="41" name="Straight Arrow Connector 40"/>
            <p:cNvCxnSpPr/>
            <p:nvPr/>
          </p:nvCxnSpPr>
          <p:spPr>
            <a:xfrm>
              <a:off x="6993968" y="4003270"/>
              <a:ext cx="66859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6993968" y="4850151"/>
              <a:ext cx="66859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4785209" y="5564409"/>
            <a:ext cx="4051314" cy="860732"/>
            <a:chOff x="4785209" y="5564409"/>
            <a:chExt cx="4051314" cy="860732"/>
          </a:xfrm>
        </p:grpSpPr>
        <p:grpSp>
          <p:nvGrpSpPr>
            <p:cNvPr id="43" name="Group 42"/>
            <p:cNvGrpSpPr/>
            <p:nvPr/>
          </p:nvGrpSpPr>
          <p:grpSpPr>
            <a:xfrm>
              <a:off x="4785209" y="5634388"/>
              <a:ext cx="877163" cy="770881"/>
              <a:chOff x="1452743" y="2477453"/>
              <a:chExt cx="877163" cy="770881"/>
            </a:xfrm>
          </p:grpSpPr>
          <p:sp>
            <p:nvSpPr>
              <p:cNvPr id="44" name="Folded Corner 43"/>
              <p:cNvSpPr/>
              <p:nvPr/>
            </p:nvSpPr>
            <p:spPr>
              <a:xfrm>
                <a:off x="1650188" y="2477453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1452743" y="2940557"/>
                <a:ext cx="8771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particle.o</a:t>
                </a:r>
                <a:endParaRPr lang="en-US" sz="1400" dirty="0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839909" y="5634388"/>
              <a:ext cx="689612" cy="790753"/>
              <a:chOff x="1489454" y="2418762"/>
              <a:chExt cx="689612" cy="790753"/>
            </a:xfrm>
          </p:grpSpPr>
          <p:sp>
            <p:nvSpPr>
              <p:cNvPr id="47" name="Folded Corner 46"/>
              <p:cNvSpPr/>
              <p:nvPr/>
            </p:nvSpPr>
            <p:spPr>
              <a:xfrm>
                <a:off x="1639258" y="2418762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489454" y="2901738"/>
                <a:ext cx="6896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main.o</a:t>
                </a:r>
                <a:endParaRPr lang="en-US" sz="1400" dirty="0"/>
              </a:p>
            </p:txBody>
          </p:sp>
        </p:grpSp>
        <p:cxnSp>
          <p:nvCxnSpPr>
            <p:cNvPr id="51" name="Straight Arrow Connector 50"/>
            <p:cNvCxnSpPr/>
            <p:nvPr/>
          </p:nvCxnSpPr>
          <p:spPr>
            <a:xfrm>
              <a:off x="6993967" y="5885110"/>
              <a:ext cx="668593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7732759" y="5564409"/>
              <a:ext cx="1103764" cy="790753"/>
              <a:chOff x="1341972" y="2418762"/>
              <a:chExt cx="1103764" cy="790753"/>
            </a:xfrm>
          </p:grpSpPr>
          <p:sp>
            <p:nvSpPr>
              <p:cNvPr id="53" name="Folded Corner 52"/>
              <p:cNvSpPr/>
              <p:nvPr/>
            </p:nvSpPr>
            <p:spPr>
              <a:xfrm>
                <a:off x="1639258" y="2418762"/>
                <a:ext cx="373626" cy="501445"/>
              </a:xfrm>
              <a:prstGeom prst="foldedCorner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341972" y="2901738"/>
                <a:ext cx="11037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particles.exe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247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"programming language"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file</a:t>
            </a:r>
            <a:r>
              <a:rPr lang="en-US" dirty="0"/>
              <a:t>: include file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en-US" dirty="0"/>
              <a:t>: define constant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/>
              <a:t>: assign value to constant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… 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dirty="0"/>
              <a:t>: include if defined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… #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  <a:r>
              <a:rPr lang="en-US" dirty="0"/>
              <a:t>: include unless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64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14233" y="4419640"/>
            <a:ext cx="6672417" cy="2062103"/>
            <a:chOff x="814233" y="3752747"/>
            <a:chExt cx="6672417" cy="2062103"/>
          </a:xfrm>
        </p:grpSpPr>
        <p:sp>
          <p:nvSpPr>
            <p:cNvPr id="6" name="TextBox 5"/>
            <p:cNvSpPr txBox="1"/>
            <p:nvPr/>
          </p:nvSpPr>
          <p:spPr>
            <a:xfrm>
              <a:off x="814233" y="3752747"/>
              <a:ext cx="6672417" cy="20621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#ifndef PARTICLE_H</a:t>
              </a: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#define PARTICLE_H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Particle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…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#endif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72242" y="3752747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035277" y="4826238"/>
            <a:ext cx="5299587" cy="1440419"/>
            <a:chOff x="2143432" y="4413230"/>
            <a:chExt cx="5299587" cy="1440419"/>
          </a:xfrm>
        </p:grpSpPr>
        <p:grpSp>
          <p:nvGrpSpPr>
            <p:cNvPr id="8" name="Group 7"/>
            <p:cNvGrpSpPr/>
            <p:nvPr/>
          </p:nvGrpSpPr>
          <p:grpSpPr>
            <a:xfrm>
              <a:off x="3293810" y="4413230"/>
              <a:ext cx="4149209" cy="1022073"/>
              <a:chOff x="421569" y="2783994"/>
              <a:chExt cx="4149209" cy="102207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748721" y="2790404"/>
                <a:ext cx="2822057" cy="101566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include guard: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ensures class </a:t>
                </a:r>
                <a:r>
                  <a:rPr lang="en-US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declaration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included only one</a:t>
                </a:r>
              </a:p>
            </p:txBody>
          </p:sp>
          <p:cxnSp>
            <p:nvCxnSpPr>
              <p:cNvPr id="10" name="Straight Arrow Connector 9"/>
              <p:cNvCxnSpPr>
                <a:stCxn id="9" idx="1"/>
              </p:cNvCxnSpPr>
              <p:nvPr/>
            </p:nvCxnSpPr>
            <p:spPr>
              <a:xfrm flipH="1" flipV="1">
                <a:off x="421569" y="2783994"/>
                <a:ext cx="1327152" cy="51424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/>
            <p:cNvCxnSpPr>
              <a:stCxn id="9" idx="1"/>
            </p:cNvCxnSpPr>
            <p:nvPr/>
          </p:nvCxnSpPr>
          <p:spPr>
            <a:xfrm flipH="1">
              <a:off x="2143432" y="4927472"/>
              <a:ext cx="2477530" cy="92617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2831144" y="6223130"/>
            <a:ext cx="3541098" cy="46166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Always</a:t>
            </a:r>
            <a:r>
              <a:rPr lang="en-US" sz="2400" dirty="0">
                <a:solidFill>
                  <a:srgbClr val="C00000"/>
                </a:solidFill>
              </a:rPr>
              <a:t> use include guards!</a:t>
            </a:r>
          </a:p>
        </p:txBody>
      </p:sp>
    </p:spTree>
    <p:extLst>
      <p:ext uri="{BB962C8B-B14F-4D97-AF65-F5344CB8AC3E}">
        <p14:creationId xmlns:p14="http://schemas.microsoft.com/office/powerpoint/2010/main" val="368359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Preprocessor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Literal substitution in source code</a:t>
            </a:r>
          </a:p>
          <a:p>
            <a:pPr lvl="1"/>
            <a:r>
              <a:rPr lang="en-US" dirty="0"/>
              <a:t>constants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macros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65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3635" y="2664014"/>
            <a:ext cx="3318419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#define NR_DIM 3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coords[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NR_DIM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]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711101" y="2664014"/>
            <a:ext cx="5196931" cy="1077218"/>
            <a:chOff x="3711101" y="2664014"/>
            <a:chExt cx="5196931" cy="1077218"/>
          </a:xfrm>
        </p:grpSpPr>
        <p:sp>
          <p:nvSpPr>
            <p:cNvPr id="6" name="TextBox 5"/>
            <p:cNvSpPr txBox="1"/>
            <p:nvPr/>
          </p:nvSpPr>
          <p:spPr>
            <a:xfrm>
              <a:off x="4489337" y="2664014"/>
              <a:ext cx="4418695" cy="10772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double coords[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]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711101" y="3202623"/>
              <a:ext cx="668593" cy="464941"/>
              <a:chOff x="3905503" y="3217415"/>
              <a:chExt cx="668593" cy="464941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3905503" y="3217415"/>
                <a:ext cx="668593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3950100" y="3313024"/>
                <a:ext cx="526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cpp</a:t>
                </a:r>
                <a:endParaRPr lang="en-US" dirty="0"/>
              </a:p>
            </p:txBody>
          </p:sp>
        </p:grpSp>
      </p:grpSp>
      <p:sp>
        <p:nvSpPr>
          <p:cNvPr id="9" name="TextBox 8"/>
          <p:cNvSpPr txBox="1"/>
          <p:nvPr/>
        </p:nvSpPr>
        <p:spPr>
          <a:xfrm>
            <a:off x="263635" y="4249796"/>
            <a:ext cx="3374373" cy="20621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vars[2*n];</a:t>
            </a:r>
          </a:p>
          <a:p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#define x(i) vars[(i)]</a:t>
            </a:r>
          </a:p>
          <a:p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#define y(i) vars[(i) + n]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 = sqrt(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x(1)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x(1)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+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y(1)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y(1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754951" y="4249796"/>
            <a:ext cx="5153081" cy="2062103"/>
            <a:chOff x="3754951" y="4249796"/>
            <a:chExt cx="5153081" cy="2062103"/>
          </a:xfrm>
        </p:grpSpPr>
        <p:sp>
          <p:nvSpPr>
            <p:cNvPr id="10" name="TextBox 9"/>
            <p:cNvSpPr txBox="1"/>
            <p:nvPr/>
          </p:nvSpPr>
          <p:spPr>
            <a:xfrm>
              <a:off x="4540488" y="4249796"/>
              <a:ext cx="4367544" cy="20621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double vars[2*n];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d = sqrt(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vars[(1)]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*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vars[(1)]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+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vars[(1)+n]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*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vars[(1)+n]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754951" y="5139621"/>
              <a:ext cx="668593" cy="464941"/>
              <a:chOff x="3905503" y="3217415"/>
              <a:chExt cx="668593" cy="464941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>
                <a:off x="3905503" y="3217415"/>
                <a:ext cx="668593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3950100" y="3313024"/>
                <a:ext cx="526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cpp</a:t>
                </a:r>
                <a:endParaRPr lang="en-US" dirty="0"/>
              </a:p>
            </p:txBody>
          </p:sp>
        </p:grpSp>
      </p:grpSp>
      <p:sp>
        <p:nvSpPr>
          <p:cNvPr id="17" name="TextBox 16"/>
          <p:cNvSpPr txBox="1"/>
          <p:nvPr/>
        </p:nvSpPr>
        <p:spPr>
          <a:xfrm>
            <a:off x="2655713" y="6138858"/>
            <a:ext cx="2867067" cy="5847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Do </a:t>
            </a:r>
            <a:r>
              <a:rPr lang="en-US" sz="3200" i="1" dirty="0">
                <a:solidFill>
                  <a:srgbClr val="C00000"/>
                </a:solidFill>
              </a:rPr>
              <a:t>not</a:t>
            </a:r>
            <a:r>
              <a:rPr lang="en-US" sz="3200" dirty="0">
                <a:solidFill>
                  <a:srgbClr val="C00000"/>
                </a:solidFill>
              </a:rPr>
              <a:t> overuse!</a:t>
            </a:r>
          </a:p>
        </p:txBody>
      </p:sp>
    </p:spTree>
    <p:extLst>
      <p:ext uri="{BB962C8B-B14F-4D97-AF65-F5344CB8AC3E}">
        <p14:creationId xmlns:p14="http://schemas.microsoft.com/office/powerpoint/2010/main" val="132765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9" grpId="0" animBg="1"/>
      <p:bldP spid="1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D154-BE03-BC6A-8EE3-BE6607BF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A2574-A0EC-3750-8B0F-8BAD97B9F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 dirty="0"/>
              <a:t>Defining your own namespaces, for example code, see</a:t>
            </a:r>
            <a:br>
              <a:rPr lang="en-US" dirty="0"/>
            </a:br>
            <a:r>
              <a:rPr lang="en-US" sz="1200" dirty="0">
                <a:hlinkClick r:id="rId2"/>
              </a:rPr>
              <a:t>https://github.com/gjbex/Scientific-C-plus-plus/tree/master/source-code/Modularity/NamespaceParticles</a:t>
            </a:r>
            <a:r>
              <a:rPr lang="en-US" sz="1200" dirty="0"/>
              <a:t> </a:t>
            </a:r>
            <a:endParaRPr lang="en-US" dirty="0"/>
          </a:p>
          <a:p>
            <a:r>
              <a:rPr lang="en-US" dirty="0"/>
              <a:t>Added</a:t>
            </a:r>
          </a:p>
          <a:p>
            <a:pPr lvl="1"/>
            <a:r>
              <a:rPr lang="en-US" dirty="0"/>
              <a:t>Build process explanation</a:t>
            </a:r>
          </a:p>
          <a:p>
            <a:pPr lvl="1"/>
            <a:r>
              <a:rPr lang="en-US" dirty="0"/>
              <a:t>Preprocessor directives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7F5FA-6AA5-14B7-B317-763CE793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234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hlinkClick r:id="rId2"/>
              </a:rPr>
              <a:t>https://github.com/gjbex/Scientific-C-plus-plus/tree/master/source-code/Modularity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62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68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1825625"/>
            <a:ext cx="6672417" cy="3539430"/>
            <a:chOff x="628650" y="1825625"/>
            <a:chExt cx="6672417" cy="3539430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825625"/>
              <a:ext cx="6672417" cy="35394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CXX = g++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CXXFLAGS = -std=c++14  -O2  -g  -Wall  -Wextra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LDLIBS = -lm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all: particles.exe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particles.exe: particle.o main.o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	$(CXX)  $(CXXFLAGS)   -o $@  $^  $(LDLIBS)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%.o: %.cpp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	$(CXX)  $(CXXFLAGS)  -c  -o $@  $^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clean: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	$(RM) particles.exe $(wildcard *.o)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53808" y="1825625"/>
              <a:ext cx="92845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Makefile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995948" y="1133128"/>
            <a:ext cx="4640827" cy="830996"/>
            <a:chOff x="-964783" y="2790404"/>
            <a:chExt cx="4640827" cy="830996"/>
          </a:xfrm>
        </p:grpSpPr>
        <p:sp>
          <p:nvSpPr>
            <p:cNvPr id="8" name="TextBox 7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compiler to use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</p:cNvCxnSpPr>
            <p:nvPr/>
          </p:nvCxnSpPr>
          <p:spPr>
            <a:xfrm flipH="1">
              <a:off x="-964783" y="2990459"/>
              <a:ext cx="2713505" cy="6309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6017342" y="2250869"/>
            <a:ext cx="2498008" cy="400110"/>
            <a:chOff x="1178036" y="2790404"/>
            <a:chExt cx="2498008" cy="400110"/>
          </a:xfrm>
        </p:grpSpPr>
        <p:sp>
          <p:nvSpPr>
            <p:cNvPr id="12" name="TextBox 11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compiler options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 flipV="1">
              <a:off x="1178036" y="2887319"/>
              <a:ext cx="570686" cy="1031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446638" y="2501295"/>
            <a:ext cx="6068712" cy="695718"/>
            <a:chOff x="-2392668" y="2494796"/>
            <a:chExt cx="6068712" cy="695718"/>
          </a:xfrm>
        </p:grpSpPr>
        <p:sp>
          <p:nvSpPr>
            <p:cNvPr id="17" name="TextBox 16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libraries to use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-2392668" y="2494796"/>
              <a:ext cx="4141390" cy="4956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738551" y="3903618"/>
            <a:ext cx="1776799" cy="411136"/>
            <a:chOff x="1899245" y="2798113"/>
            <a:chExt cx="1776799" cy="411136"/>
          </a:xfrm>
        </p:grpSpPr>
        <p:sp>
          <p:nvSpPr>
            <p:cNvPr id="21" name="TextBox 20"/>
            <p:cNvSpPr txBox="1"/>
            <p:nvPr/>
          </p:nvSpPr>
          <p:spPr>
            <a:xfrm>
              <a:off x="2762059" y="2809139"/>
              <a:ext cx="91398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linking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/>
            <p:cNvCxnSpPr>
              <a:stCxn id="21" idx="1"/>
            </p:cNvCxnSpPr>
            <p:nvPr/>
          </p:nvCxnSpPr>
          <p:spPr>
            <a:xfrm flipH="1" flipV="1">
              <a:off x="1899245" y="2798113"/>
              <a:ext cx="862814" cy="2110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6017342" y="4492521"/>
            <a:ext cx="2494214" cy="451386"/>
            <a:chOff x="1278509" y="2778348"/>
            <a:chExt cx="2494214" cy="451386"/>
          </a:xfrm>
        </p:grpSpPr>
        <p:sp>
          <p:nvSpPr>
            <p:cNvPr id="26" name="TextBox 25"/>
            <p:cNvSpPr txBox="1"/>
            <p:nvPr/>
          </p:nvSpPr>
          <p:spPr>
            <a:xfrm>
              <a:off x="2562234" y="2829624"/>
              <a:ext cx="121048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compiling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7" name="Straight Arrow Connector 26"/>
            <p:cNvCxnSpPr>
              <a:stCxn id="26" idx="1"/>
            </p:cNvCxnSpPr>
            <p:nvPr/>
          </p:nvCxnSpPr>
          <p:spPr>
            <a:xfrm flipH="1" flipV="1">
              <a:off x="1278509" y="2778348"/>
              <a:ext cx="1283725" cy="251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4798142" y="5382885"/>
            <a:ext cx="3713414" cy="635697"/>
            <a:chOff x="59309" y="2594037"/>
            <a:chExt cx="3713414" cy="635697"/>
          </a:xfrm>
        </p:grpSpPr>
        <p:sp>
          <p:nvSpPr>
            <p:cNvPr id="31" name="TextBox 30"/>
            <p:cNvSpPr txBox="1"/>
            <p:nvPr/>
          </p:nvSpPr>
          <p:spPr>
            <a:xfrm>
              <a:off x="2562234" y="2829624"/>
              <a:ext cx="121048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clean up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31" idx="1"/>
            </p:cNvCxnSpPr>
            <p:nvPr/>
          </p:nvCxnSpPr>
          <p:spPr>
            <a:xfrm flipH="1" flipV="1">
              <a:off x="59309" y="2594037"/>
              <a:ext cx="2502925" cy="4356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442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Recipe</a:t>
            </a:r>
          </a:p>
          <a:p>
            <a:pPr lvl="1"/>
            <a:r>
              <a:rPr lang="en-US" dirty="0"/>
              <a:t>target: what to make</a:t>
            </a:r>
          </a:p>
          <a:p>
            <a:pPr lvl="1"/>
            <a:r>
              <a:rPr lang="en-US" dirty="0"/>
              <a:t>dependency: what artifacts are required</a:t>
            </a:r>
          </a:p>
          <a:p>
            <a:pPr lvl="1"/>
            <a:r>
              <a:rPr lang="en-US" dirty="0"/>
              <a:t>action: how to do it</a:t>
            </a:r>
          </a:p>
          <a:p>
            <a:r>
              <a:rPr lang="en-US" dirty="0"/>
              <a:t>E.g., how to create object files?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69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47852" y="4903124"/>
            <a:ext cx="5487015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%.o: %.cpp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	$(CXX)  $(CXXFLAGS) 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-c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 -o $@  $^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35326" y="4021455"/>
            <a:ext cx="2073577" cy="953668"/>
            <a:chOff x="2762059" y="2809139"/>
            <a:chExt cx="2073577" cy="953668"/>
          </a:xfrm>
        </p:grpSpPr>
        <p:sp>
          <p:nvSpPr>
            <p:cNvPr id="9" name="TextBox 8"/>
            <p:cNvSpPr txBox="1"/>
            <p:nvPr/>
          </p:nvSpPr>
          <p:spPr>
            <a:xfrm>
              <a:off x="2762059" y="2809139"/>
              <a:ext cx="2073577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target = object file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2"/>
            </p:cNvCxnSpPr>
            <p:nvPr/>
          </p:nvCxnSpPr>
          <p:spPr>
            <a:xfrm>
              <a:off x="3798848" y="3209249"/>
              <a:ext cx="741820" cy="5535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898871" y="4021455"/>
            <a:ext cx="3246289" cy="953668"/>
            <a:chOff x="2762058" y="2809139"/>
            <a:chExt cx="3246289" cy="953668"/>
          </a:xfrm>
        </p:grpSpPr>
        <p:sp>
          <p:nvSpPr>
            <p:cNvPr id="16" name="TextBox 15"/>
            <p:cNvSpPr txBox="1"/>
            <p:nvPr/>
          </p:nvSpPr>
          <p:spPr>
            <a:xfrm>
              <a:off x="2762058" y="2809139"/>
              <a:ext cx="324628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dependency = C++ source file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7" name="Straight Arrow Connector 16"/>
            <p:cNvCxnSpPr>
              <a:stCxn id="16" idx="2"/>
            </p:cNvCxnSpPr>
            <p:nvPr/>
          </p:nvCxnSpPr>
          <p:spPr>
            <a:xfrm flipH="1">
              <a:off x="2950517" y="3209249"/>
              <a:ext cx="1434686" cy="5535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502178" y="5384703"/>
            <a:ext cx="2658596" cy="850472"/>
            <a:chOff x="2762059" y="2358777"/>
            <a:chExt cx="2658596" cy="850472"/>
          </a:xfrm>
        </p:grpSpPr>
        <p:sp>
          <p:nvSpPr>
            <p:cNvPr id="21" name="TextBox 20"/>
            <p:cNvSpPr txBox="1"/>
            <p:nvPr/>
          </p:nvSpPr>
          <p:spPr>
            <a:xfrm>
              <a:off x="2762059" y="2809139"/>
              <a:ext cx="265859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only compile, don't link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/>
            <p:cNvCxnSpPr>
              <a:stCxn id="21" idx="0"/>
            </p:cNvCxnSpPr>
            <p:nvPr/>
          </p:nvCxnSpPr>
          <p:spPr>
            <a:xfrm flipH="1" flipV="1">
              <a:off x="2974883" y="2358777"/>
              <a:ext cx="1116474" cy="4503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45499" y="5584723"/>
            <a:ext cx="7738294" cy="1104104"/>
            <a:chOff x="245499" y="5584723"/>
            <a:chExt cx="7738294" cy="1104104"/>
          </a:xfrm>
        </p:grpSpPr>
        <p:sp>
          <p:nvSpPr>
            <p:cNvPr id="26" name="TextBox 25"/>
            <p:cNvSpPr txBox="1"/>
            <p:nvPr/>
          </p:nvSpPr>
          <p:spPr>
            <a:xfrm>
              <a:off x="245499" y="6350273"/>
              <a:ext cx="7738294" cy="3385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g++  -stc=c++14 -O2 -g -Wall  -c  -o particle.o  particle.cpp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087330" y="5584723"/>
              <a:ext cx="0" cy="65045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868367" y="5665788"/>
              <a:ext cx="1883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particle.o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35326" y="4818487"/>
            <a:ext cx="2486532" cy="638195"/>
            <a:chOff x="1590282" y="3425217"/>
            <a:chExt cx="2486532" cy="638195"/>
          </a:xfrm>
        </p:grpSpPr>
        <p:sp>
          <p:nvSpPr>
            <p:cNvPr id="33" name="TextBox 32"/>
            <p:cNvSpPr txBox="1"/>
            <p:nvPr/>
          </p:nvSpPr>
          <p:spPr>
            <a:xfrm>
              <a:off x="1590282" y="3425217"/>
              <a:ext cx="56449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tab</a:t>
              </a:r>
              <a:endPara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60173" y="3782568"/>
              <a:ext cx="916641" cy="28084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33" idx="3"/>
              <a:endCxn id="34" idx="1"/>
            </p:cNvCxnSpPr>
            <p:nvPr/>
          </p:nvCxnSpPr>
          <p:spPr>
            <a:xfrm>
              <a:off x="2154776" y="3625272"/>
              <a:ext cx="1005397" cy="29771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5200443" y="4014790"/>
            <a:ext cx="3186474" cy="1203807"/>
            <a:chOff x="1524018" y="2809139"/>
            <a:chExt cx="3186474" cy="1203807"/>
          </a:xfrm>
        </p:grpSpPr>
        <p:sp>
          <p:nvSpPr>
            <p:cNvPr id="47" name="TextBox 46"/>
            <p:cNvSpPr txBox="1"/>
            <p:nvPr/>
          </p:nvSpPr>
          <p:spPr>
            <a:xfrm>
              <a:off x="2762060" y="2809139"/>
              <a:ext cx="194843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action = compile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8" name="Straight Arrow Connector 47"/>
            <p:cNvCxnSpPr>
              <a:stCxn id="47" idx="2"/>
            </p:cNvCxnSpPr>
            <p:nvPr/>
          </p:nvCxnSpPr>
          <p:spPr>
            <a:xfrm flipH="1">
              <a:off x="1524018" y="3209249"/>
              <a:ext cx="2212258" cy="8036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592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Default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89090" y="3124013"/>
            <a:ext cx="6275155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particles.exe: particle.o main.o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	$(CXX)  $(CXXFLAGS)   -o $@  $^  $(LIBS)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4822" y="2364402"/>
            <a:ext cx="2270222" cy="755733"/>
            <a:chOff x="2762059" y="2809139"/>
            <a:chExt cx="2270222" cy="755733"/>
          </a:xfrm>
        </p:grpSpPr>
        <p:sp>
          <p:nvSpPr>
            <p:cNvPr id="7" name="TextBox 6"/>
            <p:cNvSpPr txBox="1"/>
            <p:nvPr/>
          </p:nvSpPr>
          <p:spPr>
            <a:xfrm>
              <a:off x="2762059" y="2809139"/>
              <a:ext cx="22702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target = executable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>
              <a:stCxn id="7" idx="2"/>
            </p:cNvCxnSpPr>
            <p:nvPr/>
          </p:nvCxnSpPr>
          <p:spPr>
            <a:xfrm>
              <a:off x="3897170" y="3209249"/>
              <a:ext cx="562899" cy="3556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273627" y="2364402"/>
            <a:ext cx="2822374" cy="771642"/>
            <a:chOff x="2762059" y="2809139"/>
            <a:chExt cx="2822374" cy="771642"/>
          </a:xfrm>
        </p:grpSpPr>
        <p:sp>
          <p:nvSpPr>
            <p:cNvPr id="10" name="TextBox 9"/>
            <p:cNvSpPr txBox="1"/>
            <p:nvPr/>
          </p:nvSpPr>
          <p:spPr>
            <a:xfrm>
              <a:off x="2762059" y="2809139"/>
              <a:ext cx="282237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dependency = object files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/>
            <p:cNvCxnSpPr>
              <a:stCxn id="10" idx="2"/>
            </p:cNvCxnSpPr>
            <p:nvPr/>
          </p:nvCxnSpPr>
          <p:spPr>
            <a:xfrm flipH="1">
              <a:off x="3932613" y="3209249"/>
              <a:ext cx="240633" cy="3715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189090" y="3775918"/>
            <a:ext cx="6275155" cy="1302357"/>
            <a:chOff x="551860" y="5584723"/>
            <a:chExt cx="6275155" cy="1302357"/>
          </a:xfrm>
        </p:grpSpPr>
        <p:sp>
          <p:nvSpPr>
            <p:cNvPr id="13" name="TextBox 12"/>
            <p:cNvSpPr txBox="1"/>
            <p:nvPr/>
          </p:nvSpPr>
          <p:spPr>
            <a:xfrm>
              <a:off x="551860" y="6302305"/>
              <a:ext cx="6275155" cy="5847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g++  -O2 -g -Wall -stc=c++14  -o particles.exe \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particle.o main.o  -lm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3087330" y="5584723"/>
              <a:ext cx="0" cy="65045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189089" y="5884575"/>
            <a:ext cx="6275155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all: particles.exe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931706" y="2364402"/>
            <a:ext cx="2101249" cy="976103"/>
            <a:chOff x="2125286" y="2809139"/>
            <a:chExt cx="2101249" cy="976103"/>
          </a:xfrm>
        </p:grpSpPr>
        <p:sp>
          <p:nvSpPr>
            <p:cNvPr id="21" name="TextBox 20"/>
            <p:cNvSpPr txBox="1"/>
            <p:nvPr/>
          </p:nvSpPr>
          <p:spPr>
            <a:xfrm>
              <a:off x="2762060" y="2809139"/>
              <a:ext cx="146447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action = link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/>
            <p:cNvCxnSpPr>
              <a:stCxn id="21" idx="2"/>
            </p:cNvCxnSpPr>
            <p:nvPr/>
          </p:nvCxnSpPr>
          <p:spPr>
            <a:xfrm flipH="1">
              <a:off x="2125286" y="3209249"/>
              <a:ext cx="1369012" cy="575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886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executable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execute targets with modified dependencies</a:t>
            </a:r>
          </a:p>
          <a:p>
            <a:pPr lvl="1"/>
            <a:r>
              <a:rPr lang="en-US" dirty="0"/>
              <a:t>dependency tracking</a:t>
            </a:r>
          </a:p>
          <a:p>
            <a:pPr lvl="1"/>
            <a:r>
              <a:rPr lang="en-US" dirty="0"/>
              <a:t>saves lots of time on large projects</a:t>
            </a:r>
          </a:p>
          <a:p>
            <a:r>
              <a:rPr lang="en-US" dirty="0"/>
              <a:t>Clean all build artifacts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5341" y="2458063"/>
            <a:ext cx="211468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5342" y="5245506"/>
            <a:ext cx="21146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make  clean</a:t>
            </a:r>
          </a:p>
        </p:txBody>
      </p:sp>
    </p:spTree>
    <p:extLst>
      <p:ext uri="{BB962C8B-B14F-4D97-AF65-F5344CB8AC3E}">
        <p14:creationId xmlns:p14="http://schemas.microsoft.com/office/powerpoint/2010/main" val="329763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dependencies on header files can be non-trivial</a:t>
            </a:r>
          </a:p>
          <a:p>
            <a:pPr lvl="1"/>
            <a:r>
              <a:rPr lang="en-US" dirty="0"/>
              <a:t>weird errors</a:t>
            </a:r>
          </a:p>
          <a:p>
            <a:r>
              <a:rPr lang="en-US" dirty="0"/>
              <a:t>Can be tracked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72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28650" y="3271462"/>
            <a:ext cx="7413381" cy="2554545"/>
            <a:chOff x="628650" y="1825625"/>
            <a:chExt cx="6672417" cy="2554545"/>
          </a:xfrm>
        </p:grpSpPr>
        <p:sp>
          <p:nvSpPr>
            <p:cNvPr id="6" name="TextBox 5"/>
            <p:cNvSpPr txBox="1"/>
            <p:nvPr/>
          </p:nvSpPr>
          <p:spPr>
            <a:xfrm>
              <a:off x="628650" y="1825625"/>
              <a:ext cx="6672417" cy="255454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CPPFLAGS = -MMD  -MP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…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%.o: %.cpp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	$(CXX)  $(CXXFLAGS)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$(CPPFLAGS)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-c  -o $@  $^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-include $(wildcard *.d)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clean: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	$(RM) particles.exe $(wildcard *.o)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$(wildcard *.d)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53808" y="1825625"/>
              <a:ext cx="92845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Makefile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540370" y="3683397"/>
            <a:ext cx="5211639" cy="535046"/>
            <a:chOff x="3540370" y="3245740"/>
            <a:chExt cx="5211639" cy="535046"/>
          </a:xfrm>
        </p:grpSpPr>
        <p:grpSp>
          <p:nvGrpSpPr>
            <p:cNvPr id="8" name="Group 7"/>
            <p:cNvGrpSpPr/>
            <p:nvPr/>
          </p:nvGrpSpPr>
          <p:grpSpPr>
            <a:xfrm>
              <a:off x="5478586" y="3245740"/>
              <a:ext cx="3273423" cy="535046"/>
              <a:chOff x="1221722" y="2790404"/>
              <a:chExt cx="3273423" cy="535046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748722" y="2790404"/>
                <a:ext cx="2746423" cy="40011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create dependency files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0" name="Straight Arrow Connector 9"/>
              <p:cNvCxnSpPr>
                <a:stCxn id="9" idx="1"/>
              </p:cNvCxnSpPr>
              <p:nvPr/>
            </p:nvCxnSpPr>
            <p:spPr>
              <a:xfrm flipH="1">
                <a:off x="1221722" y="2990459"/>
                <a:ext cx="527000" cy="3349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/>
            <p:cNvCxnSpPr>
              <a:stCxn id="9" idx="1"/>
            </p:cNvCxnSpPr>
            <p:nvPr/>
          </p:nvCxnSpPr>
          <p:spPr>
            <a:xfrm flipH="1" flipV="1">
              <a:off x="3540370" y="3245741"/>
              <a:ext cx="2465216" cy="200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3954585" y="4768521"/>
            <a:ext cx="4797424" cy="400110"/>
            <a:chOff x="-302278" y="2790404"/>
            <a:chExt cx="4797424" cy="400110"/>
          </a:xfrm>
        </p:grpSpPr>
        <p:sp>
          <p:nvSpPr>
            <p:cNvPr id="17" name="TextBox 16"/>
            <p:cNvSpPr txBox="1"/>
            <p:nvPr/>
          </p:nvSpPr>
          <p:spPr>
            <a:xfrm>
              <a:off x="1748722" y="2790404"/>
              <a:ext cx="2746424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include dependency files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-302278" y="2925340"/>
              <a:ext cx="2051000" cy="65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017477" y="5778100"/>
            <a:ext cx="3734531" cy="572429"/>
            <a:chOff x="878943" y="2618085"/>
            <a:chExt cx="3734531" cy="572429"/>
          </a:xfrm>
        </p:grpSpPr>
        <p:sp>
          <p:nvSpPr>
            <p:cNvPr id="22" name="TextBox 21"/>
            <p:cNvSpPr txBox="1"/>
            <p:nvPr/>
          </p:nvSpPr>
          <p:spPr>
            <a:xfrm>
              <a:off x="1748721" y="2790404"/>
              <a:ext cx="2864753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clean dependency files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2" idx="1"/>
            </p:cNvCxnSpPr>
            <p:nvPr/>
          </p:nvCxnSpPr>
          <p:spPr>
            <a:xfrm flipH="1" flipV="1">
              <a:off x="878943" y="2618085"/>
              <a:ext cx="869778" cy="3723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176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your own make files</a:t>
            </a:r>
          </a:p>
          <a:p>
            <a:pPr lvl="1"/>
            <a:r>
              <a:rPr lang="en-US" dirty="0"/>
              <a:t>tedious</a:t>
            </a:r>
          </a:p>
          <a:p>
            <a:pPr lvl="1"/>
            <a:r>
              <a:rPr lang="en-US" dirty="0"/>
              <a:t>error prone</a:t>
            </a:r>
          </a:p>
          <a:p>
            <a:pPr lvl="1"/>
            <a:r>
              <a:rPr lang="en-US" dirty="0"/>
              <a:t>okay for small projects</a:t>
            </a:r>
          </a:p>
          <a:p>
            <a:r>
              <a:rPr lang="en-US" dirty="0"/>
              <a:t>Better: use </a:t>
            </a:r>
            <a:r>
              <a:rPr lang="en-US" dirty="0" err="1"/>
              <a:t>autotools</a:t>
            </a:r>
            <a:endParaRPr lang="en-US" dirty="0"/>
          </a:p>
          <a:p>
            <a:pPr lvl="1"/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configure.ac</a:t>
            </a:r>
            <a:r>
              <a:rPr lang="en-US" dirty="0"/>
              <a:t> for project</a:t>
            </a:r>
          </a:p>
          <a:p>
            <a:pPr lvl="1"/>
            <a:r>
              <a:rPr lang="en-US" dirty="0"/>
              <a:t>create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Makefile.am</a:t>
            </a:r>
            <a:r>
              <a:rPr lang="en-US" dirty="0"/>
              <a:t> per directory</a:t>
            </a:r>
          </a:p>
          <a:p>
            <a:r>
              <a:rPr lang="en-US" dirty="0"/>
              <a:t>Better still: consider </a:t>
            </a:r>
            <a:r>
              <a:rPr lang="en-US" dirty="0" err="1"/>
              <a:t>CMake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9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</a:t>
            </a:r>
            <a:r>
              <a:rPr lang="en-US" dirty="0"/>
              <a:t>Make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hlinkClick r:id="rId2"/>
              </a:rPr>
              <a:t>https://github.com/gjbex/Scientific-C-plus-plus/tree/master/source-code/Modularity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640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</a:t>
            </a:r>
            <a:r>
              <a:rPr lang="en-US" dirty="0"/>
              <a:t>Make</a:t>
            </a:r>
            <a:r>
              <a:rPr lang="en-BE" dirty="0"/>
              <a:t>L</a:t>
            </a:r>
            <a:r>
              <a:rPr lang="en-GB" dirty="0" err="1"/>
              <a:t>i</a:t>
            </a:r>
            <a:r>
              <a:rPr lang="en-BE" dirty="0"/>
              <a:t>s</a:t>
            </a:r>
            <a:r>
              <a:rPr lang="en-GB" dirty="0"/>
              <a:t>t</a:t>
            </a:r>
            <a:r>
              <a:rPr lang="en-BE" dirty="0"/>
              <a:t>s.</a:t>
            </a:r>
            <a:r>
              <a:rPr lang="en-GB" dirty="0"/>
              <a:t>t</a:t>
            </a:r>
            <a:r>
              <a:rPr lang="en-BE" dirty="0"/>
              <a:t>x</a:t>
            </a:r>
            <a:r>
              <a:rPr lang="en-GB" dirty="0"/>
              <a:t>t</a:t>
            </a:r>
            <a:r>
              <a:rPr lang="en-US" dirty="0"/>
              <a:t>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75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1825625"/>
            <a:ext cx="6672417" cy="3046988"/>
            <a:chOff x="628650" y="1825625"/>
            <a:chExt cx="6672417" cy="3046988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825625"/>
              <a:ext cx="6672417" cy="304698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cmake_minimum_required(VERSION 3.20)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project(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BE" sz="1600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c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l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e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s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LANGUAGES CXX)</a:t>
              </a:r>
              <a:endParaRPr lang="en-BE" sz="1600" dirty="0">
                <a:latin typeface="Courier New" pitchFamily="49" charset="0"/>
                <a:cs typeface="Courier New" pitchFamily="49" charset="0"/>
              </a:endParaRP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set(CMAKE_CXX_STANDARD 14)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set(CMAKE_CXX_STARDARD_REQUIRED YES)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set(CMAKE_CXX_EXTENSIONS NO)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add_executable(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BE" sz="1600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c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l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e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s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.exe</a:t>
              </a:r>
              <a:endParaRPr lang="en-BE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                   p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r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en-BE" sz="1600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c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l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e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s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.cpp</a:t>
              </a:r>
              <a:endParaRPr lang="en-BE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                   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m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a</a:t>
              </a:r>
              <a:r>
                <a:rPr lang="en-GB" sz="1600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n.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c</a:t>
              </a:r>
              <a:r>
                <a:rPr lang="en-BE" sz="1600" dirty="0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GB" sz="1600" dirty="0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target_compile_options(-Wall -Wextra -Wpedantic)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795775" y="1825625"/>
              <a:ext cx="1486304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BE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r>
                <a:rPr lang="en-GB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r>
                <a:rPr lang="en-BE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en-GB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ke</a:t>
              </a:r>
              <a:r>
                <a:rPr lang="en-BE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  <a:r>
                <a:rPr lang="en-GB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BE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sts.txt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785317" y="825839"/>
            <a:ext cx="4152910" cy="1060565"/>
            <a:chOff x="431340" y="2790404"/>
            <a:chExt cx="4152910" cy="1060565"/>
          </a:xfrm>
        </p:grpSpPr>
        <p:sp>
          <p:nvSpPr>
            <p:cNvPr id="8" name="TextBox 7"/>
            <p:cNvSpPr txBox="1"/>
            <p:nvPr/>
          </p:nvSpPr>
          <p:spPr>
            <a:xfrm>
              <a:off x="1748721" y="2790404"/>
              <a:ext cx="283552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m</a:t>
              </a:r>
              <a:r>
                <a:rPr lang="en-BE" sz="2000" dirty="0" err="1"/>
                <a:t>i</a:t>
              </a:r>
              <a:r>
                <a:rPr lang="en-GB" sz="2000" dirty="0"/>
                <a:t>m</a:t>
              </a:r>
              <a:r>
                <a:rPr lang="en-BE" sz="2000" dirty="0" err="1"/>
                <a:t>i</a:t>
              </a:r>
              <a:r>
                <a:rPr lang="en-GB" sz="2000" dirty="0"/>
                <a:t>n</a:t>
              </a:r>
              <a:r>
                <a:rPr lang="en-BE" sz="2000" dirty="0"/>
                <a:t>u</a:t>
              </a:r>
              <a:r>
                <a:rPr lang="en-GB" sz="2000" dirty="0"/>
                <a:t>m</a:t>
              </a:r>
              <a:r>
                <a:rPr lang="en-BE" sz="2000" dirty="0"/>
                <a:t> C</a:t>
              </a:r>
              <a:r>
                <a:rPr lang="en-GB" sz="2000" dirty="0"/>
                <a:t>m</a:t>
              </a:r>
              <a:r>
                <a:rPr lang="en-BE" sz="2000" dirty="0"/>
                <a:t>a</a:t>
              </a:r>
              <a:r>
                <a:rPr lang="en-GB" sz="2000" dirty="0"/>
                <a:t>k</a:t>
              </a:r>
              <a:r>
                <a:rPr lang="en-BE" sz="2000" dirty="0"/>
                <a:t>e </a:t>
              </a:r>
              <a:r>
                <a:rPr lang="en-GB" sz="2000" dirty="0"/>
                <a:t>v</a:t>
              </a:r>
              <a:r>
                <a:rPr lang="en-BE" sz="2000" dirty="0"/>
                <a:t>e</a:t>
              </a:r>
              <a:r>
                <a:rPr lang="en-GB" sz="2000" dirty="0"/>
                <a:t>r</a:t>
              </a:r>
              <a:r>
                <a:rPr lang="en-BE" sz="2000" dirty="0"/>
                <a:t>s</a:t>
              </a:r>
              <a:r>
                <a:rPr lang="en-GB" sz="2000" dirty="0" err="1"/>
                <a:t>i</a:t>
              </a:r>
              <a:r>
                <a:rPr lang="en-BE" sz="2000" dirty="0"/>
                <a:t>o</a:t>
              </a:r>
              <a:r>
                <a:rPr lang="en-GB" sz="2000" dirty="0"/>
                <a:t>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cxnSpLocks/>
              <a:stCxn id="8" idx="1"/>
            </p:cNvCxnSpPr>
            <p:nvPr/>
          </p:nvCxnSpPr>
          <p:spPr>
            <a:xfrm flipH="1">
              <a:off x="431340" y="2990459"/>
              <a:ext cx="1317381" cy="8605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785317" y="4746250"/>
            <a:ext cx="2473827" cy="853577"/>
            <a:chOff x="1202217" y="2336937"/>
            <a:chExt cx="2473827" cy="853577"/>
          </a:xfrm>
        </p:grpSpPr>
        <p:sp>
          <p:nvSpPr>
            <p:cNvPr id="12" name="TextBox 11"/>
            <p:cNvSpPr txBox="1"/>
            <p:nvPr/>
          </p:nvSpPr>
          <p:spPr>
            <a:xfrm>
              <a:off x="1748722" y="2790404"/>
              <a:ext cx="192732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compile options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cxnSpLocks/>
              <a:stCxn id="12" idx="1"/>
            </p:cNvCxnSpPr>
            <p:nvPr/>
          </p:nvCxnSpPr>
          <p:spPr>
            <a:xfrm flipH="1" flipV="1">
              <a:off x="1202217" y="2336937"/>
              <a:ext cx="546505" cy="6535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785145" y="2593034"/>
            <a:ext cx="6165907" cy="666545"/>
            <a:chOff x="-2837907" y="2523969"/>
            <a:chExt cx="6165907" cy="666545"/>
          </a:xfrm>
        </p:grpSpPr>
        <p:sp>
          <p:nvSpPr>
            <p:cNvPr id="17" name="TextBox 16"/>
            <p:cNvSpPr txBox="1"/>
            <p:nvPr/>
          </p:nvSpPr>
          <p:spPr>
            <a:xfrm>
              <a:off x="1748722" y="2790404"/>
              <a:ext cx="1579278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BE" sz="2000" dirty="0"/>
                <a:t>p</a:t>
              </a:r>
              <a:r>
                <a:rPr lang="en-GB" sz="2000" dirty="0"/>
                <a:t>r</a:t>
              </a:r>
              <a:r>
                <a:rPr lang="en-BE" sz="2000" dirty="0"/>
                <a:t>o</a:t>
              </a:r>
              <a:r>
                <a:rPr lang="en-GB" sz="2000" dirty="0"/>
                <a:t>j</a:t>
              </a:r>
              <a:r>
                <a:rPr lang="en-BE" sz="2000" dirty="0"/>
                <a:t>e</a:t>
              </a:r>
              <a:r>
                <a:rPr lang="en-GB" sz="2000" dirty="0"/>
                <a:t>c</a:t>
              </a:r>
              <a:r>
                <a:rPr lang="en-BE" sz="2000" dirty="0"/>
                <a:t>t </a:t>
              </a:r>
              <a:r>
                <a:rPr lang="en-GB" sz="2000" dirty="0"/>
                <a:t>n</a:t>
              </a:r>
              <a:r>
                <a:rPr lang="en-BE" sz="2000" dirty="0"/>
                <a:t>a</a:t>
              </a:r>
              <a:r>
                <a:rPr lang="en-GB" sz="2000" dirty="0"/>
                <a:t>m</a:t>
              </a:r>
              <a:r>
                <a:rPr lang="en-BE" sz="2000" dirty="0"/>
                <a:t>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/>
            <p:cNvCxnSpPr>
              <a:cxnSpLocks/>
              <a:stCxn id="17" idx="1"/>
            </p:cNvCxnSpPr>
            <p:nvPr/>
          </p:nvCxnSpPr>
          <p:spPr>
            <a:xfrm flipH="1" flipV="1">
              <a:off x="-2837907" y="2523969"/>
              <a:ext cx="4586629" cy="4664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491464" y="4394304"/>
            <a:ext cx="1419516" cy="1220178"/>
            <a:chOff x="2762059" y="1989071"/>
            <a:chExt cx="1419516" cy="1220178"/>
          </a:xfrm>
        </p:grpSpPr>
        <p:sp>
          <p:nvSpPr>
            <p:cNvPr id="21" name="TextBox 20"/>
            <p:cNvSpPr txBox="1"/>
            <p:nvPr/>
          </p:nvSpPr>
          <p:spPr>
            <a:xfrm>
              <a:off x="2762059" y="2809139"/>
              <a:ext cx="141951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BE" sz="2000" dirty="0"/>
                <a:t>b</a:t>
              </a:r>
              <a:r>
                <a:rPr lang="en-GB" sz="2000" dirty="0"/>
                <a:t>u</a:t>
              </a:r>
              <a:r>
                <a:rPr lang="en-BE" sz="2000" dirty="0" err="1"/>
                <a:t>i</a:t>
              </a:r>
              <a:r>
                <a:rPr lang="en-GB" sz="2000" dirty="0"/>
                <a:t>l</a:t>
              </a:r>
              <a:r>
                <a:rPr lang="en-BE" sz="2000" dirty="0"/>
                <a:t>d </a:t>
              </a:r>
              <a:r>
                <a:rPr lang="en-GB" sz="2000" dirty="0"/>
                <a:t>t</a:t>
              </a:r>
              <a:r>
                <a:rPr lang="en-BE" sz="2000" dirty="0"/>
                <a:t>a</a:t>
              </a:r>
              <a:r>
                <a:rPr lang="en-GB" sz="2000" dirty="0"/>
                <a:t>r</a:t>
              </a:r>
              <a:r>
                <a:rPr lang="en-BE" sz="2000" dirty="0"/>
                <a:t>g</a:t>
              </a:r>
              <a:r>
                <a:rPr lang="en-GB" sz="2000" dirty="0"/>
                <a:t>e</a:t>
              </a:r>
              <a:r>
                <a:rPr lang="en-BE" sz="2000" dirty="0"/>
                <a:t>t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/>
            <p:cNvCxnSpPr>
              <a:cxnSpLocks/>
              <a:stCxn id="21" idx="0"/>
            </p:cNvCxnSpPr>
            <p:nvPr/>
          </p:nvCxnSpPr>
          <p:spPr>
            <a:xfrm flipV="1">
              <a:off x="3471817" y="1989071"/>
              <a:ext cx="583923" cy="8200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4785317" y="2044930"/>
            <a:ext cx="4152910" cy="707886"/>
            <a:chOff x="-11398" y="2829624"/>
            <a:chExt cx="4152910" cy="707886"/>
          </a:xfrm>
        </p:grpSpPr>
        <p:sp>
          <p:nvSpPr>
            <p:cNvPr id="26" name="TextBox 25"/>
            <p:cNvSpPr txBox="1"/>
            <p:nvPr/>
          </p:nvSpPr>
          <p:spPr>
            <a:xfrm>
              <a:off x="2562234" y="2829624"/>
              <a:ext cx="1579278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BE" sz="2000" dirty="0"/>
                <a:t>p</a:t>
              </a:r>
              <a:r>
                <a:rPr lang="en-GB" sz="2000" dirty="0"/>
                <a:t>r</a:t>
              </a:r>
              <a:r>
                <a:rPr lang="en-BE" sz="2000" dirty="0"/>
                <a:t>o</a:t>
              </a:r>
              <a:r>
                <a:rPr lang="en-GB" sz="2000" dirty="0"/>
                <a:t>g</a:t>
              </a:r>
              <a:r>
                <a:rPr lang="en-BE" sz="2000" dirty="0"/>
                <a:t>r</a:t>
              </a:r>
              <a:r>
                <a:rPr lang="en-GB" sz="2000" dirty="0"/>
                <a:t>a</a:t>
              </a:r>
              <a:r>
                <a:rPr lang="en-BE" sz="2000" dirty="0"/>
                <a:t>m</a:t>
              </a:r>
              <a:r>
                <a:rPr lang="en-GB" sz="2000" dirty="0"/>
                <a:t>m</a:t>
              </a:r>
              <a:r>
                <a:rPr lang="en-BE" sz="2000" dirty="0" err="1"/>
                <a:t>i</a:t>
              </a:r>
              <a:r>
                <a:rPr lang="en-GB" sz="2000" dirty="0"/>
                <a:t>n</a:t>
              </a:r>
              <a:r>
                <a:rPr lang="en-BE" sz="2000" dirty="0"/>
                <a:t>g </a:t>
              </a:r>
              <a:r>
                <a:rPr lang="en-GB" sz="2000" dirty="0"/>
                <a:t>l</a:t>
              </a:r>
              <a:r>
                <a:rPr lang="en-BE" sz="2000" dirty="0"/>
                <a:t>a</a:t>
              </a:r>
              <a:r>
                <a:rPr lang="en-GB" sz="2000" dirty="0"/>
                <a:t>n</a:t>
              </a:r>
              <a:r>
                <a:rPr lang="en-BE" sz="2000" dirty="0"/>
                <a:t>g</a:t>
              </a:r>
              <a:r>
                <a:rPr lang="en-GB" sz="2000" dirty="0"/>
                <a:t>u</a:t>
              </a:r>
              <a:r>
                <a:rPr lang="en-BE" sz="2000" dirty="0"/>
                <a:t>a</a:t>
              </a:r>
              <a:r>
                <a:rPr lang="en-GB" sz="2000" dirty="0"/>
                <a:t>g</a:t>
              </a:r>
              <a:r>
                <a:rPr lang="en-BE" sz="2000" dirty="0"/>
                <a:t>e(s)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7" name="Straight Arrow Connector 26"/>
            <p:cNvCxnSpPr>
              <a:cxnSpLocks/>
              <a:stCxn id="26" idx="1"/>
            </p:cNvCxnSpPr>
            <p:nvPr/>
          </p:nvCxnSpPr>
          <p:spPr>
            <a:xfrm flipH="1">
              <a:off x="-11398" y="3183567"/>
              <a:ext cx="2573632" cy="795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754E5B1-BD8A-4717-88CF-63AA28AED985}"/>
              </a:ext>
            </a:extLst>
          </p:cNvPr>
          <p:cNvGrpSpPr/>
          <p:nvPr/>
        </p:nvGrpSpPr>
        <p:grpSpPr>
          <a:xfrm>
            <a:off x="5150840" y="2862896"/>
            <a:ext cx="3787387" cy="1156679"/>
            <a:chOff x="5150840" y="2904578"/>
            <a:chExt cx="3787387" cy="1156679"/>
          </a:xfrm>
        </p:grpSpPr>
        <p:grpSp>
          <p:nvGrpSpPr>
            <p:cNvPr id="30" name="Group 29"/>
            <p:cNvGrpSpPr/>
            <p:nvPr/>
          </p:nvGrpSpPr>
          <p:grpSpPr>
            <a:xfrm>
              <a:off x="5154432" y="3253847"/>
              <a:ext cx="3783795" cy="807410"/>
              <a:chOff x="-64318" y="2611437"/>
              <a:chExt cx="3783795" cy="943471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438606" y="2847023"/>
                <a:ext cx="1280871" cy="70788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BE" sz="2000" dirty="0"/>
                  <a:t>l</a:t>
                </a:r>
                <a:r>
                  <a:rPr lang="en-GB" sz="2000" dirty="0"/>
                  <a:t>a</a:t>
                </a:r>
                <a:r>
                  <a:rPr lang="en-BE" sz="2000" dirty="0"/>
                  <a:t>n</a:t>
                </a:r>
                <a:r>
                  <a:rPr lang="en-GB" sz="2000" dirty="0"/>
                  <a:t>g</a:t>
                </a:r>
                <a:r>
                  <a:rPr lang="en-BE" sz="2000" dirty="0"/>
                  <a:t>u</a:t>
                </a:r>
                <a:r>
                  <a:rPr lang="en-GB" sz="2000" dirty="0"/>
                  <a:t>a</a:t>
                </a:r>
                <a:r>
                  <a:rPr lang="en-BE" sz="2000" dirty="0"/>
                  <a:t>g</a:t>
                </a:r>
                <a:r>
                  <a:rPr lang="en-GB" sz="2000" dirty="0"/>
                  <a:t>e</a:t>
                </a:r>
                <a:r>
                  <a:rPr lang="en-BE" sz="2000" dirty="0"/>
                  <a:t> </a:t>
                </a:r>
                <a:r>
                  <a:rPr lang="en-GB" sz="2000" dirty="0"/>
                  <a:t>p</a:t>
                </a:r>
                <a:r>
                  <a:rPr lang="en-BE" sz="2000" dirty="0"/>
                  <a:t>r</a:t>
                </a:r>
                <a:r>
                  <a:rPr lang="en-GB" sz="2000" dirty="0"/>
                  <a:t>o</a:t>
                </a:r>
                <a:r>
                  <a:rPr lang="en-BE" sz="2000" dirty="0"/>
                  <a:t>p</a:t>
                </a:r>
                <a:r>
                  <a:rPr lang="en-GB" sz="2000" dirty="0"/>
                  <a:t>e</a:t>
                </a:r>
                <a:r>
                  <a:rPr lang="en-BE" sz="2000" dirty="0"/>
                  <a:t>r</a:t>
                </a:r>
                <a:r>
                  <a:rPr lang="en-GB" sz="2000" dirty="0"/>
                  <a:t>t</a:t>
                </a:r>
                <a:r>
                  <a:rPr lang="en-BE" sz="2000" dirty="0" err="1"/>
                  <a:t>i</a:t>
                </a:r>
                <a:r>
                  <a:rPr lang="en-GB" sz="2000" dirty="0"/>
                  <a:t>e</a:t>
                </a:r>
                <a:r>
                  <a:rPr lang="en-BE" sz="2000" dirty="0"/>
                  <a:t>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2" name="Straight Arrow Connector 31"/>
              <p:cNvCxnSpPr>
                <a:cxnSpLocks/>
                <a:stCxn id="31" idx="1"/>
              </p:cNvCxnSpPr>
              <p:nvPr/>
            </p:nvCxnSpPr>
            <p:spPr>
              <a:xfrm flipH="1" flipV="1">
                <a:off x="-64318" y="2611437"/>
                <a:ext cx="2502924" cy="6122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ED5A949E-F95C-4672-92C6-B64B3BA2111B}"/>
                </a:ext>
              </a:extLst>
            </p:cNvPr>
            <p:cNvSpPr/>
            <p:nvPr/>
          </p:nvSpPr>
          <p:spPr>
            <a:xfrm>
              <a:off x="5150840" y="2904578"/>
              <a:ext cx="127220" cy="707886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83A580-025D-4FD7-9C69-1657176DFDFD}"/>
              </a:ext>
            </a:extLst>
          </p:cNvPr>
          <p:cNvGrpSpPr/>
          <p:nvPr/>
        </p:nvGrpSpPr>
        <p:grpSpPr>
          <a:xfrm>
            <a:off x="4827240" y="4128870"/>
            <a:ext cx="4110987" cy="801373"/>
            <a:chOff x="5236450" y="2685349"/>
            <a:chExt cx="4110987" cy="80137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2889D15-DE35-4360-B7A7-1B787A5DC7BD}"/>
                </a:ext>
              </a:extLst>
            </p:cNvPr>
            <p:cNvGrpSpPr/>
            <p:nvPr/>
          </p:nvGrpSpPr>
          <p:grpSpPr>
            <a:xfrm>
              <a:off x="5307157" y="2778837"/>
              <a:ext cx="4040280" cy="707885"/>
              <a:chOff x="88407" y="2056382"/>
              <a:chExt cx="4040280" cy="827176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D94E88-15EF-4724-AE5D-4778E32EB747}"/>
                  </a:ext>
                </a:extLst>
              </p:cNvPr>
              <p:cNvSpPr txBox="1"/>
              <p:nvPr/>
            </p:nvSpPr>
            <p:spPr>
              <a:xfrm>
                <a:off x="2401453" y="2056382"/>
                <a:ext cx="1727234" cy="8271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</a:t>
                </a:r>
                <a:r>
                  <a:rPr lang="en-BE" sz="2000" dirty="0"/>
                  <a:t>o</a:t>
                </a:r>
                <a:r>
                  <a:rPr lang="en-GB" sz="2000" dirty="0"/>
                  <a:t>u</a:t>
                </a:r>
                <a:r>
                  <a:rPr lang="en-BE" sz="2000" dirty="0"/>
                  <a:t>r</a:t>
                </a:r>
                <a:r>
                  <a:rPr lang="en-GB" sz="2000" dirty="0"/>
                  <a:t>c</a:t>
                </a:r>
                <a:r>
                  <a:rPr lang="en-BE" sz="2000" dirty="0"/>
                  <a:t>e </a:t>
                </a:r>
                <a:r>
                  <a:rPr lang="en-GB" sz="2000" dirty="0"/>
                  <a:t>d</a:t>
                </a:r>
                <a:r>
                  <a:rPr lang="en-BE" sz="2000" dirty="0"/>
                  <a:t>e</a:t>
                </a:r>
                <a:r>
                  <a:rPr lang="en-GB" sz="2000" dirty="0"/>
                  <a:t>p</a:t>
                </a:r>
                <a:r>
                  <a:rPr lang="en-BE" sz="2000" dirty="0"/>
                  <a:t>e</a:t>
                </a:r>
                <a:r>
                  <a:rPr lang="en-GB" sz="2000" dirty="0"/>
                  <a:t>n</a:t>
                </a:r>
                <a:r>
                  <a:rPr lang="en-BE" sz="2000" dirty="0"/>
                  <a:t>d</a:t>
                </a:r>
                <a:r>
                  <a:rPr lang="en-GB" sz="2000" dirty="0"/>
                  <a:t>e</a:t>
                </a:r>
                <a:r>
                  <a:rPr lang="en-BE" sz="2000" dirty="0"/>
                  <a:t>n</a:t>
                </a:r>
                <a:r>
                  <a:rPr lang="en-GB" sz="2000" dirty="0"/>
                  <a:t>c</a:t>
                </a:r>
                <a:r>
                  <a:rPr lang="en-BE" sz="2000" dirty="0" err="1"/>
                  <a:t>ies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AD842C1-0291-46C2-9BF3-08C08F23CB95}"/>
                  </a:ext>
                </a:extLst>
              </p:cNvPr>
              <p:cNvCxnSpPr>
                <a:cxnSpLocks/>
                <a:stCxn id="44" idx="1"/>
                <a:endCxn id="43" idx="1"/>
              </p:cNvCxnSpPr>
              <p:nvPr/>
            </p:nvCxnSpPr>
            <p:spPr>
              <a:xfrm flipH="1" flipV="1">
                <a:off x="88407" y="2180906"/>
                <a:ext cx="2313046" cy="2890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7E47BDC3-AE65-473F-A642-EAFF19A8761F}"/>
                </a:ext>
              </a:extLst>
            </p:cNvPr>
            <p:cNvSpPr/>
            <p:nvPr/>
          </p:nvSpPr>
          <p:spPr>
            <a:xfrm>
              <a:off x="5236450" y="2685349"/>
              <a:ext cx="70707" cy="400110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3485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BE" dirty="0"/>
              <a:t>C</a:t>
            </a:r>
            <a:r>
              <a:rPr lang="en-GB" dirty="0"/>
              <a:t>M</a:t>
            </a:r>
            <a:r>
              <a:rPr lang="en-US" dirty="0" err="1"/>
              <a:t>ake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BE" dirty="0"/>
              <a:t>Generate build</a:t>
            </a:r>
            <a:r>
              <a:rPr lang="en-US" dirty="0"/>
              <a:t> </a:t>
            </a:r>
            <a:r>
              <a:rPr lang="en-BE" dirty="0"/>
              <a:t>files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r>
              <a:rPr lang="en-BE" dirty="0" err="1"/>
              <a:t>Builid</a:t>
            </a:r>
            <a:r>
              <a:rPr lang="en-BE" dirty="0"/>
              <a:t> software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execute targets with modified dependencies</a:t>
            </a:r>
          </a:p>
          <a:p>
            <a:pPr lvl="1"/>
            <a:r>
              <a:rPr lang="en-US" dirty="0"/>
              <a:t>dependency tracking</a:t>
            </a:r>
          </a:p>
          <a:p>
            <a:pPr lvl="1"/>
            <a:r>
              <a:rPr lang="en-US" dirty="0"/>
              <a:t>saves lots of time on large projects</a:t>
            </a:r>
          </a:p>
          <a:p>
            <a:r>
              <a:rPr lang="en-US" dirty="0"/>
              <a:t>Clean all build artifacts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5341" y="3631962"/>
            <a:ext cx="569899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-–build build/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5341" y="6162269"/>
            <a:ext cx="569899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cmake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--build build/  --target clean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3FB82-1076-47E4-B89E-63C6670093CF}"/>
              </a:ext>
            </a:extLst>
          </p:cNvPr>
          <p:cNvSpPr txBox="1"/>
          <p:nvPr/>
        </p:nvSpPr>
        <p:spPr>
          <a:xfrm>
            <a:off x="1445340" y="2347360"/>
            <a:ext cx="569899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</a:t>
            </a:r>
            <a:r>
              <a:rPr lang="en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  -S .</a:t>
            </a:r>
            <a:r>
              <a:rPr lang="en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-B build/</a:t>
            </a:r>
          </a:p>
        </p:txBody>
      </p:sp>
    </p:spTree>
    <p:extLst>
      <p:ext uri="{BB962C8B-B14F-4D97-AF65-F5344CB8AC3E}">
        <p14:creationId xmlns:p14="http://schemas.microsoft.com/office/powerpoint/2010/main" val="153532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</a:t>
            </a:r>
          </a:p>
          <a:p>
            <a:pPr lvl="1"/>
            <a:r>
              <a:rPr lang="en-US" dirty="0"/>
              <a:t>building software using make </a:t>
            </a:r>
          </a:p>
          <a:p>
            <a:pPr lvl="1"/>
            <a:r>
              <a:rPr lang="en-US" dirty="0"/>
              <a:t>building software using </a:t>
            </a:r>
            <a:r>
              <a:rPr lang="en-BE" dirty="0"/>
              <a:t>C</a:t>
            </a:r>
            <a:r>
              <a:rPr lang="en-GB" dirty="0"/>
              <a:t>M</a:t>
            </a:r>
            <a:r>
              <a:rPr lang="en-US" dirty="0" err="1"/>
              <a:t>ake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691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  <a:endParaRPr lang="en-US" sz="1600" dirty="0">
              <a:hlinkClick r:id="rId2"/>
            </a:endParaRPr>
          </a:p>
          <a:p>
            <a:r>
              <a:rPr lang="en-US" sz="1600" dirty="0">
                <a:hlinkClick r:id="rId2"/>
              </a:rPr>
              <a:t>https://github.com/gjbex/Scientific-C-plus-plus/tree/master/source-code/Modularity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117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for preconditions</a:t>
            </a:r>
          </a:p>
          <a:p>
            <a:pPr lvl="1"/>
            <a:r>
              <a:rPr lang="en-US" dirty="0"/>
              <a:t>valid arguments for functions?</a:t>
            </a:r>
          </a:p>
          <a:p>
            <a:r>
              <a:rPr lang="en-US" dirty="0"/>
              <a:t>Invariants</a:t>
            </a:r>
          </a:p>
          <a:p>
            <a:pPr lvl="1"/>
            <a:r>
              <a:rPr lang="en-US" dirty="0"/>
              <a:t>valid state of object?</a:t>
            </a:r>
          </a:p>
          <a:p>
            <a:r>
              <a:rPr lang="en-US" dirty="0"/>
              <a:t>Check for runtime problems</a:t>
            </a:r>
          </a:p>
          <a:p>
            <a:pPr lvl="1"/>
            <a:r>
              <a:rPr lang="en-US" dirty="0"/>
              <a:t>e.g., opening files</a:t>
            </a:r>
          </a:p>
          <a:p>
            <a:r>
              <a:rPr lang="en-US" dirty="0"/>
              <a:t>Signal problems</a:t>
            </a:r>
          </a:p>
          <a:p>
            <a:pPr lvl="1"/>
            <a:r>
              <a:rPr lang="en-US" dirty="0"/>
              <a:t>don't fail silently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79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61187" y="5653743"/>
            <a:ext cx="286982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Throw exceptions!</a:t>
            </a:r>
          </a:p>
        </p:txBody>
      </p:sp>
    </p:spTree>
    <p:extLst>
      <p:ext uri="{BB962C8B-B14F-4D97-AF65-F5344CB8AC3E}">
        <p14:creationId xmlns:p14="http://schemas.microsoft.com/office/powerpoint/2010/main" val="134611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 exception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80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680704" y="1894981"/>
            <a:ext cx="6971685" cy="40318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exception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int fac(int n)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if (n &lt; 0)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string msg("fac argument ");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msg += to_string(n) + ", must be positive";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throw invalid_argument(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msg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} else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int result = 1;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for (int i = 2; i &lt;= n; i++)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    result *= i;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    return result;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824751" y="2108763"/>
            <a:ext cx="2989006" cy="929405"/>
            <a:chOff x="1995658" y="2809139"/>
            <a:chExt cx="2989006" cy="929405"/>
          </a:xfrm>
        </p:grpSpPr>
        <p:sp>
          <p:nvSpPr>
            <p:cNvPr id="6" name="TextBox 5"/>
            <p:cNvSpPr txBox="1"/>
            <p:nvPr/>
          </p:nvSpPr>
          <p:spPr>
            <a:xfrm>
              <a:off x="2762059" y="2809139"/>
              <a:ext cx="222260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check precondition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2"/>
            </p:cNvCxnSpPr>
            <p:nvPr/>
          </p:nvCxnSpPr>
          <p:spPr>
            <a:xfrm flipH="1">
              <a:off x="1995658" y="3209249"/>
              <a:ext cx="1877704" cy="5292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166546" y="3910918"/>
            <a:ext cx="3716902" cy="608652"/>
            <a:chOff x="1267762" y="2600597"/>
            <a:chExt cx="3716902" cy="608652"/>
          </a:xfrm>
        </p:grpSpPr>
        <p:sp>
          <p:nvSpPr>
            <p:cNvPr id="11" name="TextBox 10"/>
            <p:cNvSpPr txBox="1"/>
            <p:nvPr/>
          </p:nvSpPr>
          <p:spPr>
            <a:xfrm>
              <a:off x="2762059" y="2809139"/>
              <a:ext cx="222260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standard exception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 flipV="1">
              <a:off x="1267762" y="2600597"/>
              <a:ext cx="1494297" cy="4085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1228" y="3038168"/>
            <a:ext cx="2502978" cy="707886"/>
            <a:chOff x="181228" y="3038168"/>
            <a:chExt cx="2502978" cy="707886"/>
          </a:xfrm>
        </p:grpSpPr>
        <p:sp>
          <p:nvSpPr>
            <p:cNvPr id="16" name="TextBox 15"/>
            <p:cNvSpPr txBox="1"/>
            <p:nvPr/>
          </p:nvSpPr>
          <p:spPr>
            <a:xfrm>
              <a:off x="181228" y="3038168"/>
              <a:ext cx="1785224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returns control</a:t>
              </a:r>
              <a:br>
                <a:rPr lang="en-US" sz="2000" dirty="0"/>
              </a:br>
              <a:r>
                <a:rPr lang="en-US" sz="2000" dirty="0"/>
                <a:t>to caller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7" name="Straight Arrow Connector 16"/>
            <p:cNvCxnSpPr>
              <a:stCxn id="16" idx="3"/>
            </p:cNvCxnSpPr>
            <p:nvPr/>
          </p:nvCxnSpPr>
          <p:spPr>
            <a:xfrm>
              <a:off x="1966452" y="3392111"/>
              <a:ext cx="717754" cy="3539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175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 exception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28650" y="4161376"/>
            <a:ext cx="7886700" cy="2015587"/>
          </a:xfrm>
        </p:spPr>
        <p:txBody>
          <a:bodyPr/>
          <a:lstStyle/>
          <a:p>
            <a:r>
              <a:rPr lang="en-US" dirty="0"/>
              <a:t>Multiple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dirty="0"/>
              <a:t> phrase are possible</a:t>
            </a:r>
          </a:p>
          <a:p>
            <a:r>
              <a:rPr lang="en-US" dirty="0"/>
              <a:t>Exception can be </a:t>
            </a:r>
            <a:r>
              <a:rPr lang="en-US" dirty="0" err="1"/>
              <a:t>rethrown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throw;</a:t>
            </a:r>
          </a:p>
          <a:p>
            <a:r>
              <a:rPr lang="en-US" dirty="0"/>
              <a:t>Recover from exception if possible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81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680704" y="1894981"/>
            <a:ext cx="6971685" cy="20621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cout &lt;&lt; fac(n)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(invalid</a:t>
            </a:r>
            <a:r>
              <a:rPr lang="nn-NO" sz="1600">
                <a:latin typeface="Courier New" pitchFamily="49" charset="0"/>
                <a:cs typeface="Courier New" pitchFamily="49" charset="0"/>
              </a:rPr>
              <a:t>_argument&amp; 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e)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cerr &lt;&lt; "# error: " &lt;&lt; e.what()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exit(1);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134159" y="3202996"/>
            <a:ext cx="3716902" cy="608652"/>
            <a:chOff x="1267762" y="2600597"/>
            <a:chExt cx="3716902" cy="608652"/>
          </a:xfrm>
        </p:grpSpPr>
        <p:sp>
          <p:nvSpPr>
            <p:cNvPr id="6" name="TextBox 5"/>
            <p:cNvSpPr txBox="1"/>
            <p:nvPr/>
          </p:nvSpPr>
          <p:spPr>
            <a:xfrm>
              <a:off x="2762059" y="2809139"/>
              <a:ext cx="2222605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deal with situation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1"/>
            </p:cNvCxnSpPr>
            <p:nvPr/>
          </p:nvCxnSpPr>
          <p:spPr>
            <a:xfrm flipH="1" flipV="1">
              <a:off x="1267762" y="2600597"/>
              <a:ext cx="1494297" cy="4085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3388131" y="1951992"/>
            <a:ext cx="5621604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Note: only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invalid_argument</a:t>
            </a:r>
            <a:r>
              <a:rPr lang="en-US" sz="2000" dirty="0"/>
              <a:t> exception caught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4496" y="2371511"/>
            <a:ext cx="1829774" cy="400110"/>
            <a:chOff x="2762059" y="1769112"/>
            <a:chExt cx="1829774" cy="400110"/>
          </a:xfrm>
        </p:grpSpPr>
        <p:sp>
          <p:nvSpPr>
            <p:cNvPr id="11" name="TextBox 10"/>
            <p:cNvSpPr txBox="1"/>
            <p:nvPr/>
          </p:nvSpPr>
          <p:spPr>
            <a:xfrm>
              <a:off x="2762059" y="1769112"/>
              <a:ext cx="1058862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execute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>
              <a:off x="3820921" y="1969167"/>
              <a:ext cx="7709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223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7CA0-E6CF-15C1-CA89-A719153F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versus unexpected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063F-6EE2-8D71-D7C6-770BB9CC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Expected: value or error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C726-ACD1-4452-C99E-B41F7CC4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82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1E1E8-3994-4654-B331-BB5DB322ADA8}"/>
              </a:ext>
            </a:extLst>
          </p:cNvPr>
          <p:cNvSpPr txBox="1"/>
          <p:nvPr/>
        </p:nvSpPr>
        <p:spPr>
          <a:xfrm>
            <a:off x="628650" y="2341794"/>
            <a:ext cx="8023739" cy="37856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fr-FR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expected</a:t>
            </a:r>
            <a:r>
              <a:rPr lang="fr-F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std::expected&lt;int, std::string&gt;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require_positive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(int n)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if (n &lt; 0)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std::unexpected("value should be positive")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n;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auto result = require_positive(n);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 (result)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compute(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result.value()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std::cerr &lt;&lt;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result.error()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&lt;&lt; '\n';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26544-F097-D921-1DA7-8CEFBF2DC684}"/>
              </a:ext>
            </a:extLst>
          </p:cNvPr>
          <p:cNvSpPr txBox="1"/>
          <p:nvPr/>
        </p:nvSpPr>
        <p:spPr>
          <a:xfrm>
            <a:off x="1797628" y="5894686"/>
            <a:ext cx="555940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Monadic approach: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and_then</a:t>
            </a:r>
            <a:r>
              <a:rPr lang="en-US" sz="2400" dirty="0"/>
              <a:t>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or_else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error handling is hard</a:t>
            </a:r>
          </a:p>
          <a:p>
            <a:pPr lvl="1"/>
            <a:r>
              <a:rPr lang="en-US" dirty="0"/>
              <a:t>handle error at right level</a:t>
            </a:r>
          </a:p>
          <a:p>
            <a:pPr lvl="1"/>
            <a:r>
              <a:rPr lang="en-US" dirty="0"/>
              <a:t>convey maximal information to user</a:t>
            </a:r>
          </a:p>
          <a:p>
            <a:r>
              <a:rPr lang="en-US" dirty="0"/>
              <a:t>Increases size of code base considerably</a:t>
            </a:r>
          </a:p>
          <a:p>
            <a:r>
              <a:rPr lang="en-US" dirty="0"/>
              <a:t>Think of corner cases</a:t>
            </a:r>
          </a:p>
          <a:p>
            <a:r>
              <a:rPr lang="en-US" dirty="0"/>
              <a:t>Requires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83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90917" y="5053781"/>
            <a:ext cx="361163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Do it right, or not at all!</a:t>
            </a:r>
          </a:p>
        </p:txBody>
      </p:sp>
    </p:spTree>
    <p:extLst>
      <p:ext uri="{BB962C8B-B14F-4D97-AF65-F5344CB8AC3E}">
        <p14:creationId xmlns:p14="http://schemas.microsoft.com/office/powerpoint/2010/main" val="397315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35457"/>
            <a:ext cx="7886700" cy="4351338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::exit(</a:t>
            </a:r>
            <a:r>
              <a:rPr lang="en-US" dirty="0"/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to convey exit status to shell</a:t>
            </a:r>
          </a:p>
          <a:p>
            <a:pPr lvl="1"/>
            <a:r>
              <a:rPr lang="en-US" dirty="0"/>
              <a:t>0: success</a:t>
            </a:r>
          </a:p>
          <a:p>
            <a:pPr lvl="1"/>
            <a:r>
              <a:rPr lang="en-US" dirty="0"/>
              <a:t>1-127: failure</a:t>
            </a:r>
          </a:p>
          <a:p>
            <a:r>
              <a:rPr lang="en-US" dirty="0"/>
              <a:t>Non-zero exit status</a:t>
            </a:r>
          </a:p>
          <a:p>
            <a:pPr lvl="1"/>
            <a:r>
              <a:rPr lang="en-US" dirty="0"/>
              <a:t>pick value per error condition, allows shell to do error handling</a:t>
            </a:r>
          </a:p>
          <a:p>
            <a:pPr lvl="1"/>
            <a:r>
              <a:rPr lang="en-US" dirty="0"/>
              <a:t>e.g., 1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missing argument, 2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wrong argument  type,</a:t>
            </a:r>
            <a:br>
              <a:rPr lang="en-US" dirty="0"/>
            </a:br>
            <a:r>
              <a:rPr lang="en-US" dirty="0"/>
              <a:t>         3 </a:t>
            </a:r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 wrong argument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84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1883" y="5260257"/>
            <a:ext cx="678425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fac.exe  -1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error: invalid argument value -1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echo  $?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2619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 dirty="0"/>
              <a:t>defining your own exceptions</a:t>
            </a:r>
          </a:p>
          <a:p>
            <a:r>
              <a:rPr lang="en-US" dirty="0"/>
              <a:t>Added</a:t>
            </a:r>
          </a:p>
          <a:p>
            <a:pPr lvl="1"/>
            <a:r>
              <a:rPr lang="en-US" dirty="0"/>
              <a:t>exit status for using in shell</a:t>
            </a:r>
          </a:p>
          <a:p>
            <a:pPr lvl="1"/>
            <a:r>
              <a:rPr lang="en-US" dirty="0"/>
              <a:t>Error handling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std::expected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A72C-5DC7-4014-AC42-C5F5AAAF9B79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867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https://github.com/gjbex/Scientific-C-plus-plus/tree/master/source-code/Classes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489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class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3482" y="1684174"/>
            <a:ext cx="6961853" cy="3053503"/>
            <a:chOff x="628650" y="1684174"/>
            <a:chExt cx="6961853" cy="3053503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690689"/>
              <a:ext cx="6961853" cy="304698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StaticParticle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private: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x_, y_, mass_;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StaticParticle(double x, double y,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      double mass) 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x_ {x}, y_ {y}, mass_ {mass} {};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x() const { return x_;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y() const { return y_;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mass() const {return mass_; }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dist(const StaticParticle&amp; other) const;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825276" y="1684174"/>
              <a:ext cx="176522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static_particle.h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78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Particles with velocity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28650" y="2418281"/>
            <a:ext cx="6961853" cy="4278094"/>
            <a:chOff x="628650" y="1690689"/>
            <a:chExt cx="6961853" cy="4278094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690689"/>
              <a:ext cx="6961853" cy="427809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Particle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private: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x_, y_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, v_x_, v_y_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, mass_;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Particle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(double x, double y,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double v_x, double v_y,</a:t>
              </a:r>
              <a:br>
                <a:rPr lang="nn-NO" sz="1600" dirty="0">
                  <a:latin typeface="Courier New" pitchFamily="49" charset="0"/>
                  <a:cs typeface="Courier New" pitchFamily="49" charset="0"/>
                </a:rPr>
              </a:b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double mass) 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x_ {x}, y_ {y},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v_x_ {v_x}, v_y_ {v_y},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mass_ {mass} {};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x() const { return x_;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y() const { return y_;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double v_x() const { return v_x_;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double v_y() const { return v_y_;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mass() const {return mass_; }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void move(double delta_t);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dist(const Particle&amp; other) const;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76095" y="1690689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88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568255" y="3200698"/>
            <a:ext cx="148467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red</a:t>
            </a:r>
            <a:r>
              <a:rPr lang="en-US" sz="2400" dirty="0"/>
              <a:t> = new</a:t>
            </a:r>
          </a:p>
        </p:txBody>
      </p:sp>
    </p:spTree>
    <p:extLst>
      <p:ext uri="{BB962C8B-B14F-4D97-AF65-F5344CB8AC3E}">
        <p14:creationId xmlns:p14="http://schemas.microsoft.com/office/powerpoint/2010/main" val="13105714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Copy/paste? Bad idea!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 to maintain</a:t>
            </a:r>
          </a:p>
          <a:p>
            <a:pPr lvl="1"/>
            <a:r>
              <a:rPr lang="en-US" dirty="0"/>
              <a:t>bug fixing in many versions</a:t>
            </a:r>
          </a:p>
          <a:p>
            <a:pPr lvl="1"/>
            <a:r>
              <a:rPr lang="en-US" dirty="0"/>
              <a:t>new functionality might break older code</a:t>
            </a:r>
          </a:p>
          <a:p>
            <a:r>
              <a:rPr lang="en-US" dirty="0"/>
              <a:t>Better: extend through inheritance</a:t>
            </a:r>
          </a:p>
          <a:p>
            <a:pPr lvl="1"/>
            <a:r>
              <a:rPr lang="en-US" dirty="0"/>
              <a:t>child can do what parent can</a:t>
            </a:r>
          </a:p>
          <a:p>
            <a:pPr lvl="1"/>
            <a:r>
              <a:rPr lang="en-US" dirty="0"/>
              <a:t>child can override parents behavior</a:t>
            </a:r>
          </a:p>
          <a:p>
            <a:pPr lvl="1"/>
            <a:r>
              <a:rPr lang="en-US" dirty="0"/>
              <a:t>child can do more than parent can</a:t>
            </a:r>
          </a:p>
          <a:p>
            <a:r>
              <a:rPr lang="en-US" dirty="0"/>
              <a:t>Terminology</a:t>
            </a:r>
          </a:p>
          <a:p>
            <a:pPr lvl="1"/>
            <a:r>
              <a:rPr lang="en-US" dirty="0"/>
              <a:t>parent class = base class</a:t>
            </a:r>
          </a:p>
          <a:p>
            <a:pPr lvl="1"/>
            <a:r>
              <a:rPr lang="en-US" dirty="0"/>
              <a:t>child class = derived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9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 from class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90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2418281"/>
            <a:ext cx="6961853" cy="3293209"/>
            <a:chOff x="628650" y="1690689"/>
            <a:chExt cx="6961853" cy="3293209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690689"/>
              <a:ext cx="6961853" cy="329320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Particle : public StaticParticle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private: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v_x_, v_y_;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public: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Particle(double x, double y,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double v_x, double v_y,</a:t>
              </a:r>
              <a:br>
                <a:rPr lang="nn-NO" sz="1600" dirty="0">
                  <a:latin typeface="Courier New" pitchFamily="49" charset="0"/>
                  <a:cs typeface="Courier New" pitchFamily="49" charset="0"/>
                </a:rPr>
              </a:b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     double mass) 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StaticParticle(x, y, mass),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    v_x_ {v_x}, v_y_ {v_y} {};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v_x() const { return v_x_;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v_y() const { return v_y_; 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void move(double delta_t);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76095" y="1690689"/>
              <a:ext cx="1114408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224880" y="1703889"/>
            <a:ext cx="2495269" cy="704696"/>
            <a:chOff x="1294767" y="2823085"/>
            <a:chExt cx="2495269" cy="704696"/>
          </a:xfrm>
        </p:grpSpPr>
        <p:sp>
          <p:nvSpPr>
            <p:cNvPr id="9" name="TextBox 8"/>
            <p:cNvSpPr txBox="1"/>
            <p:nvPr/>
          </p:nvSpPr>
          <p:spPr>
            <a:xfrm>
              <a:off x="2285917" y="2823085"/>
              <a:ext cx="1504119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parent class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>
              <a:off x="1294767" y="3023140"/>
              <a:ext cx="991150" cy="5046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2536723" y="1702733"/>
            <a:ext cx="2452647" cy="715548"/>
            <a:chOff x="564221" y="2790404"/>
            <a:chExt cx="2452647" cy="715548"/>
          </a:xfrm>
        </p:grpSpPr>
        <p:sp>
          <p:nvSpPr>
            <p:cNvPr id="15" name="TextBox 14"/>
            <p:cNvSpPr txBox="1"/>
            <p:nvPr/>
          </p:nvSpPr>
          <p:spPr>
            <a:xfrm>
              <a:off x="1748722" y="2790404"/>
              <a:ext cx="1268146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child class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>
              <a:stCxn id="15" idx="1"/>
            </p:cNvCxnSpPr>
            <p:nvPr/>
          </p:nvCxnSpPr>
          <p:spPr>
            <a:xfrm flipH="1">
              <a:off x="564221" y="2990459"/>
              <a:ext cx="1184501" cy="5154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4306529" y="2848707"/>
            <a:ext cx="4100052" cy="707886"/>
            <a:chOff x="116351" y="2823085"/>
            <a:chExt cx="4100052" cy="707886"/>
          </a:xfrm>
        </p:grpSpPr>
        <p:sp>
          <p:nvSpPr>
            <p:cNvPr id="22" name="TextBox 21"/>
            <p:cNvSpPr txBox="1"/>
            <p:nvPr/>
          </p:nvSpPr>
          <p:spPr>
            <a:xfrm>
              <a:off x="2285917" y="2823085"/>
              <a:ext cx="1930486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also has parent's attributes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2" idx="1"/>
            </p:cNvCxnSpPr>
            <p:nvPr/>
          </p:nvCxnSpPr>
          <p:spPr>
            <a:xfrm flipH="1" flipV="1">
              <a:off x="116351" y="3091204"/>
              <a:ext cx="2169566" cy="858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484945" y="3691529"/>
            <a:ext cx="2921636" cy="707886"/>
            <a:chOff x="868400" y="2823085"/>
            <a:chExt cx="2921636" cy="707886"/>
          </a:xfrm>
        </p:grpSpPr>
        <p:sp>
          <p:nvSpPr>
            <p:cNvPr id="27" name="TextBox 26"/>
            <p:cNvSpPr txBox="1"/>
            <p:nvPr/>
          </p:nvSpPr>
          <p:spPr>
            <a:xfrm>
              <a:off x="2285917" y="2823085"/>
              <a:ext cx="1504119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parent's constructor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Straight Arrow Connector 27"/>
            <p:cNvCxnSpPr>
              <a:stCxn id="27" idx="1"/>
            </p:cNvCxnSpPr>
            <p:nvPr/>
          </p:nvCxnSpPr>
          <p:spPr>
            <a:xfrm flipH="1">
              <a:off x="868400" y="3177028"/>
              <a:ext cx="1417517" cy="2096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190123" y="4534351"/>
            <a:ext cx="2212878" cy="707886"/>
            <a:chOff x="2003525" y="2823085"/>
            <a:chExt cx="2212878" cy="707886"/>
          </a:xfrm>
        </p:grpSpPr>
        <p:sp>
          <p:nvSpPr>
            <p:cNvPr id="31" name="TextBox 30"/>
            <p:cNvSpPr txBox="1"/>
            <p:nvPr/>
          </p:nvSpPr>
          <p:spPr>
            <a:xfrm>
              <a:off x="2285917" y="2823085"/>
              <a:ext cx="1930486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also has parent's methods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31" idx="1"/>
            </p:cNvCxnSpPr>
            <p:nvPr/>
          </p:nvCxnSpPr>
          <p:spPr>
            <a:xfrm flipH="1">
              <a:off x="2003525" y="3177028"/>
              <a:ext cx="2823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167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caveat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1907006"/>
            <a:ext cx="6961853" cy="1077218"/>
            <a:chOff x="628650" y="1690689"/>
            <a:chExt cx="6961853" cy="1077218"/>
          </a:xfrm>
        </p:grpSpPr>
        <p:sp>
          <p:nvSpPr>
            <p:cNvPr id="5" name="TextBox 4"/>
            <p:cNvSpPr txBox="1"/>
            <p:nvPr/>
          </p:nvSpPr>
          <p:spPr>
            <a:xfrm>
              <a:off x="628650" y="1690689"/>
              <a:ext cx="6961853" cy="10772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void Particle::move(double delta_t)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x_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+= v_x_*delta_t;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y_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+= v_y_*delta_t;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290147" y="1690689"/>
              <a:ext cx="1300356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particle.cpp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762864" y="2819747"/>
            <a:ext cx="4151649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Problem</a:t>
            </a:r>
            <a:r>
              <a:rPr lang="en-US" sz="2400"/>
              <a:t>: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x_</a:t>
            </a:r>
            <a:r>
              <a:rPr lang="en-US" sz="2400"/>
              <a:t> and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y_</a:t>
            </a:r>
            <a:r>
              <a:rPr lang="en-US" sz="2400"/>
              <a:t> </a:t>
            </a:r>
            <a:r>
              <a:rPr lang="en-US" sz="2400" dirty="0"/>
              <a:t>are private</a:t>
            </a:r>
            <a:br>
              <a:rPr lang="en-US" sz="2400" dirty="0"/>
            </a:br>
            <a:r>
              <a:rPr lang="en-US" sz="2400" dirty="0"/>
              <a:t>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StaticParticle</a:t>
            </a:r>
            <a:r>
              <a:rPr lang="en-US" sz="2400" dirty="0"/>
              <a:t>!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28650" y="4060266"/>
            <a:ext cx="6961853" cy="1323439"/>
            <a:chOff x="628650" y="1690689"/>
            <a:chExt cx="6961853" cy="1323439"/>
          </a:xfrm>
        </p:grpSpPr>
        <p:sp>
          <p:nvSpPr>
            <p:cNvPr id="9" name="TextBox 8"/>
            <p:cNvSpPr txBox="1"/>
            <p:nvPr/>
          </p:nvSpPr>
          <p:spPr>
            <a:xfrm>
              <a:off x="628650" y="1690689"/>
              <a:ext cx="6961853" cy="13234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class StaticParticle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protected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    double x_, y_, mass_;</a:t>
              </a:r>
            </a:p>
            <a:p>
              <a:r>
                <a:rPr lang="fr-FR" sz="1600" dirty="0">
                  <a:latin typeface="Courier New" pitchFamily="49" charset="0"/>
                  <a:cs typeface="Courier New" pitchFamily="49" charset="0"/>
                </a:rPr>
                <a:t>    …</a:t>
              </a:r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};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825276" y="1701758"/>
              <a:ext cx="176522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static_particle.h</a:t>
              </a:r>
              <a:endParaRPr lang="en-US" sz="1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97395" y="4945627"/>
            <a:ext cx="3165986" cy="1066969"/>
            <a:chOff x="1050417" y="2464002"/>
            <a:chExt cx="3165986" cy="1066969"/>
          </a:xfrm>
        </p:grpSpPr>
        <p:sp>
          <p:nvSpPr>
            <p:cNvPr id="12" name="TextBox 11"/>
            <p:cNvSpPr txBox="1"/>
            <p:nvPr/>
          </p:nvSpPr>
          <p:spPr>
            <a:xfrm>
              <a:off x="2285917" y="2823085"/>
              <a:ext cx="1930486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can be accessed</a:t>
              </a:r>
              <a:br>
                <a:rPr lang="en-US" sz="2000" dirty="0"/>
              </a:br>
              <a:r>
                <a:rPr lang="en-US" sz="2000" dirty="0"/>
                <a:t>by descendants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flipH="1" flipV="1">
              <a:off x="1050417" y="2464002"/>
              <a:ext cx="1235500" cy="7130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379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  <a:p>
            <a:pPr lvl="1"/>
            <a:r>
              <a:rPr lang="en-US" dirty="0"/>
              <a:t>attributes: read/modify</a:t>
            </a:r>
          </a:p>
          <a:p>
            <a:pPr lvl="1"/>
            <a:r>
              <a:rPr lang="en-US" dirty="0"/>
              <a:t>methods: call</a:t>
            </a:r>
          </a:p>
          <a:p>
            <a:r>
              <a:rPr lang="en-US" dirty="0"/>
              <a:t>Levels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: only class can access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: only class and descendants can access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/>
              <a:t>: everyone can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13263" y="5152103"/>
            <a:ext cx="411747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Be as paranoid as possible!</a:t>
            </a:r>
          </a:p>
        </p:txBody>
      </p:sp>
    </p:spTree>
    <p:extLst>
      <p:ext uri="{BB962C8B-B14F-4D97-AF65-F5344CB8AC3E}">
        <p14:creationId xmlns:p14="http://schemas.microsoft.com/office/powerpoint/2010/main" val="412741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child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28650" y="1458497"/>
            <a:ext cx="6033394" cy="5016758"/>
            <a:chOff x="628650" y="1690689"/>
            <a:chExt cx="6033394" cy="5016758"/>
          </a:xfrm>
        </p:grpSpPr>
        <p:sp>
          <p:nvSpPr>
            <p:cNvPr id="6" name="TextBox 5"/>
            <p:cNvSpPr txBox="1"/>
            <p:nvPr/>
          </p:nvSpPr>
          <p:spPr>
            <a:xfrm>
              <a:off x="628650" y="1690689"/>
              <a:ext cx="6033394" cy="501675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&lt;iostream&gt;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"particle.h"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using namespace std;</a:t>
              </a:r>
            </a:p>
            <a:p>
              <a:endParaRPr lang="nn-NO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int main(void)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StaticParticle p_s(0.0, 0.0, 1.0);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p_s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Particle p1(1.0, 0.0, 1.0, 0.5, 1.0);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p1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Particle p2(0.0, 1.0, 0.0, 0.5, 2.0);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p2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p1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const double delta_t = 0.1;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p1.move(delta_t);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p1 &lt;&lt; 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p1.dist(p_s)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cout &lt;&lt; p1.dist(p2) &lt;&lt; endl;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return 0;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33585" y="1690689"/>
              <a:ext cx="92845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main.cpp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219361" y="4923923"/>
            <a:ext cx="3528128" cy="1015663"/>
            <a:chOff x="1563257" y="2838808"/>
            <a:chExt cx="3528128" cy="1015663"/>
          </a:xfrm>
        </p:grpSpPr>
        <p:sp>
          <p:nvSpPr>
            <p:cNvPr id="9" name="TextBox 8"/>
            <p:cNvSpPr txBox="1"/>
            <p:nvPr/>
          </p:nvSpPr>
          <p:spPr>
            <a:xfrm>
              <a:off x="2658149" y="2838808"/>
              <a:ext cx="2433236" cy="10156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calling inherited</a:t>
              </a:r>
              <a:br>
                <a:rPr lang="en-US" sz="2000" dirty="0"/>
              </a:br>
              <a:r>
                <a:rPr lang="en-US" sz="2000" dirty="0"/>
                <a:t>method from</a:t>
              </a:r>
              <a:br>
                <a:rPr lang="en-US" sz="2000" dirty="0"/>
              </a:b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StaticParticle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>
              <a:off x="1563257" y="3346640"/>
              <a:ext cx="1094892" cy="200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932730" y="4007572"/>
            <a:ext cx="4814759" cy="1035090"/>
            <a:chOff x="276626" y="2823085"/>
            <a:chExt cx="4814759" cy="1035090"/>
          </a:xfrm>
        </p:grpSpPr>
        <p:sp>
          <p:nvSpPr>
            <p:cNvPr id="13" name="TextBox 12"/>
            <p:cNvSpPr txBox="1"/>
            <p:nvPr/>
          </p:nvSpPr>
          <p:spPr>
            <a:xfrm>
              <a:off x="2285916" y="2823085"/>
              <a:ext cx="2805469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only for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Particle</a:t>
              </a:r>
              <a:r>
                <a:rPr lang="en-US" sz="2000" dirty="0"/>
                <a:t>,</a:t>
              </a:r>
              <a:br>
                <a:rPr lang="en-US" sz="2000" dirty="0"/>
              </a:br>
              <a:r>
                <a:rPr lang="en-US" sz="2000" dirty="0"/>
                <a:t>not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StaticParticle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/>
            <p:cNvCxnSpPr>
              <a:stCxn id="13" idx="1"/>
            </p:cNvCxnSpPr>
            <p:nvPr/>
          </p:nvCxnSpPr>
          <p:spPr>
            <a:xfrm flipH="1">
              <a:off x="276626" y="3177028"/>
              <a:ext cx="2009290" cy="68114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184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overloading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94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8650" y="1894725"/>
            <a:ext cx="7592561" cy="2062103"/>
            <a:chOff x="628649" y="1690689"/>
            <a:chExt cx="7592561" cy="2062103"/>
          </a:xfrm>
        </p:grpSpPr>
        <p:sp>
          <p:nvSpPr>
            <p:cNvPr id="5" name="TextBox 4"/>
            <p:cNvSpPr txBox="1"/>
            <p:nvPr/>
          </p:nvSpPr>
          <p:spPr>
            <a:xfrm>
              <a:off x="628649" y="1690689"/>
              <a:ext cx="7592561" cy="20621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&lt;ostream&gt;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"static_particle.h"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  <a:p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std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ostream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&amp; 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operator&lt;&lt;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std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ostream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&amp; out,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                    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const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StaticParticle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&amp; p) {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return out &lt;&lt; "(" &lt;&lt;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p.x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() &lt;&lt; ", " &lt;&lt;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p.y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() &lt;&lt; ")"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       &lt;&lt; ", mass = " &lt;&lt;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p.mass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270035" y="1698053"/>
              <a:ext cx="195117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static_particle.cpp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28650" y="4125538"/>
            <a:ext cx="7592561" cy="2062103"/>
            <a:chOff x="628649" y="1690689"/>
            <a:chExt cx="7592561" cy="2062103"/>
          </a:xfrm>
        </p:grpSpPr>
        <p:sp>
          <p:nvSpPr>
            <p:cNvPr id="8" name="TextBox 7"/>
            <p:cNvSpPr txBox="1"/>
            <p:nvPr/>
          </p:nvSpPr>
          <p:spPr>
            <a:xfrm>
              <a:off x="628649" y="1690689"/>
              <a:ext cx="7592561" cy="20621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&lt;ostream&gt;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#include "particle.h"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  <a:p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std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ostream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&amp; 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operator&lt;&lt;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std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::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ostream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&amp; out,</a:t>
              </a:r>
              <a:br>
                <a:rPr lang="en-US" sz="1600" dirty="0">
                  <a:latin typeface="Courier New" pitchFamily="49" charset="0"/>
                  <a:cs typeface="Courier New" pitchFamily="49" charset="0"/>
                </a:rPr>
              </a:b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                    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const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Particle&amp; p) {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return out &lt;&lt; 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static_cast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StaticParticle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&gt;(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p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&lt;&lt; ", ("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               &lt;&lt;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p.v_x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() &lt;&lt; ", " &lt;&lt;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p.v_y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() &lt;&lt; ")";</a:t>
              </a: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20854" y="1690689"/>
              <a:ext cx="1300356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particle.cpp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15281" y="5654180"/>
            <a:ext cx="3045403" cy="1067296"/>
            <a:chOff x="1159177" y="4469693"/>
            <a:chExt cx="3045403" cy="1067296"/>
          </a:xfrm>
        </p:grpSpPr>
        <p:sp>
          <p:nvSpPr>
            <p:cNvPr id="11" name="TextBox 10"/>
            <p:cNvSpPr txBox="1"/>
            <p:nvPr/>
          </p:nvSpPr>
          <p:spPr>
            <a:xfrm>
              <a:off x="1399111" y="4829103"/>
              <a:ext cx="2805469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type cast, 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US" sz="2000" dirty="0"/>
                <a:t> is also</a:t>
              </a:r>
              <a:br>
                <a:rPr lang="en-US" sz="2000" dirty="0"/>
              </a:b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StaticParticle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 flipV="1">
              <a:off x="1159177" y="4469693"/>
              <a:ext cx="239934" cy="7133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833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classes, see</a:t>
            </a:r>
            <a:br>
              <a:rPr lang="en-US" dirty="0"/>
            </a:br>
            <a:r>
              <a:rPr lang="en-US" sz="1400" dirty="0">
                <a:hlinkClick r:id="rId2"/>
              </a:rPr>
              <a:t>https://github.com/gjbex/Scientific-C-plus-plus/tree/master/source-code/Classes/Quadrature</a:t>
            </a:r>
            <a:r>
              <a:rPr lang="en-US" sz="1400" dirty="0"/>
              <a:t> </a:t>
            </a:r>
            <a:endParaRPr lang="en-US" dirty="0"/>
          </a:p>
          <a:p>
            <a:pPr lvl="1"/>
            <a:r>
              <a:rPr lang="en-US" dirty="0"/>
              <a:t>virtual functions</a:t>
            </a:r>
          </a:p>
          <a:p>
            <a:r>
              <a:rPr lang="en-US" dirty="0"/>
              <a:t>Multiple inheritance/class hierarchy, see</a:t>
            </a:r>
            <a:br>
              <a:rPr lang="en-US" dirty="0"/>
            </a:br>
            <a:r>
              <a:rPr lang="en-US" sz="1600" dirty="0">
                <a:hlinkClick r:id="rId3"/>
              </a:rPr>
              <a:t>https://github.com/gjbex/Scientific-C-plus-plus/tree/master/source-code/Classes/Mixin</a:t>
            </a:r>
            <a:r>
              <a:rPr lang="en-US" sz="1600" dirty="0"/>
              <a:t> </a:t>
            </a:r>
            <a:endParaRPr lang="en-US" dirty="0"/>
          </a:p>
          <a:p>
            <a:r>
              <a:rPr lang="en-US" dirty="0"/>
              <a:t>Copy versus move, see</a:t>
            </a:r>
            <a:br>
              <a:rPr lang="en-US" dirty="0"/>
            </a:br>
            <a:r>
              <a:rPr lang="en-US" sz="1200" dirty="0">
                <a:hlinkClick r:id="rId4"/>
              </a:rPr>
              <a:t>https://github.com/gjbex/Scientific-C-plus-plus/tree/master/source-code/UserDefinedTypes/ObjectLifeCycle</a:t>
            </a:r>
            <a:r>
              <a:rPr lang="en-US" sz="1200" dirty="0"/>
              <a:t>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1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https://github.com/gjbex/Scientific-C-plus-plus/tree/master/source-code/Templates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542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templates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8707" y="1682819"/>
            <a:ext cx="4093293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swap_val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5931" y="2274020"/>
            <a:ext cx="4798141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swap_val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y)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{x};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399042" y="2942583"/>
            <a:ext cx="1682980" cy="979878"/>
            <a:chOff x="6457950" y="2819376"/>
            <a:chExt cx="1682980" cy="979878"/>
          </a:xfrm>
        </p:grpSpPr>
        <p:grpSp>
          <p:nvGrpSpPr>
            <p:cNvPr id="11" name="Group 10"/>
            <p:cNvGrpSpPr/>
            <p:nvPr/>
          </p:nvGrpSpPr>
          <p:grpSpPr>
            <a:xfrm>
              <a:off x="6457950" y="2819376"/>
              <a:ext cx="786581" cy="923330"/>
              <a:chOff x="393290" y="3303639"/>
              <a:chExt cx="786581" cy="92333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93290" y="3716594"/>
                <a:ext cx="786581" cy="43261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68350" y="3303639"/>
                <a:ext cx="66236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/>
                  <a:t>…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7244531" y="3091368"/>
              <a:ext cx="8963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C00000"/>
                  </a:solidFill>
                </a:rPr>
                <a:t>???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18125" y="4023943"/>
            <a:ext cx="6500197" cy="2214073"/>
            <a:chOff x="1060808" y="4080315"/>
            <a:chExt cx="6500197" cy="2214073"/>
          </a:xfrm>
        </p:grpSpPr>
        <p:sp>
          <p:nvSpPr>
            <p:cNvPr id="5" name="TextBox 4"/>
            <p:cNvSpPr txBox="1"/>
            <p:nvPr/>
          </p:nvSpPr>
          <p:spPr>
            <a:xfrm>
              <a:off x="1060808" y="4724728"/>
              <a:ext cx="6500197" cy="15696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template&lt;typename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void swap_val(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&amp; v1,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&amp; v2) {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nn-NO" sz="1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T</a:t>
              </a:r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tmp {v1};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v1 = v2;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    v2 = tmp;</a:t>
              </a:r>
            </a:p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365522" y="4080315"/>
              <a:ext cx="0" cy="55654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607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C56D-035D-4BF3-9473-C107A616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templates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F604D-9CFE-4E54-8FA3-2414415C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98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2B2A1-5D41-46B1-BA45-E89221572318}"/>
              </a:ext>
            </a:extLst>
          </p:cNvPr>
          <p:cNvSpPr txBox="1"/>
          <p:nvPr/>
        </p:nvSpPr>
        <p:spPr>
          <a:xfrm>
            <a:off x="839752" y="1833366"/>
            <a:ext cx="6500197" cy="32932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template&lt;typename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void swap_val(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&amp; v1,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&amp; v2)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nn-NO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 tmp {v1};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v1 = v2;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v2 = tmp;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double x {3.1};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double y {5.7{;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swap&lt;</a:t>
            </a:r>
            <a:r>
              <a:rPr lang="nn-NO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&gt;(x, y);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int m {3};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int n {5};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swap&lt;</a:t>
            </a:r>
            <a:r>
              <a:rPr lang="nn-NO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&gt;(m, n);</a:t>
            </a:r>
          </a:p>
        </p:txBody>
      </p:sp>
    </p:spTree>
    <p:extLst>
      <p:ext uri="{BB962C8B-B14F-4D97-AF65-F5344CB8AC3E}">
        <p14:creationId xmlns:p14="http://schemas.microsoft.com/office/powerpoint/2010/main" val="12804881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Variadic</a:t>
            </a:r>
            <a:r>
              <a:rPr lang="en-US" dirty="0"/>
              <a:t> templates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function with arbitrary number of 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99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29314" y="2833194"/>
            <a:ext cx="6787332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sum() { return 0.0; 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template&lt;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T,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... Tail&gt;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sum(T head, Tail... tail)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head + sum(tail...);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sum(1.2, 2.3, 3.4)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sum(1.2, 2.3, 3.4, 4.5)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837473" y="2375092"/>
            <a:ext cx="3846365" cy="646331"/>
            <a:chOff x="4837473" y="2375092"/>
            <a:chExt cx="3846365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7073717" y="2375092"/>
              <a:ext cx="1610121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base case:</a:t>
              </a:r>
              <a:br>
                <a:rPr lang="en-US" dirty="0"/>
              </a:br>
              <a:r>
                <a:rPr lang="en-US" dirty="0"/>
                <a:t>no arguments</a:t>
              </a:r>
            </a:p>
          </p:txBody>
        </p:sp>
        <p:cxnSp>
          <p:nvCxnSpPr>
            <p:cNvPr id="8" name="Straight Arrow Connector 7"/>
            <p:cNvCxnSpPr>
              <a:stCxn id="6" idx="1"/>
            </p:cNvCxnSpPr>
            <p:nvPr/>
          </p:nvCxnSpPr>
          <p:spPr>
            <a:xfrm flipH="1">
              <a:off x="4837473" y="2698258"/>
              <a:ext cx="2236244" cy="30058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083277" y="3456535"/>
            <a:ext cx="3600562" cy="923330"/>
            <a:chOff x="5083277" y="2375092"/>
            <a:chExt cx="3600562" cy="923330"/>
          </a:xfrm>
        </p:grpSpPr>
        <p:sp>
          <p:nvSpPr>
            <p:cNvPr id="11" name="TextBox 10"/>
            <p:cNvSpPr txBox="1"/>
            <p:nvPr/>
          </p:nvSpPr>
          <p:spPr>
            <a:xfrm>
              <a:off x="7073718" y="2375092"/>
              <a:ext cx="1610121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tail recursion:</a:t>
              </a:r>
              <a:br>
                <a:rPr lang="en-US" dirty="0"/>
              </a:br>
              <a:r>
                <a:rPr lang="en-US" dirty="0"/>
                <a:t>first element +</a:t>
              </a:r>
              <a:br>
                <a:rPr lang="en-US" dirty="0"/>
              </a:br>
              <a:r>
                <a:rPr lang="en-US" dirty="0"/>
                <a:t>function on tail</a:t>
              </a: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>
              <a:off x="5083277" y="2836757"/>
              <a:ext cx="1990441" cy="7074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155811" y="5353399"/>
            <a:ext cx="283237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Function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2000" dirty="0"/>
              <a:t> overloaded</a:t>
            </a:r>
          </a:p>
        </p:txBody>
      </p:sp>
    </p:spTree>
    <p:extLst>
      <p:ext uri="{BB962C8B-B14F-4D97-AF65-F5344CB8AC3E}">
        <p14:creationId xmlns:p14="http://schemas.microsoft.com/office/powerpoint/2010/main" val="92090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new name for type</a:t>
            </a:r>
          </a:p>
          <a:p>
            <a:pPr lvl="1"/>
            <a:r>
              <a:rPr lang="en-US" dirty="0"/>
              <a:t>more compact</a:t>
            </a:r>
          </a:p>
          <a:p>
            <a:pPr lvl="1"/>
            <a:r>
              <a:rPr lang="en-US" dirty="0"/>
              <a:t>easier to understand/maintain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8818" y="3226481"/>
            <a:ext cx="7219951" cy="3293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&lt;array&gt;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::array&lt;double, 3&gt;;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inline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(double x) { return x*x; }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distance(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p1,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p2)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{0.0};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p1.size();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(p1[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 - p2[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85594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8818" y="2380905"/>
            <a:ext cx="7219951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functional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integrate(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::function&lt;double(double)&gt;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f,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const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delta_t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const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(double t = 0.0; t &lt;=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t_max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t +=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delta_t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std::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t &lt;&lt; "," &lt;&lt; f(t) &lt;&lt; "\n";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6956" y="5013676"/>
            <a:ext cx="433894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Function as argument of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375" y="5807200"/>
            <a:ext cx="749570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What if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f(t, </a:t>
            </a:r>
            <a:r>
              <a:rPr lang="en-US" sz="28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2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800" i="1" dirty="0">
                <a:solidFill>
                  <a:srgbClr val="C00000"/>
                </a:solidFill>
              </a:rPr>
              <a:t>, how to use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integrate</a:t>
            </a:r>
            <a:r>
              <a:rPr lang="en-US" sz="2800" i="1" dirty="0">
                <a:solidFill>
                  <a:srgbClr val="C00000"/>
                </a:solidFill>
                <a:cs typeface="Courier New" panose="020703090202050204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3528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to create "family" of function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8818" y="2380905"/>
            <a:ext cx="7219951" cy="3293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class Pendulum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private: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_;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constexpr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pi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acos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(-1.0)};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public: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Pendulum(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double&amp;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: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_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} {};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double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operator()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double&amp; t)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cos(2.0*pi*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_*t);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Pendulum pendulum(0.5);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integrate(pendulum, 0.01, 1.0);</a:t>
            </a:r>
          </a:p>
        </p:txBody>
      </p:sp>
    </p:spTree>
    <p:extLst>
      <p:ext uri="{BB962C8B-B14F-4D97-AF65-F5344CB8AC3E}">
        <p14:creationId xmlns:p14="http://schemas.microsoft.com/office/powerpoint/2010/main" val="8561723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currying with bind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 function arguments to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8818" y="2380905"/>
            <a:ext cx="7219951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functional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pi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acos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(-1.0)};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pendulum_func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 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cos(2.0*pi*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*t);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::placeholders;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pendulum =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::bind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pendulum_func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_1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0.5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integrate(pendulum, 0.01, 1.0);</a:t>
            </a:r>
          </a:p>
        </p:txBody>
      </p:sp>
    </p:spTree>
    <p:extLst>
      <p:ext uri="{BB962C8B-B14F-4D97-AF65-F5344CB8AC3E}">
        <p14:creationId xmlns:p14="http://schemas.microsoft.com/office/powerpoint/2010/main" val="258621192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lambda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Anonymous function created at runtime: closures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18818" y="2380905"/>
            <a:ext cx="7423969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pi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acos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(-1.0)};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pendulum_func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double 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cos(2.0*pi*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*t);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{0.5};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integrate(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[=](double t)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pendulum_func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(t,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 },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0.01, 1.0);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300748" y="2788317"/>
            <a:ext cx="6668224" cy="1593899"/>
            <a:chOff x="1750141" y="3134957"/>
            <a:chExt cx="6668224" cy="1593899"/>
          </a:xfrm>
        </p:grpSpPr>
        <p:grpSp>
          <p:nvGrpSpPr>
            <p:cNvPr id="6" name="Group 5"/>
            <p:cNvGrpSpPr/>
            <p:nvPr/>
          </p:nvGrpSpPr>
          <p:grpSpPr>
            <a:xfrm>
              <a:off x="1750141" y="3134957"/>
              <a:ext cx="6668224" cy="1593899"/>
              <a:chOff x="2015614" y="2375092"/>
              <a:chExt cx="6668224" cy="1593899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7073717" y="2375092"/>
                <a:ext cx="1610121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capture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freq</a:t>
                </a:r>
                <a:br>
                  <a:rPr lang="en-US" dirty="0"/>
                </a:br>
                <a:r>
                  <a:rPr lang="en-US" dirty="0"/>
                  <a:t>by value</a:t>
                </a:r>
              </a:p>
            </p:txBody>
          </p:sp>
          <p:cxnSp>
            <p:nvCxnSpPr>
              <p:cNvPr id="8" name="Straight Arrow Connector 7"/>
              <p:cNvCxnSpPr>
                <a:stCxn id="7" idx="1"/>
              </p:cNvCxnSpPr>
              <p:nvPr/>
            </p:nvCxnSpPr>
            <p:spPr>
              <a:xfrm flipH="1">
                <a:off x="2015614" y="2698258"/>
                <a:ext cx="5058103" cy="12707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Arrow Connector 9"/>
            <p:cNvCxnSpPr>
              <a:stCxn id="7" idx="1"/>
            </p:cNvCxnSpPr>
            <p:nvPr/>
          </p:nvCxnSpPr>
          <p:spPr>
            <a:xfrm flipH="1">
              <a:off x="6518787" y="3458123"/>
              <a:ext cx="289457" cy="125510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698613" y="5243858"/>
            <a:ext cx="478919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[…]</a:t>
            </a:r>
            <a:r>
              <a:rPr lang="en-US" sz="2000" dirty="0"/>
              <a:t>: capture variables in body from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[=]</a:t>
            </a:r>
            <a:r>
              <a:rPr lang="en-US" sz="2000" dirty="0"/>
              <a:t>: by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[&amp;]</a:t>
            </a:r>
            <a:r>
              <a:rPr lang="en-US" sz="2000" dirty="0"/>
              <a:t>: by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sz="2000" dirty="0"/>
              <a:t>:    capture nothing</a:t>
            </a:r>
          </a:p>
        </p:txBody>
      </p:sp>
    </p:spTree>
    <p:extLst>
      <p:ext uri="{BB962C8B-B14F-4D97-AF65-F5344CB8AC3E}">
        <p14:creationId xmlns:p14="http://schemas.microsoft.com/office/powerpoint/2010/main" val="36040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for</a:t>
            </a:r>
          </a:p>
          <a:p>
            <a:pPr lvl="1"/>
            <a:r>
              <a:rPr lang="en-US" dirty="0"/>
              <a:t>generic programming</a:t>
            </a:r>
          </a:p>
          <a:p>
            <a:pPr lvl="1"/>
            <a:r>
              <a:rPr lang="en-US" dirty="0"/>
              <a:t>expressing concepts</a:t>
            </a:r>
          </a:p>
          <a:p>
            <a:r>
              <a:rPr lang="en-US" dirty="0"/>
              <a:t>Duck typing</a:t>
            </a:r>
          </a:p>
          <a:p>
            <a:r>
              <a:rPr lang="en-US" dirty="0"/>
              <a:t>Caveats</a:t>
            </a:r>
          </a:p>
          <a:p>
            <a:pPr lvl="1"/>
            <a:r>
              <a:rPr lang="en-US" dirty="0"/>
              <a:t>errors are caught late during compilation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 long &amp; cryptic error messages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 dirty="0"/>
              <a:t>Container templates, i.e., writing your own generic containers, see</a:t>
            </a:r>
            <a:br>
              <a:rPr lang="en-US" dirty="0"/>
            </a:br>
            <a:r>
              <a:rPr lang="en-US" sz="1400" dirty="0">
                <a:hlinkClick r:id="rId2"/>
              </a:rPr>
              <a:t>https://github.com/gjbex/Scientific-C-plus-plus/tree/master/source-code/Templates/Counter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>
                <a:hlinkClick r:id="rId3"/>
              </a:rPr>
              <a:t>https://github.com/gjbex/Scientific-C-plus-plus/tree/master/source-code/Templates/Grid</a:t>
            </a:r>
            <a:r>
              <a:rPr lang="en-US" sz="1400" dirty="0"/>
              <a:t> </a:t>
            </a:r>
            <a:endParaRPr lang="en-US" dirty="0"/>
          </a:p>
          <a:p>
            <a:r>
              <a:rPr lang="en-US" dirty="0"/>
              <a:t>Added</a:t>
            </a:r>
          </a:p>
          <a:p>
            <a:pPr lvl="1"/>
            <a:r>
              <a:rPr lang="en-US" dirty="0"/>
              <a:t>Currying</a:t>
            </a:r>
          </a:p>
          <a:p>
            <a:pPr lvl="1"/>
            <a:r>
              <a:rPr lang="en-US" dirty="0"/>
              <a:t>Lambda functions</a:t>
            </a:r>
          </a:p>
          <a:p>
            <a:r>
              <a:rPr lang="en-US" dirty="0"/>
              <a:t>Extra</a:t>
            </a:r>
          </a:p>
          <a:p>
            <a:pPr lvl="1"/>
            <a:r>
              <a:rPr lang="en-US" dirty="0"/>
              <a:t>Duck typing, see</a:t>
            </a:r>
            <a:br>
              <a:rPr lang="en-US" dirty="0"/>
            </a:br>
            <a:r>
              <a:rPr lang="en-US" sz="1400" dirty="0">
                <a:hlinkClick r:id="rId4"/>
              </a:rPr>
              <a:t>https://github.com/gjbex/Scientific-C-plus-plus/tree/master/source-code/Templates/DuckTyping</a:t>
            </a:r>
            <a:r>
              <a:rPr lang="en-US" sz="1400" dirty="0"/>
              <a:t> 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&amp; regular expressions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7,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https://github.com/gjbex/Scientific-C-plus-plus/tree/master/source-code/Regexes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176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Strings: sequences of characters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8650" y="2410408"/>
            <a:ext cx="6617724" cy="40318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{"hello"};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+= " world!";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str.substr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(6, 5)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("w");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toupper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str.replace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(0, 1, "H");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while ((pos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("o", pos)) != string::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"found at "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str.insert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(6, "Beautiful ");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784256" y="3346200"/>
            <a:ext cx="3178823" cy="369332"/>
            <a:chOff x="6184490" y="365126"/>
            <a:chExt cx="3178823" cy="369332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6184490" y="549792"/>
              <a:ext cx="727587" cy="9832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049729" y="365126"/>
              <a:ext cx="231358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world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84256" y="4339636"/>
            <a:ext cx="3178823" cy="369332"/>
            <a:chOff x="6184490" y="365126"/>
            <a:chExt cx="3178823" cy="369332"/>
          </a:xfrm>
        </p:grpSpPr>
        <p:cxnSp>
          <p:nvCxnSpPr>
            <p:cNvPr id="23" name="Straight Arrow Connector 22"/>
            <p:cNvCxnSpPr/>
            <p:nvPr/>
          </p:nvCxnSpPr>
          <p:spPr>
            <a:xfrm flipV="1">
              <a:off x="6184490" y="549792"/>
              <a:ext cx="727587" cy="9832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49729" y="365126"/>
              <a:ext cx="231358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Hello World!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774286" y="5169938"/>
            <a:ext cx="3188793" cy="646331"/>
            <a:chOff x="6184490" y="428734"/>
            <a:chExt cx="3188793" cy="646331"/>
          </a:xfrm>
        </p:grpSpPr>
        <p:cxnSp>
          <p:nvCxnSpPr>
            <p:cNvPr id="26" name="Straight Arrow Connector 25"/>
            <p:cNvCxnSpPr/>
            <p:nvPr/>
          </p:nvCxnSpPr>
          <p:spPr>
            <a:xfrm flipV="1">
              <a:off x="6184490" y="549792"/>
              <a:ext cx="727587" cy="9832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7049729" y="428734"/>
              <a:ext cx="2323554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found at 4</a:t>
              </a:r>
            </a:p>
            <a:p>
              <a:r>
                <a:rPr lang="en-US" b="1" dirty="0">
                  <a:solidFill>
                    <a:schemeClr val="bg2"/>
                  </a:solidFill>
                </a:rPr>
                <a:t>found at 7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777397" y="6072949"/>
            <a:ext cx="3185682" cy="369332"/>
            <a:chOff x="6184490" y="365126"/>
            <a:chExt cx="3185682" cy="369332"/>
          </a:xfrm>
        </p:grpSpPr>
        <p:cxnSp>
          <p:nvCxnSpPr>
            <p:cNvPr id="29" name="Straight Arrow Connector 28"/>
            <p:cNvCxnSpPr/>
            <p:nvPr/>
          </p:nvCxnSpPr>
          <p:spPr>
            <a:xfrm flipV="1">
              <a:off x="6184490" y="549792"/>
              <a:ext cx="727587" cy="9832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049729" y="365126"/>
              <a:ext cx="2320443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Hello Beautiful World!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99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std</a:t>
            </a:r>
            <a:r>
              <a:rPr lang="en-US" dirty="0"/>
              <a:t>::string versus C-style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C-style string</a:t>
            </a:r>
          </a:p>
          <a:p>
            <a:pPr lvl="1"/>
            <a:r>
              <a:rPr lang="en-US" dirty="0"/>
              <a:t>array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</a:t>
            </a:r>
            <a:r>
              <a:rPr lang="en-US" dirty="0"/>
              <a:t>r</a:t>
            </a:r>
          </a:p>
          <a:p>
            <a:pPr lvl="1"/>
            <a:r>
              <a:rPr lang="en-US" dirty="0"/>
              <a:t>last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functions declared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Useful for calling C functions</a:t>
            </a:r>
          </a:p>
          <a:p>
            <a:r>
              <a:rPr lang="en-US" dirty="0"/>
              <a:t>Conversion</a:t>
            </a:r>
          </a:p>
          <a:p>
            <a:pPr lvl="1"/>
            <a:r>
              <a:rPr lang="en-US" dirty="0" err="1"/>
              <a:t>std</a:t>
            </a:r>
            <a:r>
              <a:rPr lang="en-US" dirty="0"/>
              <a:t>::string </a:t>
            </a:r>
            <a:r>
              <a:rPr lang="en-US" dirty="0">
                <a:sym typeface="Symbol" panose="05050102010706020507" pitchFamily="18" charset="2"/>
              </a:rPr>
              <a:t></a:t>
            </a:r>
            <a:r>
              <a:rPr lang="en-US" dirty="0"/>
              <a:t> C-style: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str.c_str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C-style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std</a:t>
            </a:r>
            <a:r>
              <a:rPr lang="en-US" dirty="0"/>
              <a:t>::string: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</a:t>
            </a:r>
            <a:r>
              <a:rPr lang="en-US" dirty="0"/>
              <a:t> constructor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Regular expression</a:t>
            </a:r>
            <a:br>
              <a:rPr lang="en-US" dirty="0"/>
            </a:br>
            <a:r>
              <a:rPr lang="en-US" dirty="0"/>
              <a:t>       = description of a language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set of strings</a:t>
            </a:r>
          </a:p>
          <a:p>
            <a:r>
              <a:rPr lang="en-US" dirty="0"/>
              <a:t>Language can be</a:t>
            </a:r>
          </a:p>
          <a:p>
            <a:pPr lvl="1"/>
            <a:r>
              <a:rPr lang="en-US" dirty="0"/>
              <a:t>Finite</a:t>
            </a:r>
          </a:p>
          <a:p>
            <a:pPr lvl="1"/>
            <a:r>
              <a:rPr lang="en-US" dirty="0"/>
              <a:t>Infinite</a:t>
            </a:r>
          </a:p>
          <a:p>
            <a:pPr lvl="2"/>
            <a:r>
              <a:rPr lang="en-US" dirty="0"/>
              <a:t>Remember, set of all strings is infinite, countable</a:t>
            </a:r>
          </a:p>
          <a:p>
            <a:r>
              <a:rPr lang="en-US" dirty="0"/>
              <a:t>Chomsky hierarchy</a:t>
            </a:r>
          </a:p>
          <a:p>
            <a:pPr lvl="1"/>
            <a:r>
              <a:rPr lang="en-US" dirty="0"/>
              <a:t>regular languages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context-free languages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context-sensitive languages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recursively enumerable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5942160"/>
            <a:ext cx="830990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C++ regular expressions can express more than regular languages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843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expressive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cs typeface="Courier New" pitchFamily="49" charset="0"/>
              </a:rPr>
              <a:t>Never</a:t>
            </a:r>
            <a:r>
              <a:rPr lang="en-US" dirty="0">
                <a:cs typeface="Courier New" pitchFamily="49" charset="0"/>
              </a:rPr>
              <a:t> parse HTML or XML with regular expressions!!!</a:t>
            </a:r>
          </a:p>
          <a:p>
            <a:pPr lvl="1"/>
            <a:r>
              <a:rPr lang="en-US" dirty="0">
                <a:cs typeface="Courier New" pitchFamily="49" charset="0"/>
              </a:rPr>
              <a:t>HTML &amp; XML are </a:t>
            </a:r>
            <a:r>
              <a:rPr lang="en-US" i="1" dirty="0">
                <a:cs typeface="Courier New" pitchFamily="49" charset="0"/>
              </a:rPr>
              <a:t>context-free</a:t>
            </a:r>
            <a:r>
              <a:rPr lang="en-US" dirty="0">
                <a:cs typeface="Courier New" pitchFamily="49" charset="0"/>
              </a:rPr>
              <a:t> languages</a:t>
            </a:r>
          </a:p>
          <a:p>
            <a:pPr lvl="1"/>
            <a:r>
              <a:rPr lang="en-US" dirty="0">
                <a:cs typeface="Courier New" pitchFamily="49" charset="0"/>
              </a:rPr>
              <a:t>Even if you think you can, </a:t>
            </a:r>
            <a:r>
              <a:rPr lang="en-US" i="1" dirty="0">
                <a:cs typeface="Courier New" pitchFamily="49" charset="0"/>
              </a:rPr>
              <a:t>don't</a:t>
            </a:r>
            <a:r>
              <a:rPr lang="en-US" dirty="0">
                <a:cs typeface="Courier New" pitchFamily="49" charset="0"/>
              </a:rPr>
              <a:t>, there be dragons</a:t>
            </a:r>
          </a:p>
          <a:p>
            <a:r>
              <a:rPr lang="en-US" dirty="0">
                <a:cs typeface="Courier New" pitchFamily="49" charset="0"/>
              </a:rPr>
              <a:t>Can you write a regular expression to match all regular expressions?</a:t>
            </a:r>
          </a:p>
          <a:p>
            <a:pPr lvl="1"/>
            <a:r>
              <a:rPr lang="en-US" dirty="0">
                <a:cs typeface="Courier New" pitchFamily="49" charset="0"/>
              </a:rPr>
              <a:t>No: the language of regular expressions is context-free</a:t>
            </a:r>
          </a:p>
          <a:p>
            <a:r>
              <a:rPr lang="en-US" dirty="0">
                <a:cs typeface="Courier New" pitchFamily="49" charset="0"/>
              </a:rPr>
              <a:t>Can you parse English using a regular expression</a:t>
            </a:r>
          </a:p>
          <a:p>
            <a:pPr lvl="1"/>
            <a:r>
              <a:rPr lang="en-US" dirty="0">
                <a:cs typeface="Courier New" pitchFamily="49" charset="0"/>
              </a:rPr>
              <a:t>No: English is a little bit context-sensitive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124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examples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DNA: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[ACGT]+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[ACGT]</a:t>
            </a:r>
            <a:r>
              <a:rPr lang="en-US" dirty="0">
                <a:cs typeface="Courier New" pitchFamily="49" charset="0"/>
              </a:rPr>
              <a:t> = one out of {A, C, G, T}</a:t>
            </a:r>
          </a:p>
          <a:p>
            <a:pPr lvl="1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cs typeface="Courier New" pitchFamily="49" charset="0"/>
              </a:rPr>
              <a:t>     = one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dirty="0">
              <a:cs typeface="Courier New" pitchFamily="49" charset="0"/>
            </a:endParaRPr>
          </a:p>
          <a:p>
            <a:r>
              <a:rPr lang="en-US" dirty="0"/>
              <a:t>DNA containing AAT: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cs typeface="Courier New" pitchFamily="49" charset="0"/>
              </a:rPr>
              <a:t> followed by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lvl="1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>
                <a:cs typeface="Courier New" pitchFamily="49" charset="0"/>
              </a:rPr>
              <a:t>              = zero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r>
              <a:rPr lang="en-US" dirty="0"/>
              <a:t>DNA containing AAT or TAT: 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|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)[ACGT]*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|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either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,</a:t>
            </a:r>
            <a:r>
              <a:rPr lang="en-US" dirty="0">
                <a:cs typeface="Courier New" pitchFamily="49" charset="0"/>
              </a:rPr>
              <a:t> or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5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examples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Belgian phone number:</a:t>
            </a:r>
            <a:br>
              <a:rPr lang="en-US" dirty="0"/>
            </a:br>
            <a:r>
              <a:rPr lang="en-US" dirty="0"/>
              <a:t>                       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[1-9]\d?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[1-9]\d{5,6}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 </a:t>
            </a:r>
            <a:r>
              <a:rPr lang="en-US" dirty="0">
                <a:cs typeface="Courier New" pitchFamily="49" charset="0"/>
              </a:rPr>
              <a:t>= any character from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cs typeface="Courier New" pitchFamily="49" charset="0"/>
              </a:rPr>
              <a:t> to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>
                <a:cs typeface="Courier New" pitchFamily="49" charset="0"/>
              </a:rPr>
              <a:t>              =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[0-9]</a:t>
            </a:r>
          </a:p>
          <a:p>
            <a:pPr lvl="1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cs typeface="Courier New" pitchFamily="49" charset="0"/>
              </a:rPr>
              <a:t>       = zero or one occurrence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dirty="0">
              <a:cs typeface="Courier New" pitchFamily="49" charset="0"/>
            </a:endParaRPr>
          </a:p>
          <a:p>
            <a:pPr lvl="1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=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 to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cs typeface="Courier New" pitchFamily="49" charset="0"/>
              </a:rPr>
              <a:t>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All strings, including empty string: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.*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dirty="0">
                <a:cs typeface="Courier New" pitchFamily="49" charset="0"/>
              </a:rPr>
              <a:t>= any character (</a:t>
            </a:r>
            <a:r>
              <a:rPr lang="en-US">
                <a:cs typeface="Courier New" pitchFamily="49" charset="0"/>
              </a:rPr>
              <a:t>except newline)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Email address: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\w+(?:\.\w+)?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\w+(?:\.\w+)+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\.       </a:t>
            </a:r>
            <a:r>
              <a:rPr lang="en-US" dirty="0">
                <a:cs typeface="Courier New" pitchFamily="49" charset="0"/>
              </a:rPr>
              <a:t>= character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'.'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\w       </a:t>
            </a:r>
            <a:r>
              <a:rPr lang="en-US" dirty="0">
                <a:cs typeface="Courier New" pitchFamily="49" charset="0"/>
              </a:rPr>
              <a:t>=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[A-Za-z0-9_]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(?: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) </a:t>
            </a:r>
            <a:r>
              <a:rPr lang="en-US" dirty="0">
                <a:cs typeface="Courier New" pitchFamily="49" charset="0"/>
                <a:sym typeface="Wingdings" pitchFamily="2" charset="2"/>
              </a:rPr>
              <a:t>= grouped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30346" y="5118283"/>
            <a:ext cx="219803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Don't use this in</a:t>
            </a:r>
          </a:p>
          <a:p>
            <a:r>
              <a:rPr lang="en-US" sz="2400" dirty="0"/>
              <a:t>practice!!!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11760" y="6165304"/>
            <a:ext cx="4598893" cy="616134"/>
            <a:chOff x="2411760" y="6165304"/>
            <a:chExt cx="4598893" cy="616134"/>
          </a:xfrm>
        </p:grpSpPr>
        <p:sp>
          <p:nvSpPr>
            <p:cNvPr id="5" name="TextBox 4"/>
            <p:cNvSpPr txBox="1"/>
            <p:nvPr/>
          </p:nvSpPr>
          <p:spPr>
            <a:xfrm>
              <a:off x="2771800" y="6381328"/>
              <a:ext cx="423885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Similar to brackets in math expressions</a:t>
              </a:r>
            </a:p>
          </p:txBody>
        </p:sp>
        <p:cxnSp>
          <p:nvCxnSpPr>
            <p:cNvPr id="7" name="Straight Arrow Connector 6"/>
            <p:cNvCxnSpPr>
              <a:stCxn id="5" idx="1"/>
            </p:cNvCxnSpPr>
            <p:nvPr/>
          </p:nvCxnSpPr>
          <p:spPr>
            <a:xfrm flipH="1" flipV="1">
              <a:off x="2411760" y="6165304"/>
              <a:ext cx="360040" cy="4160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294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Characters that must be escaped</a:t>
            </a:r>
          </a:p>
          <a:p>
            <a:pPr lvl="1"/>
            <a:r>
              <a:rPr lang="en-US" dirty="0"/>
              <a:t>tab     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\t</a:t>
            </a:r>
          </a:p>
          <a:p>
            <a:pPr lvl="1"/>
            <a:r>
              <a:rPr lang="en-US" dirty="0"/>
              <a:t>new line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\n</a:t>
            </a:r>
          </a:p>
          <a:p>
            <a:pPr lvl="1"/>
            <a:r>
              <a:rPr lang="en-US" dirty="0"/>
              <a:t>carriage return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\r</a:t>
            </a:r>
          </a:p>
          <a:p>
            <a:pPr lvl="1"/>
            <a:r>
              <a:rPr lang="en-US" dirty="0"/>
              <a:t>\          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\\</a:t>
            </a:r>
          </a:p>
          <a:p>
            <a:pPr lvl="1"/>
            <a:r>
              <a:rPr lang="en-US" dirty="0"/>
              <a:t>brackets              :  </a:t>
            </a:r>
            <a:r>
              <a:rPr lang="en-US" spc="-150" dirty="0">
                <a:latin typeface="Courier New" pitchFamily="49" charset="0"/>
                <a:cs typeface="Courier New" pitchFamily="49" charset="0"/>
              </a:rPr>
              <a:t>\(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\)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\[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\]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\{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\}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operators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\+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\-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\*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\?</a:t>
            </a:r>
          </a:p>
          <a:p>
            <a:pPr lvl="1"/>
            <a:r>
              <a:rPr lang="en-US" dirty="0"/>
              <a:t>.  (dot)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\.</a:t>
            </a:r>
          </a:p>
          <a:p>
            <a:r>
              <a:rPr lang="en-US" dirty="0">
                <a:cs typeface="Courier New" pitchFamily="49" charset="0"/>
              </a:rPr>
              <a:t>All other characters literal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38342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character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/>
              <a:t>                =  </a:t>
            </a:r>
            <a:r>
              <a:rPr lang="en-US" dirty="0"/>
              <a:t>{'x'}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[xyz]  </a:t>
            </a:r>
            <a:r>
              <a:rPr lang="en-US" dirty="0"/>
              <a:t>=  {'x', 'y', 'z'}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[x-z]</a:t>
            </a:r>
            <a:r>
              <a:rPr lang="en-US" dirty="0"/>
              <a:t>     =  {c | 'x' </a:t>
            </a:r>
            <a:r>
              <a:rPr lang="en-US" dirty="0">
                <a:sym typeface="Symbol"/>
              </a:rPr>
              <a:t></a:t>
            </a:r>
            <a:r>
              <a:rPr lang="en-US" dirty="0"/>
              <a:t> c </a:t>
            </a:r>
            <a:r>
              <a:rPr lang="en-US" dirty="0">
                <a:sym typeface="Symbol"/>
              </a:rPr>
              <a:t></a:t>
            </a:r>
            <a:r>
              <a:rPr lang="en-US" dirty="0"/>
              <a:t> 'z'}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[^xyz] </a:t>
            </a:r>
            <a:r>
              <a:rPr lang="en-US" dirty="0"/>
              <a:t>=  {any} \ {'x', 'y', 'z'}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\w</a:t>
            </a:r>
            <a:r>
              <a:rPr lang="en-US" dirty="0"/>
              <a:t>             =  {'A',…,'Z', 'a',…,'z', '0',…,'9', '_'}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\W</a:t>
            </a:r>
            <a:r>
              <a:rPr lang="en-US" dirty="0"/>
              <a:t>             =  {any} \ {'A',…,'Z', 'a',…,'z', '0',…,'9', '_'}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/>
              <a:t>             =  {'0',…,'9'}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/>
              <a:t>             =  {any} \ {'0',…,'9'}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\s     </a:t>
            </a:r>
            <a:r>
              <a:rPr lang="en-US" dirty="0"/>
              <a:t>=  {' ', '\t', '\f', '\r', '\n', '\v'}         (white space)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\S</a:t>
            </a:r>
            <a:r>
              <a:rPr lang="en-US" dirty="0"/>
              <a:t>             =  {any} \ {' ', '\t', '\f', '\r', '\n', '\v'}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/>
              <a:t>                =  {any} \ {'\n'}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69050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2" indent="-342900"/>
            <a:r>
              <a:rPr lang="en-US" dirty="0">
                <a:cs typeface="Courier New" pitchFamily="49" charset="0"/>
              </a:rPr>
              <a:t>Concatenation: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 (implicit)</a:t>
            </a:r>
            <a:endParaRPr lang="en-US" dirty="0">
              <a:cs typeface="Courier New" pitchFamily="49" charset="0"/>
            </a:endParaRPr>
          </a:p>
          <a:p>
            <a:pPr marL="342900" lvl="2" indent="-342900"/>
            <a:r>
              <a:rPr lang="en-US" dirty="0">
                <a:cs typeface="Courier New" pitchFamily="49" charset="0"/>
              </a:rPr>
              <a:t>Choice: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|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either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,</a:t>
            </a:r>
            <a:r>
              <a:rPr lang="en-US" dirty="0">
                <a:cs typeface="Courier New" pitchFamily="49" charset="0"/>
              </a:rPr>
              <a:t> or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marL="342900" lvl="2" indent="-342900"/>
            <a:r>
              <a:rPr lang="en-US" dirty="0">
                <a:cs typeface="Courier New" pitchFamily="49" charset="0"/>
              </a:rPr>
              <a:t>Repetition:	</a:t>
            </a: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  =  exactly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m,n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=  minimum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, maximum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cs typeface="Courier New" pitchFamily="49" charset="0"/>
              </a:rPr>
              <a:t> </a:t>
            </a:r>
            <a:br>
              <a:rPr lang="en-US" dirty="0">
                <a:cs typeface="Courier New" pitchFamily="49" charset="0"/>
              </a:rPr>
            </a:br>
            <a:r>
              <a:rPr lang="en-US" dirty="0">
                <a:cs typeface="Courier New" pitchFamily="49" charset="0"/>
              </a:rPr>
              <a:t>                              where </a:t>
            </a:r>
            <a:r>
              <a:rPr lang="en-US" i="1" dirty="0">
                <a:latin typeface="Lucida Sans" panose="020B0602030504020204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  <a:sym typeface="Symbol"/>
              </a:rPr>
              <a:t>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i="1" dirty="0">
                <a:latin typeface="Lucida Sans" panose="020B0602030504020204" pitchFamily="34" charset="0"/>
                <a:cs typeface="Courier New" pitchFamily="49" charset="0"/>
              </a:rPr>
              <a:t>n</a:t>
            </a: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,n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 =  minimum zero, maximum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m,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=  minimum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cs typeface="Courier New" pitchFamily="49" charset="0"/>
              </a:rPr>
              <a:t>             =  zero or one occurrence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>
                <a:cs typeface="Courier New" pitchFamily="49" charset="0"/>
              </a:rPr>
              <a:t>             =  zero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cs typeface="Courier New" pitchFamily="49" charset="0"/>
              </a:rPr>
              <a:t>             =  one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endParaRPr lang="en-US" i="1" dirty="0">
              <a:latin typeface="Lucida Sans" pitchFamily="34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99683" y="5775647"/>
            <a:ext cx="332058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Longest match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5088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vs. non-greedy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Consider 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name="x"&gt;15&lt;/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/>
              <a:t>'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&lt;.+&gt;</a:t>
            </a:r>
            <a:r>
              <a:rPr lang="en-US" dirty="0"/>
              <a:t> will match substring</a:t>
            </a:r>
            <a:br>
              <a:rPr lang="en-US" dirty="0"/>
            </a:br>
            <a:r>
              <a:rPr lang="en-US" dirty="0"/>
              <a:t>    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name="x"&gt;15&lt;/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/>
              <a:t>'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Use non-greedy operator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&lt;.+?&gt;</a:t>
            </a:r>
            <a:r>
              <a:rPr lang="en-US" dirty="0"/>
              <a:t> will match substring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</a:t>
            </a:r>
            <a:r>
              <a:rPr lang="en-US" dirty="0"/>
              <a:t>'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3200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sz="3200" i="1" dirty="0">
                <a:latin typeface="Lucida Sans" pitchFamily="34" charset="0"/>
                <a:cs typeface="Courier New" pitchFamily="49" charset="0"/>
              </a:rPr>
              <a:t>&lt;op&gt;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sz="3200" dirty="0">
                <a:cs typeface="Courier New" pitchFamily="49" charset="0"/>
              </a:rPr>
              <a:t>   =  operator </a:t>
            </a:r>
            <a:r>
              <a:rPr lang="en-US" sz="3200" i="1" dirty="0">
                <a:latin typeface="Lucida Sans" pitchFamily="34" charset="0"/>
                <a:cs typeface="Courier New" pitchFamily="49" charset="0"/>
              </a:rPr>
              <a:t>&lt;op&gt;</a:t>
            </a:r>
            <a:r>
              <a:rPr lang="en-US" sz="3200" dirty="0">
                <a:cs typeface="Courier New" pitchFamily="49" charset="0"/>
              </a:rPr>
              <a:t> with shortest</a:t>
            </a:r>
            <a:br>
              <a:rPr lang="en-US" sz="3200" dirty="0">
                <a:cs typeface="Courier New" pitchFamily="49" charset="0"/>
              </a:rPr>
            </a:br>
            <a:r>
              <a:rPr lang="en-US" sz="3200" dirty="0">
                <a:cs typeface="Courier New" pitchFamily="49" charset="0"/>
              </a:rPr>
              <a:t>                               match semantics (i.e., non-</a:t>
            </a:r>
            <a:br>
              <a:rPr lang="en-US" sz="3200" dirty="0">
                <a:cs typeface="Courier New" pitchFamily="49" charset="0"/>
              </a:rPr>
            </a:br>
            <a:r>
              <a:rPr lang="en-US" sz="3200" dirty="0">
                <a:cs typeface="Courier New" pitchFamily="49" charset="0"/>
              </a:rPr>
              <a:t>                               greedy) applied to </a:t>
            </a:r>
            <a:r>
              <a:rPr lang="en-US" sz="3200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sz="3200" i="1" dirty="0">
              <a:latin typeface="Lucida Sans" pitchFamily="34" charset="0"/>
              <a:cs typeface="Courier New" pitchFamily="49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3200" dirty="0">
                <a:cs typeface="Courier New" pitchFamily="49" charset="0"/>
              </a:rPr>
              <a:t>Alternative: 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&lt;[^&gt;]+&gt;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47555" y="2823319"/>
            <a:ext cx="342157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Longest match semantics!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229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parse XML with REs?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match start tag in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name="x"&gt;15&lt;/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&gt;'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&lt;.+?&gt;</a:t>
            </a:r>
            <a:r>
              <a:rPr lang="en-US" dirty="0"/>
              <a:t> will match substring</a:t>
            </a:r>
            <a:br>
              <a:rPr lang="en-US" dirty="0"/>
            </a:br>
            <a:r>
              <a:rPr lang="en-US" dirty="0"/>
              <a:t>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name="x"&gt;'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'&lt;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name="a-&gt;b"&gt;15&lt;/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&gt;'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&lt;.+?&gt;</a:t>
            </a:r>
            <a:r>
              <a:rPr lang="en-US" dirty="0"/>
              <a:t> will match substring</a:t>
            </a:r>
            <a:br>
              <a:rPr lang="en-US" dirty="0"/>
            </a:br>
            <a:r>
              <a:rPr lang="en-US" dirty="0"/>
              <a:t>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name="a-&gt;'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5724128" y="2636912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6000" dirty="0">
                <a:solidFill>
                  <a:srgbClr val="92D050"/>
                </a:solidFill>
              </a:rPr>
              <a:t>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1653" y="4509120"/>
            <a:ext cx="1056571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Oops!</a:t>
            </a:r>
            <a:endParaRPr lang="nl-BE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4890" y="5355213"/>
            <a:ext cx="627017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Use a parser for context free language, or,</a:t>
            </a:r>
            <a:br>
              <a:rPr lang="en-US" sz="2800" dirty="0"/>
            </a:br>
            <a:r>
              <a:rPr lang="en-US" sz="2800" dirty="0"/>
              <a:t>better still, use a third-party library.</a:t>
            </a:r>
            <a:endParaRPr lang="nl-BE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128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expressions contain many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dirty="0"/>
              <a:t>: pain</a:t>
            </a:r>
          </a:p>
          <a:p>
            <a:pPr lvl="1"/>
            <a:r>
              <a:rPr lang="en-US" dirty="0">
                <a:cs typeface="Courier New" pitchFamily="49" charset="0"/>
              </a:rPr>
              <a:t>regular expression: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\w+(?:\.\w+)?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\w+(?:\.\w+)+</a:t>
            </a:r>
          </a:p>
          <a:p>
            <a:pPr lvl="1"/>
            <a:r>
              <a:rPr lang="en-US" dirty="0">
                <a:cs typeface="Courier New" pitchFamily="49" charset="0"/>
              </a:rPr>
              <a:t>string representation: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\.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\w+)?@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\.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\w+)+"</a:t>
            </a:r>
          </a:p>
          <a:p>
            <a:r>
              <a:rPr lang="en-US" dirty="0">
                <a:cs typeface="Courier New" pitchFamily="49" charset="0"/>
              </a:rPr>
              <a:t>Raw strings: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>
                <a:cs typeface="Courier New" pitchFamily="49" charset="0"/>
              </a:rPr>
              <a:t> has no special semantics</a:t>
            </a:r>
          </a:p>
          <a:p>
            <a:pPr lvl="1"/>
            <a:r>
              <a:rPr lang="en-US" dirty="0">
                <a:cs typeface="Courier New" pitchFamily="49" charset="0"/>
              </a:rPr>
              <a:t>raw string representation: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R"(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\w+(?:\.\w+)?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\w+(?:\.\w+)+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849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Checking occurrence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Getting matched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410408"/>
            <a:ext cx="6617724" cy="1569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&lt;regex&gt;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regex expr {R"(\w+(?:\.\w+)?@\w+(?:\.\w+)+)"};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regex_search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expr))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4989744"/>
            <a:ext cx="6617724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regex expr {R"(\w+(?:\.\w+)?@\w+(?:\.\w+)+)"};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smatch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matches;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regex_search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matches, expr))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"found: " &lt;&lt; matches[0]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274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(?:…)</a:t>
            </a:r>
          </a:p>
          <a:p>
            <a:r>
              <a:rPr lang="en-US" dirty="0"/>
              <a:t>Capturing brackets: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924964"/>
            <a:ext cx="6617724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regex expr {R"(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\w+(?:\.\w+)?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\w+(?:\.\w+)+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smatch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matches;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regex_search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matches, expr))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user_name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matches[1];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domain_name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matches[2];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4640" y="5112775"/>
            <a:ext cx="623472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Note: capturing brackets also group, but lots of machinery</a:t>
            </a:r>
          </a:p>
        </p:txBody>
      </p:sp>
    </p:spTree>
    <p:extLst>
      <p:ext uri="{BB962C8B-B14F-4D97-AF65-F5344CB8AC3E}">
        <p14:creationId xmlns:p14="http://schemas.microsoft.com/office/powerpoint/2010/main" val="301024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Replacing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Format string for replacement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dirty="0"/>
              <a:t>: first capture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dirty="0"/>
              <a:t>: second capture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$&amp;</a:t>
            </a:r>
            <a:r>
              <a:rPr lang="en-US" dirty="0"/>
              <a:t>: complete match</a:t>
            </a:r>
          </a:p>
          <a:p>
            <a:pPr lvl="1"/>
            <a:r>
              <a:rPr lang="en-US" dirty="0"/>
              <a:t>literal characters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4439136"/>
            <a:ext cx="6617724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{"1.5, 2.3, alpha"};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regex expr {R"(([^ ,])+)"};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new_str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regex_replace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expr, "'$1'");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new_str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736258" y="5381481"/>
            <a:ext cx="3122713" cy="369332"/>
            <a:chOff x="6240600" y="365126"/>
            <a:chExt cx="3122713" cy="369332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6240600" y="365126"/>
              <a:ext cx="671477" cy="184666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7049729" y="365126"/>
              <a:ext cx="231358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'1.5', '2.3', 'alpha'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882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matches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49" y="1869887"/>
            <a:ext cx="8213899" cy="32932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string line;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regex expr {R"((\w+))"};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unordered_map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&lt;string,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 counter;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getline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line))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sregex_iterator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token(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line.begin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line.end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(), expr);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token !=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sregex_iterator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{}; token++)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string word = (*token)[1];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if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counter.find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(word) ==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counter.end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counter[word] = 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counter[word]++;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885" y="5342294"/>
            <a:ext cx="78996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sregex_iterator</a:t>
            </a:r>
            <a:r>
              <a:rPr lang="en-US" sz="2400" dirty="0"/>
              <a:t> is bidirectional, hence stop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token</a:t>
            </a:r>
            <a:r>
              <a:rPr lang="en-US" sz="2400" dirty="0"/>
              <a:t> is address of matched substring, hence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Match was capturing, hence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(*token)[1]</a:t>
            </a:r>
          </a:p>
        </p:txBody>
      </p:sp>
    </p:spTree>
    <p:extLst>
      <p:ext uri="{BB962C8B-B14F-4D97-AF65-F5344CB8AC3E}">
        <p14:creationId xmlns:p14="http://schemas.microsoft.com/office/powerpoint/2010/main" val="240426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expressions are</a:t>
            </a:r>
          </a:p>
          <a:p>
            <a:pPr lvl="1"/>
            <a:r>
              <a:rPr lang="en-US" dirty="0"/>
              <a:t>powerful</a:t>
            </a:r>
          </a:p>
          <a:p>
            <a:pPr lvl="1"/>
            <a:r>
              <a:rPr lang="en-US" dirty="0"/>
              <a:t>somewhat slow</a:t>
            </a:r>
          </a:p>
          <a:p>
            <a:r>
              <a:rPr lang="en-US" dirty="0"/>
              <a:t>Two functions</a:t>
            </a:r>
          </a:p>
          <a:p>
            <a:pPr lvl="1"/>
            <a:r>
              <a:rPr lang="en-US" dirty="0" err="1"/>
              <a:t>regex_search</a:t>
            </a:r>
            <a:r>
              <a:rPr lang="en-US" dirty="0"/>
              <a:t>: works on streams </a:t>
            </a:r>
            <a:r>
              <a:rPr lang="en-US" dirty="0">
                <a:sym typeface="Symbol" panose="05050102010706020507" pitchFamily="18" charset="2"/>
              </a:rPr>
              <a:t> more versatile</a:t>
            </a:r>
            <a:endParaRPr lang="en-US" dirty="0"/>
          </a:p>
          <a:p>
            <a:pPr lvl="1"/>
            <a:r>
              <a:rPr lang="en-US" dirty="0" err="1"/>
              <a:t>regex_match</a:t>
            </a:r>
            <a:r>
              <a:rPr lang="en-US" dirty="0"/>
              <a:t>: works on strings only </a:t>
            </a:r>
            <a:r>
              <a:rPr lang="en-US" dirty="0">
                <a:sym typeface="Symbol" panose="05050102010706020507" pitchFamily="18" charset="2"/>
              </a:rPr>
              <a:t> better performance</a:t>
            </a:r>
          </a:p>
          <a:p>
            <a:r>
              <a:rPr lang="en-US" dirty="0">
                <a:sym typeface="Symbol" panose="05050102010706020507" pitchFamily="18" charset="2"/>
              </a:rPr>
              <a:t>Modifiers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case insensitive: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regex expr(…,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regex::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icase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more to come in C++17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01008" y="2378218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 </a:t>
            </a:r>
            <a:r>
              <a:rPr lang="en-US" sz="2400" dirty="0"/>
              <a:t>use judiciously</a:t>
            </a:r>
          </a:p>
        </p:txBody>
      </p:sp>
    </p:spTree>
    <p:extLst>
      <p:ext uri="{BB962C8B-B14F-4D97-AF65-F5344CB8AC3E}">
        <p14:creationId xmlns:p14="http://schemas.microsoft.com/office/powerpoint/2010/main" val="87839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/>
              <a:t>String implementation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7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7,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https://github.com/gjbex/Scientific-C-plus-plus/tree/master/source-code/IoStreams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6454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stream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ostream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convert typed object(s) to sequence of characters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Input stream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convert sequence of characters to typed object(s)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939387"/>
            <a:ext cx="6961853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std::cout &lt;&lt; "n=" &lt;&lt; 15 &lt;&lt; ":" &lt;&lt; 12.3 &lt;&lt; std::endl;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4321503"/>
            <a:ext cx="6961853" cy="3385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std::cin &gt;&gt; str1 &gt;&gt; n &gt;&gt; str2 &gt;&gt; avg;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6947725" y="3274350"/>
            <a:ext cx="1554109" cy="713390"/>
            <a:chOff x="6947725" y="3274350"/>
            <a:chExt cx="1554109" cy="713390"/>
          </a:xfrm>
        </p:grpSpPr>
        <p:sp>
          <p:nvSpPr>
            <p:cNvPr id="13" name="TextBox 12"/>
            <p:cNvSpPr txBox="1"/>
            <p:nvPr/>
          </p:nvSpPr>
          <p:spPr>
            <a:xfrm>
              <a:off x="6947725" y="3649186"/>
              <a:ext cx="155410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std::string</a:t>
              </a:r>
            </a:p>
          </p:txBody>
        </p:sp>
        <p:cxnSp>
          <p:nvCxnSpPr>
            <p:cNvPr id="24" name="Straight Arrow Connector 23"/>
            <p:cNvCxnSpPr>
              <a:stCxn id="13" idx="0"/>
            </p:cNvCxnSpPr>
            <p:nvPr/>
          </p:nvCxnSpPr>
          <p:spPr>
            <a:xfrm flipH="1" flipV="1">
              <a:off x="7058985" y="3274350"/>
              <a:ext cx="665795" cy="37483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97361" y="3277941"/>
            <a:ext cx="1559026" cy="1043562"/>
            <a:chOff x="997361" y="3277941"/>
            <a:chExt cx="1559026" cy="1043562"/>
          </a:xfrm>
        </p:grpSpPr>
        <p:sp>
          <p:nvSpPr>
            <p:cNvPr id="9" name="TextBox 8"/>
            <p:cNvSpPr txBox="1"/>
            <p:nvPr/>
          </p:nvSpPr>
          <p:spPr>
            <a:xfrm>
              <a:off x="997361" y="3653976"/>
              <a:ext cx="1559026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std::string</a:t>
              </a:r>
            </a:p>
          </p:txBody>
        </p:sp>
        <p:cxnSp>
          <p:nvCxnSpPr>
            <p:cNvPr id="15" name="Straight Arrow Connector 14"/>
            <p:cNvCxnSpPr>
              <a:stCxn id="9" idx="0"/>
            </p:cNvCxnSpPr>
            <p:nvPr/>
          </p:nvCxnSpPr>
          <p:spPr>
            <a:xfrm flipV="1">
              <a:off x="1776874" y="3277941"/>
              <a:ext cx="671358" cy="37603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9" idx="2"/>
            </p:cNvCxnSpPr>
            <p:nvPr/>
          </p:nvCxnSpPr>
          <p:spPr>
            <a:xfrm>
              <a:off x="1776874" y="3992530"/>
              <a:ext cx="618169" cy="32897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882697" y="3277941"/>
            <a:ext cx="754085" cy="1043562"/>
            <a:chOff x="2882697" y="3277941"/>
            <a:chExt cx="754085" cy="1043562"/>
          </a:xfrm>
        </p:grpSpPr>
        <p:sp>
          <p:nvSpPr>
            <p:cNvPr id="11" name="TextBox 10"/>
            <p:cNvSpPr txBox="1"/>
            <p:nvPr/>
          </p:nvSpPr>
          <p:spPr>
            <a:xfrm>
              <a:off x="2882697" y="3649186"/>
              <a:ext cx="60529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int</a:t>
              </a:r>
            </a:p>
          </p:txBody>
        </p:sp>
        <p:cxnSp>
          <p:nvCxnSpPr>
            <p:cNvPr id="16" name="Straight Arrow Connector 15"/>
            <p:cNvCxnSpPr>
              <a:stCxn id="11" idx="0"/>
            </p:cNvCxnSpPr>
            <p:nvPr/>
          </p:nvCxnSpPr>
          <p:spPr>
            <a:xfrm flipV="1">
              <a:off x="3185346" y="3277941"/>
              <a:ext cx="451436" cy="37124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1" idx="2"/>
            </p:cNvCxnSpPr>
            <p:nvPr/>
          </p:nvCxnSpPr>
          <p:spPr>
            <a:xfrm>
              <a:off x="3185346" y="3987740"/>
              <a:ext cx="57995" cy="33376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814304" y="3277941"/>
            <a:ext cx="1554109" cy="1043562"/>
            <a:chOff x="3814304" y="3277941"/>
            <a:chExt cx="1554109" cy="1043562"/>
          </a:xfrm>
        </p:grpSpPr>
        <p:sp>
          <p:nvSpPr>
            <p:cNvPr id="10" name="TextBox 9"/>
            <p:cNvSpPr txBox="1"/>
            <p:nvPr/>
          </p:nvSpPr>
          <p:spPr>
            <a:xfrm>
              <a:off x="3814304" y="3653976"/>
              <a:ext cx="155410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n-NO" sz="1600" dirty="0">
                  <a:latin typeface="Courier New" pitchFamily="49" charset="0"/>
                  <a:cs typeface="Courier New" pitchFamily="49" charset="0"/>
                </a:rPr>
                <a:t>std::string</a:t>
              </a:r>
            </a:p>
          </p:txBody>
        </p:sp>
        <p:cxnSp>
          <p:nvCxnSpPr>
            <p:cNvPr id="19" name="Straight Arrow Connector 18"/>
            <p:cNvCxnSpPr>
              <a:stCxn id="10" idx="0"/>
            </p:cNvCxnSpPr>
            <p:nvPr/>
          </p:nvCxnSpPr>
          <p:spPr>
            <a:xfrm flipH="1" flipV="1">
              <a:off x="4501258" y="3277941"/>
              <a:ext cx="90101" cy="37603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0" idx="2"/>
              <a:endCxn id="8" idx="0"/>
            </p:cNvCxnSpPr>
            <p:nvPr/>
          </p:nvCxnSpPr>
          <p:spPr>
            <a:xfrm flipH="1">
              <a:off x="4109577" y="3992530"/>
              <a:ext cx="481782" cy="32897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212942" y="3275547"/>
            <a:ext cx="1413388" cy="1045956"/>
            <a:chOff x="5212942" y="3275547"/>
            <a:chExt cx="1413388" cy="1045956"/>
          </a:xfrm>
        </p:grpSpPr>
        <p:sp>
          <p:nvSpPr>
            <p:cNvPr id="12" name="TextBox 11"/>
            <p:cNvSpPr txBox="1"/>
            <p:nvPr/>
          </p:nvSpPr>
          <p:spPr>
            <a:xfrm>
              <a:off x="5689808" y="3649186"/>
              <a:ext cx="9365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n-NO" sz="1600">
                  <a:latin typeface="Courier New" pitchFamily="49" charset="0"/>
                  <a:cs typeface="Courier New" pitchFamily="49" charset="0"/>
                </a:rPr>
                <a:t>double</a:t>
              </a:r>
              <a:endParaRPr lang="nn-NO" sz="16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2" name="Straight Arrow Connector 21"/>
            <p:cNvCxnSpPr>
              <a:stCxn id="12" idx="0"/>
            </p:cNvCxnSpPr>
            <p:nvPr/>
          </p:nvCxnSpPr>
          <p:spPr>
            <a:xfrm flipH="1" flipV="1">
              <a:off x="5463627" y="3275547"/>
              <a:ext cx="694442" cy="37363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2" idx="2"/>
            </p:cNvCxnSpPr>
            <p:nvPr/>
          </p:nvCxnSpPr>
          <p:spPr>
            <a:xfrm flipH="1">
              <a:off x="5212942" y="3987740"/>
              <a:ext cx="945127" cy="33376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635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Output streams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: standard output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cerr</a:t>
            </a:r>
            <a:r>
              <a:rPr lang="en-US" dirty="0"/>
              <a:t>: standard error</a:t>
            </a:r>
          </a:p>
          <a:p>
            <a:pPr lvl="1"/>
            <a:r>
              <a:rPr lang="en-US" dirty="0"/>
              <a:t>"put to" operator: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Cross platform end-of-line: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Input stream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: standard input</a:t>
            </a:r>
          </a:p>
          <a:p>
            <a:pPr lvl="1"/>
            <a:r>
              <a:rPr lang="en-US" dirty="0"/>
              <a:t>"get from" operator: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</a:p>
          <a:p>
            <a:pPr lvl="1"/>
            <a:r>
              <a:rPr lang="en-US" dirty="0"/>
              <a:t>skips initial whitespace 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'\t'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'\r'</a:t>
            </a:r>
            <a:r>
              <a:rPr lang="en-US" dirty="0"/>
              <a:t>,…</a:t>
            </a:r>
          </a:p>
          <a:p>
            <a:pPr lvl="1"/>
            <a:r>
              <a:rPr lang="en-US" dirty="0"/>
              <a:t>default separator: whitespace</a:t>
            </a:r>
          </a:p>
          <a:p>
            <a:pPr lvl="1"/>
            <a:r>
              <a:rPr lang="en-US" dirty="0"/>
              <a:t>read entire line, including end-of-line: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line)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dirty="0"/>
              <a:t> is reference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Reference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</a:t>
            </a:r>
            <a:r>
              <a:rPr lang="en-US" dirty="0"/>
              <a:t> evaluates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ready for reading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Explicit check end-of-file: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cin.eof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3289115"/>
            <a:ext cx="6961853" cy="13234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data {0.0};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sum {0.0};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while (std::cin &gt;&gt; data)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sum += data;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std::out &lt;&lt; "sum = " &lt;&lt; sum &lt;&lt; std::endl;</a:t>
            </a:r>
          </a:p>
        </p:txBody>
      </p:sp>
    </p:spTree>
    <p:extLst>
      <p:ext uri="{BB962C8B-B14F-4D97-AF65-F5344CB8AC3E}">
        <p14:creationId xmlns:p14="http://schemas.microsoft.com/office/powerpoint/2010/main" val="904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Floating point formats: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scientific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defaultfloat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Getting/setting precision (number digits), e.g.,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cout.precision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cout.precision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23618" y="3613580"/>
            <a:ext cx="4670937" cy="20621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&lt;iomanip&gt;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&lt;numbers&gt;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using std::numbers::pi;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pi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scientific &lt;&lt; pi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cout.precision(4);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defaultfloat &lt;&lt; pi &lt;&lt; endl;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3677" y="4343075"/>
            <a:ext cx="152958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3.14159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3677" y="4820128"/>
            <a:ext cx="152958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3.141593e+00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3677" y="5304300"/>
            <a:ext cx="152958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3.142</a:t>
            </a:r>
          </a:p>
        </p:txBody>
      </p:sp>
    </p:spTree>
    <p:extLst>
      <p:ext uri="{BB962C8B-B14F-4D97-AF65-F5344CB8AC3E}">
        <p14:creationId xmlns:p14="http://schemas.microsoft.com/office/powerpoint/2010/main" val="27078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Formatting: width and fill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Getting/setting width, e.g.,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cout.width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r>
              <a:rPr lang="en-US" dirty="0"/>
              <a:t>Getting/setting fill character, e.g.,</a:t>
            </a:r>
            <a:br>
              <a:rPr lang="en-US" dirty="0"/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cout.fill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cout.fill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('0')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23618" y="3884884"/>
            <a:ext cx="4670937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const int data {123};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data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auto orig_width = cout.width();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cout.width(5);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auto orig_fill = cout.fill();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cout.fill('0');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 &lt;&lt; data &lt;&lt; endl;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cout.width(orig_width);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cout.fill(orig_fill);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1598" y="4081678"/>
            <a:ext cx="8115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1598" y="5369541"/>
            <a:ext cx="8115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00123</a:t>
            </a:r>
          </a:p>
        </p:txBody>
      </p:sp>
    </p:spTree>
    <p:extLst>
      <p:ext uri="{BB962C8B-B14F-4D97-AF65-F5344CB8AC3E}">
        <p14:creationId xmlns:p14="http://schemas.microsoft.com/office/powerpoint/2010/main" val="267718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file stream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file stream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23618" y="2301890"/>
            <a:ext cx="6103258" cy="20621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&lt;fstream&gt;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ifstream ifs("data.txt");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 (!ifs) { /* file could not be opened */;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data {0.0};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ifs &gt;&gt; data;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ifs.close();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150" y="4840258"/>
            <a:ext cx="6103260" cy="18158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&lt;fstream&gt;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ofstream ofs("data.txt");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if (!ofs) { /* file could not be opened */; }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data =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nn-NO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ofs &lt;&lt; data;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ofs.close();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820930" y="2875005"/>
            <a:ext cx="1979221" cy="1480750"/>
            <a:chOff x="6820930" y="2883243"/>
            <a:chExt cx="1979221" cy="1480750"/>
          </a:xfrm>
        </p:grpSpPr>
        <p:grpSp>
          <p:nvGrpSpPr>
            <p:cNvPr id="7" name="Group 6"/>
            <p:cNvGrpSpPr/>
            <p:nvPr/>
          </p:nvGrpSpPr>
          <p:grpSpPr>
            <a:xfrm>
              <a:off x="6903308" y="2946613"/>
              <a:ext cx="1896843" cy="677005"/>
              <a:chOff x="6376084" y="2078530"/>
              <a:chExt cx="1896843" cy="67700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7200197" y="2078530"/>
                <a:ext cx="1072730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open and</a:t>
                </a:r>
                <a:br>
                  <a:rPr lang="en-US" dirty="0"/>
                </a:br>
                <a:r>
                  <a:rPr lang="en-US" dirty="0"/>
                  <a:t>close file</a:t>
                </a:r>
              </a:p>
            </p:txBody>
          </p:sp>
          <p:cxnSp>
            <p:nvCxnSpPr>
              <p:cNvPr id="9" name="Straight Arrow Connector 8"/>
              <p:cNvCxnSpPr>
                <a:stCxn id="8" idx="1"/>
                <a:endCxn id="11" idx="1"/>
              </p:cNvCxnSpPr>
              <p:nvPr/>
            </p:nvCxnSpPr>
            <p:spPr>
              <a:xfrm flipH="1">
                <a:off x="6376084" y="2401696"/>
                <a:ext cx="824113" cy="3538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ight Brace 10"/>
            <p:cNvSpPr/>
            <p:nvPr/>
          </p:nvSpPr>
          <p:spPr>
            <a:xfrm>
              <a:off x="6820930" y="2883243"/>
              <a:ext cx="82378" cy="148075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797629" y="5037098"/>
            <a:ext cx="1979221" cy="1480750"/>
            <a:chOff x="6820930" y="2883243"/>
            <a:chExt cx="1979221" cy="1480750"/>
          </a:xfrm>
        </p:grpSpPr>
        <p:grpSp>
          <p:nvGrpSpPr>
            <p:cNvPr id="15" name="Group 14"/>
            <p:cNvGrpSpPr/>
            <p:nvPr/>
          </p:nvGrpSpPr>
          <p:grpSpPr>
            <a:xfrm>
              <a:off x="6903308" y="2946613"/>
              <a:ext cx="1896843" cy="677005"/>
              <a:chOff x="6376084" y="2078530"/>
              <a:chExt cx="1896843" cy="67700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7200197" y="2078530"/>
                <a:ext cx="1072730" cy="646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open and</a:t>
                </a:r>
                <a:br>
                  <a:rPr lang="en-US" dirty="0"/>
                </a:br>
                <a:r>
                  <a:rPr lang="en-US" i="1" dirty="0"/>
                  <a:t>close</a:t>
                </a:r>
                <a:r>
                  <a:rPr lang="en-US" dirty="0"/>
                  <a:t> file!</a:t>
                </a:r>
              </a:p>
            </p:txBody>
          </p:sp>
          <p:cxnSp>
            <p:nvCxnSpPr>
              <p:cNvPr id="18" name="Straight Arrow Connector 17"/>
              <p:cNvCxnSpPr>
                <a:stCxn id="17" idx="1"/>
                <a:endCxn id="16" idx="1"/>
              </p:cNvCxnSpPr>
              <p:nvPr/>
            </p:nvCxnSpPr>
            <p:spPr>
              <a:xfrm flipH="1">
                <a:off x="6376084" y="2401696"/>
                <a:ext cx="824113" cy="3538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ight Brace 15"/>
            <p:cNvSpPr/>
            <p:nvPr/>
          </p:nvSpPr>
          <p:spPr>
            <a:xfrm>
              <a:off x="6820930" y="2883243"/>
              <a:ext cx="82378" cy="148075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814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from/writing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133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23618" y="2439544"/>
            <a:ext cx="4670937" cy="37856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&lt;sstream&gt;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#include &lt;vector&gt;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vector&lt;double&gt; data;</a:t>
            </a:r>
            <a:endParaRPr lang="nn-NO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string line;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getline(cin, line);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stringstream str(line);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double item {0.0};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str &gt;&gt; item;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data.push_back(item);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char sep;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while ((sep = str.get()) != -1) {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str &gt;&gt; item;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    data.push_back(item);</a:t>
            </a:r>
          </a:p>
          <a:p>
            <a:r>
              <a:rPr lang="nn-NO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118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CA6C-0DCA-46F3-9A92-97AE726A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9744-0082-44AA-843F-39BB77609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4, B. </a:t>
            </a:r>
            <a:r>
              <a:rPr lang="en-US" dirty="0" err="1"/>
              <a:t>Stroustrup</a:t>
            </a:r>
            <a:r>
              <a:rPr lang="en-US" dirty="0"/>
              <a:t> "A tour of C++“</a:t>
            </a:r>
          </a:p>
          <a:p>
            <a:r>
              <a:rPr lang="en-US" sz="1800" dirty="0">
                <a:hlinkClick r:id="rId2"/>
              </a:rPr>
              <a:t>https://github.com/gjbex/Scientific-C-plus-plus/tree/master/source-code/Pointers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AAC5A-5799-444B-AF17-2FAB4225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0098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D5D6-3D1F-4C21-9DCA-CF1BD6C0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9F773-CAC7-435D-B458-7A51C92D5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data is stored in volatile RAM (Random Access Memory)</a:t>
            </a:r>
          </a:p>
          <a:p>
            <a:r>
              <a:rPr lang="en-US" dirty="0"/>
              <a:t>RAM </a:t>
            </a:r>
            <a:r>
              <a:rPr lang="en-US" dirty="0">
                <a:sym typeface="Symbol" panose="05050102010706020507" pitchFamily="18" charset="2"/>
              </a:rPr>
              <a:t> sequence of bytes</a:t>
            </a:r>
          </a:p>
          <a:p>
            <a:r>
              <a:rPr lang="en-US" dirty="0">
                <a:sym typeface="Symbol" panose="05050102010706020507" pitchFamily="18" charset="2"/>
              </a:rPr>
              <a:t>Value of variable = sequences of bytes in RAM</a:t>
            </a:r>
          </a:p>
          <a:p>
            <a:r>
              <a:rPr lang="en-US" dirty="0">
                <a:sym typeface="Symbol" panose="05050102010706020507" pitchFamily="18" charset="2"/>
              </a:rPr>
              <a:t>(Value of) variable has address</a:t>
            </a:r>
            <a:endParaRPr lang="en-BE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2BCDBC-FAA3-443E-9775-ADC6E6031800}"/>
              </a:ext>
            </a:extLst>
          </p:cNvPr>
          <p:cNvGrpSpPr/>
          <p:nvPr/>
        </p:nvGrpSpPr>
        <p:grpSpPr>
          <a:xfrm>
            <a:off x="1234439" y="5059173"/>
            <a:ext cx="7132739" cy="461665"/>
            <a:chOff x="2028305" y="4555376"/>
            <a:chExt cx="9510318" cy="61555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38CD00-C0A7-4CBC-92F2-36408B71714C}"/>
                </a:ext>
              </a:extLst>
            </p:cNvPr>
            <p:cNvGrpSpPr/>
            <p:nvPr/>
          </p:nvGrpSpPr>
          <p:grpSpPr>
            <a:xfrm>
              <a:off x="2028305" y="4621876"/>
              <a:ext cx="8138160" cy="540328"/>
              <a:chOff x="2028305" y="4621876"/>
              <a:chExt cx="8138160" cy="54032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FEA42AD-C4DE-4954-A312-64804A8D239D}"/>
                  </a:ext>
                </a:extLst>
              </p:cNvPr>
              <p:cNvSpPr/>
              <p:nvPr/>
            </p:nvSpPr>
            <p:spPr>
              <a:xfrm>
                <a:off x="2028305" y="4621876"/>
                <a:ext cx="8138160" cy="540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23E8AD-1D04-49C3-B753-4F612055E2EC}"/>
                  </a:ext>
                </a:extLst>
              </p:cNvPr>
              <p:cNvSpPr txBox="1"/>
              <p:nvPr/>
            </p:nvSpPr>
            <p:spPr>
              <a:xfrm>
                <a:off x="2482734" y="4649183"/>
                <a:ext cx="40652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…</a:t>
                </a:r>
                <a:endParaRPr lang="en-BE" sz="1350" dirty="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36C5741-2806-4F5D-928F-C69A75FC1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1964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B3FCF00-5D17-4966-8EAC-B55B93BF8E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8937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0C7D5C-A958-462A-8445-049B75A1E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5910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6EF6730-7D0D-45CC-9C12-4047A41A3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2883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3E7052F-40F1-48C1-AF1A-3AF5CD4B6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9856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CF6251A-3328-4678-8B52-53185F174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6829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BD313B5-C2F2-4D1D-B1C8-4D2E3E747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3802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DA9FE46-5313-4A09-899E-3FC916510E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0775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8F46F8F-6EEC-44D4-A742-434C3074B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746" y="4621876"/>
                <a:ext cx="0" cy="5403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EC684C-5599-4E91-ADF3-46FBB6943293}"/>
                  </a:ext>
                </a:extLst>
              </p:cNvPr>
              <p:cNvSpPr txBox="1"/>
              <p:nvPr/>
            </p:nvSpPr>
            <p:spPr>
              <a:xfrm>
                <a:off x="9450881" y="4659281"/>
                <a:ext cx="40652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…</a:t>
                </a:r>
                <a:endParaRPr lang="en-BE" sz="1350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1141E8-96C2-4802-A4F4-D39213C46F26}"/>
                </a:ext>
              </a:extLst>
            </p:cNvPr>
            <p:cNvSpPr txBox="1"/>
            <p:nvPr/>
          </p:nvSpPr>
          <p:spPr>
            <a:xfrm>
              <a:off x="10482350" y="4555376"/>
              <a:ext cx="105627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RAM</a:t>
              </a:r>
              <a:endParaRPr lang="en-BE" sz="24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B7103BD-28A9-411B-A9F8-D0B2617D99CD}"/>
              </a:ext>
            </a:extLst>
          </p:cNvPr>
          <p:cNvSpPr txBox="1"/>
          <p:nvPr/>
        </p:nvSpPr>
        <p:spPr>
          <a:xfrm>
            <a:off x="1119245" y="4352741"/>
            <a:ext cx="1747594" cy="5078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{5};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float f {3.9f};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571316-0956-4F03-84DE-5EA6423FA28C}"/>
              </a:ext>
            </a:extLst>
          </p:cNvPr>
          <p:cNvGrpSpPr/>
          <p:nvPr/>
        </p:nvGrpSpPr>
        <p:grpSpPr>
          <a:xfrm>
            <a:off x="2144685" y="5173168"/>
            <a:ext cx="2150920" cy="1009038"/>
            <a:chOff x="2859579" y="5098071"/>
            <a:chExt cx="2867893" cy="134538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1FD8425-7B9A-4F8D-8AD6-2DB7CA18B4B0}"/>
                </a:ext>
              </a:extLst>
            </p:cNvPr>
            <p:cNvGrpSpPr/>
            <p:nvPr/>
          </p:nvGrpSpPr>
          <p:grpSpPr>
            <a:xfrm>
              <a:off x="2859579" y="5692493"/>
              <a:ext cx="2867893" cy="750963"/>
              <a:chOff x="2859579" y="6074879"/>
              <a:chExt cx="2867893" cy="750963"/>
            </a:xfrm>
          </p:grpSpPr>
          <p:sp>
            <p:nvSpPr>
              <p:cNvPr id="22" name="Left Brace 21">
                <a:extLst>
                  <a:ext uri="{FF2B5EF4-FFF2-40B4-BE49-F238E27FC236}">
                    <a16:creationId xmlns:a16="http://schemas.microsoft.com/office/drawing/2014/main" id="{4D626CFF-B356-4191-BA09-7F7F1C19117F}"/>
                  </a:ext>
                </a:extLst>
              </p:cNvPr>
              <p:cNvSpPr/>
              <p:nvPr/>
            </p:nvSpPr>
            <p:spPr>
              <a:xfrm rot="16200000">
                <a:off x="4179581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B086EF-6BCB-4F4F-9CC5-77AB2776F316}"/>
                  </a:ext>
                </a:extLst>
              </p:cNvPr>
              <p:cNvSpPr txBox="1"/>
              <p:nvPr/>
            </p:nvSpPr>
            <p:spPr>
              <a:xfrm>
                <a:off x="4137872" y="6425732"/>
                <a:ext cx="3851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endParaRPr lang="en-BE" sz="135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2C2B26F-8943-4F6A-8281-4E7BE3971D02}"/>
                </a:ext>
              </a:extLst>
            </p:cNvPr>
            <p:cNvSpPr txBox="1"/>
            <p:nvPr/>
          </p:nvSpPr>
          <p:spPr>
            <a:xfrm>
              <a:off x="3050579" y="5098071"/>
              <a:ext cx="2477382" cy="4001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5</a:t>
              </a:r>
              <a:endParaRPr lang="en-BE" sz="13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415E15-C0FB-4620-B7F2-03F5BAC688D3}"/>
              </a:ext>
            </a:extLst>
          </p:cNvPr>
          <p:cNvGrpSpPr/>
          <p:nvPr/>
        </p:nvGrpSpPr>
        <p:grpSpPr>
          <a:xfrm>
            <a:off x="4295603" y="5173168"/>
            <a:ext cx="2150920" cy="1009038"/>
            <a:chOff x="5727470" y="5098071"/>
            <a:chExt cx="2867893" cy="134538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B215B1-4528-4877-85ED-F92B0F380307}"/>
                </a:ext>
              </a:extLst>
            </p:cNvPr>
            <p:cNvGrpSpPr/>
            <p:nvPr/>
          </p:nvGrpSpPr>
          <p:grpSpPr>
            <a:xfrm>
              <a:off x="5727470" y="5692493"/>
              <a:ext cx="2867893" cy="750963"/>
              <a:chOff x="5727470" y="6074879"/>
              <a:chExt cx="2867893" cy="750963"/>
            </a:xfrm>
          </p:grpSpPr>
          <p:sp>
            <p:nvSpPr>
              <p:cNvPr id="23" name="Left Brace 22">
                <a:extLst>
                  <a:ext uri="{FF2B5EF4-FFF2-40B4-BE49-F238E27FC236}">
                    <a16:creationId xmlns:a16="http://schemas.microsoft.com/office/drawing/2014/main" id="{635A07E5-9396-4ACA-B54C-35E2F4D32AB2}"/>
                  </a:ext>
                </a:extLst>
              </p:cNvPr>
              <p:cNvSpPr/>
              <p:nvPr/>
            </p:nvSpPr>
            <p:spPr>
              <a:xfrm rot="16200000">
                <a:off x="7047472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4B7C32-1F1A-499E-AC5A-22582D90AC33}"/>
                  </a:ext>
                </a:extLst>
              </p:cNvPr>
              <p:cNvSpPr txBox="1"/>
              <p:nvPr/>
            </p:nvSpPr>
            <p:spPr>
              <a:xfrm>
                <a:off x="7005765" y="6425732"/>
                <a:ext cx="3851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BE" sz="135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00E619B-56EF-45ED-870B-51AF766350CA}"/>
                </a:ext>
              </a:extLst>
            </p:cNvPr>
            <p:cNvSpPr txBox="1"/>
            <p:nvPr/>
          </p:nvSpPr>
          <p:spPr>
            <a:xfrm>
              <a:off x="5928961" y="5098071"/>
              <a:ext cx="2477382" cy="4001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3.9</a:t>
              </a:r>
              <a:endParaRPr lang="en-BE" sz="1350" dirty="0"/>
            </a:p>
          </p:txBody>
        </p:sp>
      </p:grp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CA970DD9-27A2-4B70-9F2E-56046455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3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9E36-9466-4A56-A7FD-84EEB54A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29DC-8DF7-4659-B9C2-ECD58F0F4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Get address: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/>
              <a:t> operator</a:t>
            </a:r>
          </a:p>
          <a:p>
            <a:r>
              <a:rPr lang="en-US" dirty="0"/>
              <a:t>Assign to "address" variable = pointer</a:t>
            </a:r>
          </a:p>
          <a:p>
            <a:pPr lvl="1"/>
            <a:r>
              <a:rPr lang="en-US" dirty="0"/>
              <a:t>address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pointer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pPr lvl="1"/>
            <a:r>
              <a:rPr lang="en-US" dirty="0"/>
              <a:t>address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pointer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float*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Semantics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dirty="0"/>
              <a:t>: address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value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</a:t>
            </a:r>
            <a:r>
              <a:rPr lang="en-US" dirty="0"/>
              <a:t>: address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value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76682-A565-4E62-AA58-47BBCFAAA70B}"/>
              </a:ext>
            </a:extLst>
          </p:cNvPr>
          <p:cNvSpPr txBox="1"/>
          <p:nvPr/>
        </p:nvSpPr>
        <p:spPr>
          <a:xfrm>
            <a:off x="276361" y="4421453"/>
            <a:ext cx="1851789" cy="5078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{&amp;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float*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{&amp;f};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04CCF9-589F-42B1-90E1-F66AD6D2291D}"/>
              </a:ext>
            </a:extLst>
          </p:cNvPr>
          <p:cNvGrpSpPr/>
          <p:nvPr/>
        </p:nvGrpSpPr>
        <p:grpSpPr>
          <a:xfrm>
            <a:off x="1723291" y="3870432"/>
            <a:ext cx="7132739" cy="1123038"/>
            <a:chOff x="1828799" y="3642433"/>
            <a:chExt cx="9510318" cy="14973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E07B84-D3D9-47D4-B62B-BA21117B4F69}"/>
                </a:ext>
              </a:extLst>
            </p:cNvPr>
            <p:cNvGrpSpPr/>
            <p:nvPr/>
          </p:nvGrpSpPr>
          <p:grpSpPr>
            <a:xfrm>
              <a:off x="1828799" y="3642433"/>
              <a:ext cx="9510318" cy="615553"/>
              <a:chOff x="2028305" y="4555376"/>
              <a:chExt cx="9510318" cy="61555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8593E33-862B-42E0-A8B6-AF4E14143F47}"/>
                  </a:ext>
                </a:extLst>
              </p:cNvPr>
              <p:cNvGrpSpPr/>
              <p:nvPr/>
            </p:nvGrpSpPr>
            <p:grpSpPr>
              <a:xfrm>
                <a:off x="2028305" y="4621876"/>
                <a:ext cx="8138160" cy="540328"/>
                <a:chOff x="2028305" y="4621876"/>
                <a:chExt cx="8138160" cy="540328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979FB0C0-4F15-408E-9107-28D45B9D4279}"/>
                    </a:ext>
                  </a:extLst>
                </p:cNvPr>
                <p:cNvSpPr/>
                <p:nvPr/>
              </p:nvSpPr>
              <p:spPr>
                <a:xfrm>
                  <a:off x="2028305" y="4621876"/>
                  <a:ext cx="8138160" cy="54032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sz="135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55CCE26-D939-4075-9CBA-FB2C4758FD30}"/>
                    </a:ext>
                  </a:extLst>
                </p:cNvPr>
                <p:cNvSpPr txBox="1"/>
                <p:nvPr/>
              </p:nvSpPr>
              <p:spPr>
                <a:xfrm>
                  <a:off x="2482734" y="4649183"/>
                  <a:ext cx="40652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50" dirty="0"/>
                    <a:t>…</a:t>
                  </a:r>
                  <a:endParaRPr lang="en-BE" sz="1350" dirty="0"/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82FBDB7C-239E-4511-B004-8697986E75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1964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B6B646DE-ABD1-47B8-B521-6EDF3CAFBF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8937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373C7792-6265-4075-BBD5-8D4A9C5AC8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75910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BD7BFAD0-4FAF-4E74-9564-721FE4AFFE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2883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C1B1A790-8E80-424D-9760-69B686F4E8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9856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BE6E8F-8370-483A-BF96-1C383615B2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26829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7CBDF58-5C35-40E9-AEE1-F03EC86627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43802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2B1A689-2025-44D6-9195-4DC668488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60775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82CAAA04-EC57-49EA-9727-E2018C9A7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7746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DE67CD1-7519-4BC3-956A-28FB2516623D}"/>
                    </a:ext>
                  </a:extLst>
                </p:cNvPr>
                <p:cNvSpPr txBox="1"/>
                <p:nvPr/>
              </p:nvSpPr>
              <p:spPr>
                <a:xfrm>
                  <a:off x="9450881" y="4659281"/>
                  <a:ext cx="40652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50" dirty="0"/>
                    <a:t>…</a:t>
                  </a:r>
                  <a:endParaRPr lang="en-BE" sz="1350" dirty="0"/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20FEA2-1939-484D-8B65-DDE37A3451B6}"/>
                  </a:ext>
                </a:extLst>
              </p:cNvPr>
              <p:cNvSpPr txBox="1"/>
              <p:nvPr/>
            </p:nvSpPr>
            <p:spPr>
              <a:xfrm>
                <a:off x="10482350" y="4555376"/>
                <a:ext cx="1056273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RAM</a:t>
                </a:r>
                <a:endParaRPr lang="en-BE" sz="24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2757B5-3AF2-446F-B5D1-CA5D7895FA15}"/>
                </a:ext>
              </a:extLst>
            </p:cNvPr>
            <p:cNvGrpSpPr/>
            <p:nvPr/>
          </p:nvGrpSpPr>
          <p:grpSpPr>
            <a:xfrm>
              <a:off x="3042459" y="4388853"/>
              <a:ext cx="2867893" cy="750963"/>
              <a:chOff x="2859579" y="6074879"/>
              <a:chExt cx="2867893" cy="750963"/>
            </a:xfrm>
          </p:grpSpPr>
          <p:sp>
            <p:nvSpPr>
              <p:cNvPr id="21" name="Left Brace 20">
                <a:extLst>
                  <a:ext uri="{FF2B5EF4-FFF2-40B4-BE49-F238E27FC236}">
                    <a16:creationId xmlns:a16="http://schemas.microsoft.com/office/drawing/2014/main" id="{1659640C-B328-49D1-970E-AA11B74FE4CB}"/>
                  </a:ext>
                </a:extLst>
              </p:cNvPr>
              <p:cNvSpPr/>
              <p:nvPr/>
            </p:nvSpPr>
            <p:spPr>
              <a:xfrm rot="16200000">
                <a:off x="4179581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9202B9E-B16A-4A3F-A0E0-94CF451587CD}"/>
                  </a:ext>
                </a:extLst>
              </p:cNvPr>
              <p:cNvSpPr txBox="1"/>
              <p:nvPr/>
            </p:nvSpPr>
            <p:spPr>
              <a:xfrm>
                <a:off x="4137872" y="6425733"/>
                <a:ext cx="37232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 err="1">
                    <a:latin typeface="Consolas" panose="020B0609020204030204" pitchFamily="49" charset="0"/>
                  </a:rPr>
                  <a:t>i</a:t>
                </a:r>
                <a:endParaRPr lang="en-BE" sz="1350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BB9A91C-3773-419D-910F-40ECD7EE6063}"/>
                </a:ext>
              </a:extLst>
            </p:cNvPr>
            <p:cNvGrpSpPr/>
            <p:nvPr/>
          </p:nvGrpSpPr>
          <p:grpSpPr>
            <a:xfrm>
              <a:off x="5910350" y="4388853"/>
              <a:ext cx="2867893" cy="750963"/>
              <a:chOff x="5727470" y="6074879"/>
              <a:chExt cx="2867893" cy="750963"/>
            </a:xfrm>
          </p:grpSpPr>
          <p:sp>
            <p:nvSpPr>
              <p:cNvPr id="24" name="Left Brace 23">
                <a:extLst>
                  <a:ext uri="{FF2B5EF4-FFF2-40B4-BE49-F238E27FC236}">
                    <a16:creationId xmlns:a16="http://schemas.microsoft.com/office/drawing/2014/main" id="{4D4FEB9B-C743-46B7-B105-3C30502D0028}"/>
                  </a:ext>
                </a:extLst>
              </p:cNvPr>
              <p:cNvSpPr/>
              <p:nvPr/>
            </p:nvSpPr>
            <p:spPr>
              <a:xfrm rot="16200000">
                <a:off x="7047472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73B80C-436F-490C-B720-B0FFE98AF0D2}"/>
                  </a:ext>
                </a:extLst>
              </p:cNvPr>
              <p:cNvSpPr txBox="1"/>
              <p:nvPr/>
            </p:nvSpPr>
            <p:spPr>
              <a:xfrm>
                <a:off x="7005765" y="6425733"/>
                <a:ext cx="37232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>
                    <a:latin typeface="Consolas" panose="020B0609020204030204" pitchFamily="49" charset="0"/>
                  </a:rPr>
                  <a:t>f</a:t>
                </a:r>
                <a:endParaRPr lang="en-BE" sz="135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EF69A9-A987-471C-ADA9-12963E86179D}"/>
                </a:ext>
              </a:extLst>
            </p:cNvPr>
            <p:cNvSpPr txBox="1"/>
            <p:nvPr/>
          </p:nvSpPr>
          <p:spPr>
            <a:xfrm>
              <a:off x="3233459" y="3794432"/>
              <a:ext cx="2477382" cy="4001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5</a:t>
              </a:r>
              <a:endParaRPr lang="en-BE" sz="135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1E807D-E1AF-48F9-ABEA-3E65BAB334A0}"/>
                </a:ext>
              </a:extLst>
            </p:cNvPr>
            <p:cNvSpPr txBox="1"/>
            <p:nvPr/>
          </p:nvSpPr>
          <p:spPr>
            <a:xfrm>
              <a:off x="6111840" y="3794432"/>
              <a:ext cx="2477382" cy="4001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3.9</a:t>
              </a:r>
              <a:endParaRPr lang="en-BE" sz="13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F27D17-639C-4195-997A-7BE10BFFDBA4}"/>
              </a:ext>
            </a:extLst>
          </p:cNvPr>
          <p:cNvGrpSpPr/>
          <p:nvPr/>
        </p:nvGrpSpPr>
        <p:grpSpPr>
          <a:xfrm>
            <a:off x="2651713" y="4338022"/>
            <a:ext cx="497252" cy="793946"/>
            <a:chOff x="3233459" y="4265889"/>
            <a:chExt cx="663002" cy="10585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7FB202-ACEA-4237-95C1-99E1494D4577}"/>
                </a:ext>
              </a:extLst>
            </p:cNvPr>
            <p:cNvSpPr txBox="1"/>
            <p:nvPr/>
          </p:nvSpPr>
          <p:spPr>
            <a:xfrm>
              <a:off x="3233459" y="4924375"/>
              <a:ext cx="663002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p_i</a:t>
              </a:r>
              <a:endParaRPr lang="en-BE" sz="13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2F82A60-A41B-4BB1-B852-FAE15AB015D3}"/>
                </a:ext>
              </a:extLst>
            </p:cNvPr>
            <p:cNvCxnSpPr>
              <a:stCxn id="28" idx="0"/>
            </p:cNvCxnSpPr>
            <p:nvPr/>
          </p:nvCxnSpPr>
          <p:spPr>
            <a:xfrm flipH="1" flipV="1">
              <a:off x="3507972" y="4265889"/>
              <a:ext cx="56988" cy="6584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BFB3E4-B835-4F1B-A585-6A69E382C00D}"/>
              </a:ext>
            </a:extLst>
          </p:cNvPr>
          <p:cNvGrpSpPr/>
          <p:nvPr/>
        </p:nvGrpSpPr>
        <p:grpSpPr>
          <a:xfrm>
            <a:off x="4864459" y="4338022"/>
            <a:ext cx="497252" cy="793946"/>
            <a:chOff x="3233459" y="4265889"/>
            <a:chExt cx="663002" cy="105859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B415F8-C71C-4F34-B063-F554E21E58ED}"/>
                </a:ext>
              </a:extLst>
            </p:cNvPr>
            <p:cNvSpPr txBox="1"/>
            <p:nvPr/>
          </p:nvSpPr>
          <p:spPr>
            <a:xfrm>
              <a:off x="3233459" y="4924375"/>
              <a:ext cx="663002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p_f</a:t>
              </a:r>
              <a:endParaRPr lang="en-BE" sz="13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02CCE58-15E7-4F43-93C7-4FDAB6639B69}"/>
                </a:ext>
              </a:extLst>
            </p:cNvPr>
            <p:cNvCxnSpPr>
              <a:stCxn id="33" idx="0"/>
            </p:cNvCxnSpPr>
            <p:nvPr/>
          </p:nvCxnSpPr>
          <p:spPr>
            <a:xfrm flipH="1" flipV="1">
              <a:off x="3507975" y="4265889"/>
              <a:ext cx="56985" cy="6584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2E5F9363-32F0-4F72-A1DC-150F8D7D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9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44BCB498-6F44-4AD5-9E77-E089F9F4AC94}"/>
              </a:ext>
            </a:extLst>
          </p:cNvPr>
          <p:cNvGrpSpPr/>
          <p:nvPr/>
        </p:nvGrpSpPr>
        <p:grpSpPr>
          <a:xfrm>
            <a:off x="1234439" y="5297208"/>
            <a:ext cx="7132739" cy="1123038"/>
            <a:chOff x="1645919" y="5286899"/>
            <a:chExt cx="9510318" cy="14973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95E984-1EAA-459A-BB91-623F8F811AFE}"/>
                </a:ext>
              </a:extLst>
            </p:cNvPr>
            <p:cNvGrpSpPr/>
            <p:nvPr/>
          </p:nvGrpSpPr>
          <p:grpSpPr>
            <a:xfrm>
              <a:off x="1645919" y="5286899"/>
              <a:ext cx="9510318" cy="615553"/>
              <a:chOff x="2028305" y="4555376"/>
              <a:chExt cx="9510318" cy="61555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CA2C457-A5CC-4E7F-8191-61520E31974E}"/>
                  </a:ext>
                </a:extLst>
              </p:cNvPr>
              <p:cNvGrpSpPr/>
              <p:nvPr/>
            </p:nvGrpSpPr>
            <p:grpSpPr>
              <a:xfrm>
                <a:off x="2028305" y="4621876"/>
                <a:ext cx="8138160" cy="540328"/>
                <a:chOff x="2028305" y="4621876"/>
                <a:chExt cx="8138160" cy="540328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615067C-6CC5-4892-A01F-14DFC5138153}"/>
                    </a:ext>
                  </a:extLst>
                </p:cNvPr>
                <p:cNvSpPr/>
                <p:nvPr/>
              </p:nvSpPr>
              <p:spPr>
                <a:xfrm>
                  <a:off x="2028305" y="4621876"/>
                  <a:ext cx="8138160" cy="54032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BE" sz="135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1163C61-0E2B-42B0-8FFB-02853D017A8F}"/>
                    </a:ext>
                  </a:extLst>
                </p:cNvPr>
                <p:cNvSpPr txBox="1"/>
                <p:nvPr/>
              </p:nvSpPr>
              <p:spPr>
                <a:xfrm>
                  <a:off x="2482734" y="4649183"/>
                  <a:ext cx="40652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50" dirty="0"/>
                    <a:t>…</a:t>
                  </a:r>
                  <a:endParaRPr lang="en-BE" sz="1350" dirty="0"/>
                </a:p>
              </p:txBody>
            </p: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2D6A487-D963-49A5-9A8B-F729A85167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1964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F7088D3-4E56-4C2B-B5F5-FC3040E71D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8937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DA2C861-F41A-4BB3-B2FB-D0A3E358E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75910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458CD149-D507-486F-B69D-1B4BAA556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2883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8252535F-7C3A-4AF0-B087-241FCC250B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9856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C797D3C-824A-49E8-BB2F-5D4099220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26829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556C5D5-7104-4864-812E-76DEC660C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43802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EF328EB-C8CF-47C9-90F3-C170803C0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60775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542DD7A-8B55-4703-BBCE-B72D0F6B2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7746" y="4621876"/>
                  <a:ext cx="0" cy="54032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4EA48B4-1349-4044-A385-9C6027D6DDBC}"/>
                    </a:ext>
                  </a:extLst>
                </p:cNvPr>
                <p:cNvSpPr txBox="1"/>
                <p:nvPr/>
              </p:nvSpPr>
              <p:spPr>
                <a:xfrm>
                  <a:off x="9450881" y="4659281"/>
                  <a:ext cx="40652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50" dirty="0"/>
                    <a:t>…</a:t>
                  </a:r>
                  <a:endParaRPr lang="en-BE" sz="135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E53034-D021-4F53-A197-D738664A9BC1}"/>
                  </a:ext>
                </a:extLst>
              </p:cNvPr>
              <p:cNvSpPr txBox="1"/>
              <p:nvPr/>
            </p:nvSpPr>
            <p:spPr>
              <a:xfrm>
                <a:off x="10482350" y="4555376"/>
                <a:ext cx="1056273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RAM</a:t>
                </a:r>
                <a:endParaRPr lang="en-BE" sz="2400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47DC8C0-7C08-46CD-BDC3-840B79190EBB}"/>
                </a:ext>
              </a:extLst>
            </p:cNvPr>
            <p:cNvGrpSpPr/>
            <p:nvPr/>
          </p:nvGrpSpPr>
          <p:grpSpPr>
            <a:xfrm>
              <a:off x="2859579" y="6033319"/>
              <a:ext cx="2867893" cy="750963"/>
              <a:chOff x="2859579" y="6074879"/>
              <a:chExt cx="2867893" cy="750963"/>
            </a:xfrm>
          </p:grpSpPr>
          <p:sp>
            <p:nvSpPr>
              <p:cNvPr id="22" name="Left Brace 21">
                <a:extLst>
                  <a:ext uri="{FF2B5EF4-FFF2-40B4-BE49-F238E27FC236}">
                    <a16:creationId xmlns:a16="http://schemas.microsoft.com/office/drawing/2014/main" id="{28B1B9F1-F447-4C22-893D-98A2044C563D}"/>
                  </a:ext>
                </a:extLst>
              </p:cNvPr>
              <p:cNvSpPr/>
              <p:nvPr/>
            </p:nvSpPr>
            <p:spPr>
              <a:xfrm rot="16200000">
                <a:off x="4179581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2F5010-A534-4DD5-BAE1-3A5946A6F005}"/>
                  </a:ext>
                </a:extLst>
              </p:cNvPr>
              <p:cNvSpPr txBox="1"/>
              <p:nvPr/>
            </p:nvSpPr>
            <p:spPr>
              <a:xfrm>
                <a:off x="4137872" y="6425733"/>
                <a:ext cx="385149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endParaRPr lang="en-BE" sz="135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7D1C155-CE84-4AD5-A41C-C24DC0DAAB86}"/>
                </a:ext>
              </a:extLst>
            </p:cNvPr>
            <p:cNvGrpSpPr/>
            <p:nvPr/>
          </p:nvGrpSpPr>
          <p:grpSpPr>
            <a:xfrm>
              <a:off x="5727470" y="6033319"/>
              <a:ext cx="2867893" cy="750963"/>
              <a:chOff x="5727470" y="6074879"/>
              <a:chExt cx="2867893" cy="750963"/>
            </a:xfrm>
          </p:grpSpPr>
          <p:sp>
            <p:nvSpPr>
              <p:cNvPr id="25" name="Left Brace 24">
                <a:extLst>
                  <a:ext uri="{FF2B5EF4-FFF2-40B4-BE49-F238E27FC236}">
                    <a16:creationId xmlns:a16="http://schemas.microsoft.com/office/drawing/2014/main" id="{5B2BF086-5664-4272-8EE3-15415050FF1D}"/>
                  </a:ext>
                </a:extLst>
              </p:cNvPr>
              <p:cNvSpPr/>
              <p:nvPr/>
            </p:nvSpPr>
            <p:spPr>
              <a:xfrm rot="16200000">
                <a:off x="7047472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10344D-1B47-474A-9C16-D824C7AF04D0}"/>
                  </a:ext>
                </a:extLst>
              </p:cNvPr>
              <p:cNvSpPr txBox="1"/>
              <p:nvPr/>
            </p:nvSpPr>
            <p:spPr>
              <a:xfrm>
                <a:off x="7005765" y="6425733"/>
                <a:ext cx="385149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BE" sz="135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0E82C7-DB12-494D-9D77-64953A69B1A5}"/>
                </a:ext>
              </a:extLst>
            </p:cNvPr>
            <p:cNvSpPr txBox="1"/>
            <p:nvPr/>
          </p:nvSpPr>
          <p:spPr>
            <a:xfrm>
              <a:off x="3050579" y="5438898"/>
              <a:ext cx="2477382" cy="4001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5</a:t>
              </a:r>
              <a:endParaRPr lang="en-BE" sz="13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ADE236-29D8-4523-B23E-DF0BB451BDB4}"/>
                </a:ext>
              </a:extLst>
            </p:cNvPr>
            <p:cNvSpPr txBox="1"/>
            <p:nvPr/>
          </p:nvSpPr>
          <p:spPr>
            <a:xfrm>
              <a:off x="5918685" y="5438898"/>
              <a:ext cx="2477382" cy="4001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3.9</a:t>
              </a:r>
              <a:endParaRPr lang="en-BE" sz="135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A72A3F-CADA-483A-9921-D5A01991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addresses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9B8E-BB26-4C38-934E-D6A9DF399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 at address: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 operator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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p_f</a:t>
            </a:r>
            <a:r>
              <a:rPr lang="en-US" dirty="0">
                <a:sym typeface="Symbol" panose="05050102010706020507" pitchFamily="18" charset="2"/>
              </a:rPr>
              <a:t> 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3.9f</a:t>
            </a:r>
          </a:p>
          <a:p>
            <a:r>
              <a:rPr lang="en-US" dirty="0">
                <a:sym typeface="Symbol" panose="05050102010706020507" pitchFamily="18" charset="2"/>
              </a:rPr>
              <a:t>Use value at address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Assign new value to address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600F6-3A45-4C8D-82E7-2236651571FB}"/>
              </a:ext>
            </a:extLst>
          </p:cNvPr>
          <p:cNvSpPr txBox="1"/>
          <p:nvPr/>
        </p:nvSpPr>
        <p:spPr>
          <a:xfrm>
            <a:off x="969616" y="4635690"/>
            <a:ext cx="1539204" cy="5078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= 7;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*= 2.1f;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FBBC7-CF74-4A2D-9863-53D483412C4A}"/>
              </a:ext>
            </a:extLst>
          </p:cNvPr>
          <p:cNvSpPr txBox="1"/>
          <p:nvPr/>
        </p:nvSpPr>
        <p:spPr>
          <a:xfrm>
            <a:off x="969616" y="3540946"/>
            <a:ext cx="6644768" cy="5078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"value at " &lt;&lt;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= " &lt;&lt; 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std::cos(*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) &lt;&lt; 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E5A58-34F6-4B4A-BDF0-5328F3F11AE7}"/>
              </a:ext>
            </a:extLst>
          </p:cNvPr>
          <p:cNvSpPr txBox="1"/>
          <p:nvPr/>
        </p:nvSpPr>
        <p:spPr>
          <a:xfrm>
            <a:off x="4445072" y="5411204"/>
            <a:ext cx="1858037" cy="3000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8.19</a:t>
            </a:r>
            <a:endParaRPr lang="en-BE" sz="13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B52F2F-974D-4D6D-B576-B42A17292878}"/>
              </a:ext>
            </a:extLst>
          </p:cNvPr>
          <p:cNvSpPr txBox="1"/>
          <p:nvPr/>
        </p:nvSpPr>
        <p:spPr>
          <a:xfrm>
            <a:off x="2294155" y="5411204"/>
            <a:ext cx="1858037" cy="3000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7</a:t>
            </a:r>
            <a:endParaRPr lang="en-BE" sz="1350" dirty="0"/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68032B71-2463-4B57-9948-0BAFDD58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9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29" grpId="0" animBg="1"/>
      <p:bldP spid="3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513C-D2F2-4CB0-8F87-58DD4EA2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step further…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A097-449A-4307-A421-DF4042C0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dirty="0"/>
              <a:t> is variable</a:t>
            </a:r>
          </a:p>
          <a:p>
            <a:pPr lvl="1"/>
            <a:r>
              <a:rPr lang="en-US" dirty="0"/>
              <a:t>value is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Assign address to pointer to pointer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endParaRPr lang="en-US" dirty="0"/>
          </a:p>
          <a:p>
            <a:r>
              <a:rPr lang="en-US" dirty="0"/>
              <a:t>Use address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003B3-79F0-4D74-B808-EEEBD53DE091}"/>
              </a:ext>
            </a:extLst>
          </p:cNvPr>
          <p:cNvSpPr txBox="1"/>
          <p:nvPr/>
        </p:nvSpPr>
        <p:spPr>
          <a:xfrm>
            <a:off x="969616" y="3280826"/>
            <a:ext cx="2060179" cy="300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int**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{&amp;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3B136-7368-4897-83CD-C9D9E9762BA0}"/>
              </a:ext>
            </a:extLst>
          </p:cNvPr>
          <p:cNvSpPr txBox="1"/>
          <p:nvPr/>
        </p:nvSpPr>
        <p:spPr>
          <a:xfrm>
            <a:off x="969616" y="4404540"/>
            <a:ext cx="529023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is at " &lt;&lt;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", 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&lt;&lt; "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is at " &lt;&lt;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", 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&lt;&lt; "value of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is " &lt;&lt; 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", 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&lt;&lt; "value of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is " &lt;&lt; **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pp_i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0A314-D2B8-4B9C-BE3B-CB7B7C9A597A}"/>
              </a:ext>
            </a:extLst>
          </p:cNvPr>
          <p:cNvSpPr txBox="1"/>
          <p:nvPr/>
        </p:nvSpPr>
        <p:spPr>
          <a:xfrm>
            <a:off x="5260589" y="1150372"/>
            <a:ext cx="360707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Fundamental theorem of</a:t>
            </a:r>
            <a:br>
              <a:rPr lang="en-US" dirty="0"/>
            </a:br>
            <a:r>
              <a:rPr lang="en-US" dirty="0"/>
              <a:t>software engineering:</a:t>
            </a:r>
          </a:p>
          <a:p>
            <a:r>
              <a:rPr lang="en-US" dirty="0">
                <a:latin typeface="Informal Roman" panose="030604020304060B0204" pitchFamily="66" charset="0"/>
              </a:rPr>
              <a:t>We can solve any problem by introducing</a:t>
            </a:r>
            <a:br>
              <a:rPr lang="en-US" dirty="0">
                <a:latin typeface="Informal Roman" panose="030604020304060B0204" pitchFamily="66" charset="0"/>
              </a:rPr>
            </a:br>
            <a:r>
              <a:rPr lang="en-US" dirty="0">
                <a:latin typeface="Informal Roman" panose="030604020304060B0204" pitchFamily="66" charset="0"/>
              </a:rPr>
              <a:t>an extra level of redirection.</a:t>
            </a:r>
          </a:p>
          <a:p>
            <a:pPr algn="r"/>
            <a:r>
              <a:rPr lang="en-US" dirty="0"/>
              <a:t>David J. Wheeler</a:t>
            </a:r>
            <a:endParaRPr lang="en-B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1D35B7-0966-4471-A2D6-E3555B9DF71D}"/>
              </a:ext>
            </a:extLst>
          </p:cNvPr>
          <p:cNvGrpSpPr/>
          <p:nvPr/>
        </p:nvGrpSpPr>
        <p:grpSpPr>
          <a:xfrm>
            <a:off x="4866968" y="3789486"/>
            <a:ext cx="2060495" cy="1048979"/>
            <a:chOff x="6489290" y="3429000"/>
            <a:chExt cx="2747327" cy="13986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815434-1B88-4795-9AB0-00278E307C27}"/>
                </a:ext>
              </a:extLst>
            </p:cNvPr>
            <p:cNvSpPr txBox="1"/>
            <p:nvPr/>
          </p:nvSpPr>
          <p:spPr>
            <a:xfrm>
              <a:off x="7973962" y="3429000"/>
              <a:ext cx="1262655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indirection</a:t>
              </a:r>
              <a:endParaRPr lang="en-BE" sz="135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75CC36D-7D9F-4F66-B147-588935810510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6489290" y="3629055"/>
              <a:ext cx="1484672" cy="119858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CD9F8-1888-4A5E-9959-A253162A92E1}"/>
              </a:ext>
            </a:extLst>
          </p:cNvPr>
          <p:cNvGrpSpPr/>
          <p:nvPr/>
        </p:nvGrpSpPr>
        <p:grpSpPr>
          <a:xfrm>
            <a:off x="4667865" y="5324695"/>
            <a:ext cx="2773506" cy="650048"/>
            <a:chOff x="6371713" y="3292367"/>
            <a:chExt cx="3698008" cy="8667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A1CB93-DC81-4E18-97DB-3CE4D8C931E0}"/>
                </a:ext>
              </a:extLst>
            </p:cNvPr>
            <p:cNvSpPr txBox="1"/>
            <p:nvPr/>
          </p:nvSpPr>
          <p:spPr>
            <a:xfrm>
              <a:off x="8099609" y="3758989"/>
              <a:ext cx="1970112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double indirection</a:t>
              </a:r>
              <a:endParaRPr lang="en-BE" sz="135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EFF96B-7DE9-4ABB-B9BB-073E13F08E92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6371713" y="3292367"/>
              <a:ext cx="1727896" cy="66667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5352FDD-5336-479C-85AE-8DA2C201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3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3526-3357-469C-A15A-CFA4AFF5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indirection</a:t>
            </a:r>
            <a:endParaRPr lang="en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2F0A2-2818-46C6-92B2-CC11A23C37BD}"/>
              </a:ext>
            </a:extLst>
          </p:cNvPr>
          <p:cNvSpPr/>
          <p:nvPr/>
        </p:nvSpPr>
        <p:spPr>
          <a:xfrm>
            <a:off x="283947" y="2894155"/>
            <a:ext cx="7574839" cy="405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33B2E-053F-4C38-A1BF-0D9BA4BCF0F5}"/>
              </a:ext>
            </a:extLst>
          </p:cNvPr>
          <p:cNvSpPr txBox="1"/>
          <p:nvPr/>
        </p:nvSpPr>
        <p:spPr>
          <a:xfrm>
            <a:off x="624770" y="2914635"/>
            <a:ext cx="3048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…</a:t>
            </a:r>
            <a:endParaRPr lang="en-BE" sz="1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BB6A68-B607-49F5-843D-EC9BE8BD0498}"/>
              </a:ext>
            </a:extLst>
          </p:cNvPr>
          <p:cNvCxnSpPr>
            <a:cxnSpLocks/>
          </p:cNvCxnSpPr>
          <p:nvPr/>
        </p:nvCxnSpPr>
        <p:spPr>
          <a:xfrm>
            <a:off x="1194192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238C00-C272-4AB4-B975-00F9F7C8B8D8}"/>
              </a:ext>
            </a:extLst>
          </p:cNvPr>
          <p:cNvCxnSpPr>
            <a:cxnSpLocks/>
          </p:cNvCxnSpPr>
          <p:nvPr/>
        </p:nvCxnSpPr>
        <p:spPr>
          <a:xfrm>
            <a:off x="1731922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9AD318-1774-4300-B873-A327E373E0F0}"/>
              </a:ext>
            </a:extLst>
          </p:cNvPr>
          <p:cNvCxnSpPr>
            <a:cxnSpLocks/>
          </p:cNvCxnSpPr>
          <p:nvPr/>
        </p:nvCxnSpPr>
        <p:spPr>
          <a:xfrm>
            <a:off x="2269652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8F328F-9FE1-423C-A801-6444C0B7FE39}"/>
              </a:ext>
            </a:extLst>
          </p:cNvPr>
          <p:cNvCxnSpPr>
            <a:cxnSpLocks/>
          </p:cNvCxnSpPr>
          <p:nvPr/>
        </p:nvCxnSpPr>
        <p:spPr>
          <a:xfrm>
            <a:off x="2807381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CD35B7-57D2-4CE6-B5FA-24550D93ECAC}"/>
              </a:ext>
            </a:extLst>
          </p:cNvPr>
          <p:cNvCxnSpPr>
            <a:cxnSpLocks/>
          </p:cNvCxnSpPr>
          <p:nvPr/>
        </p:nvCxnSpPr>
        <p:spPr>
          <a:xfrm>
            <a:off x="3345111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FCC2F7-92BB-4D01-8065-1A1AE8A0BB36}"/>
              </a:ext>
            </a:extLst>
          </p:cNvPr>
          <p:cNvCxnSpPr>
            <a:cxnSpLocks/>
          </p:cNvCxnSpPr>
          <p:nvPr/>
        </p:nvCxnSpPr>
        <p:spPr>
          <a:xfrm>
            <a:off x="5371507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222113-99BC-46C4-B4E6-182E7466A8EA}"/>
              </a:ext>
            </a:extLst>
          </p:cNvPr>
          <p:cNvCxnSpPr>
            <a:cxnSpLocks/>
          </p:cNvCxnSpPr>
          <p:nvPr/>
        </p:nvCxnSpPr>
        <p:spPr>
          <a:xfrm>
            <a:off x="5919377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8DFA32-2E1D-4506-B59C-75ADC2C445A9}"/>
              </a:ext>
            </a:extLst>
          </p:cNvPr>
          <p:cNvCxnSpPr>
            <a:cxnSpLocks/>
          </p:cNvCxnSpPr>
          <p:nvPr/>
        </p:nvCxnSpPr>
        <p:spPr>
          <a:xfrm>
            <a:off x="6467246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E925B3-F2F6-4F2E-9346-10B57C6F74CA}"/>
              </a:ext>
            </a:extLst>
          </p:cNvPr>
          <p:cNvCxnSpPr>
            <a:cxnSpLocks/>
          </p:cNvCxnSpPr>
          <p:nvPr/>
        </p:nvCxnSpPr>
        <p:spPr>
          <a:xfrm>
            <a:off x="7015115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D74664-C502-4DB3-B664-197AFC071C9A}"/>
              </a:ext>
            </a:extLst>
          </p:cNvPr>
          <p:cNvSpPr txBox="1"/>
          <p:nvPr/>
        </p:nvSpPr>
        <p:spPr>
          <a:xfrm>
            <a:off x="7296227" y="2922208"/>
            <a:ext cx="3048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…</a:t>
            </a:r>
            <a:endParaRPr lang="en-BE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09475-3884-406C-960C-14B349BDCF63}"/>
              </a:ext>
            </a:extLst>
          </p:cNvPr>
          <p:cNvSpPr txBox="1"/>
          <p:nvPr/>
        </p:nvSpPr>
        <p:spPr>
          <a:xfrm>
            <a:off x="8202563" y="2844280"/>
            <a:ext cx="79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RAM</a:t>
            </a:r>
            <a:endParaRPr lang="en-BE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6F1269-C4AC-4924-9FFC-34BF288EA1F2}"/>
              </a:ext>
            </a:extLst>
          </p:cNvPr>
          <p:cNvGrpSpPr/>
          <p:nvPr/>
        </p:nvGrpSpPr>
        <p:grpSpPr>
          <a:xfrm>
            <a:off x="1194193" y="3404099"/>
            <a:ext cx="2150920" cy="563223"/>
            <a:chOff x="2859579" y="6074879"/>
            <a:chExt cx="2867893" cy="750963"/>
          </a:xfrm>
        </p:grpSpPr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76D4D9BE-3959-48CC-89AC-CAE5E25D1C57}"/>
                </a:ext>
              </a:extLst>
            </p:cNvPr>
            <p:cNvSpPr/>
            <p:nvPr/>
          </p:nvSpPr>
          <p:spPr>
            <a:xfrm rot="16200000">
              <a:off x="4179581" y="4754877"/>
              <a:ext cx="227890" cy="2867893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 sz="135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F6B2AE-2921-47A5-AA17-BDC81E84738E}"/>
                </a:ext>
              </a:extLst>
            </p:cNvPr>
            <p:cNvSpPr txBox="1"/>
            <p:nvPr/>
          </p:nvSpPr>
          <p:spPr>
            <a:xfrm>
              <a:off x="4137872" y="6425733"/>
              <a:ext cx="38514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endParaRPr lang="en-BE" sz="13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FB2E9AA-574D-4EDB-AFDF-6600BFD39186}"/>
              </a:ext>
            </a:extLst>
          </p:cNvPr>
          <p:cNvSpPr txBox="1"/>
          <p:nvPr/>
        </p:nvSpPr>
        <p:spPr>
          <a:xfrm>
            <a:off x="1337443" y="2958278"/>
            <a:ext cx="1858037" cy="3000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5</a:t>
            </a:r>
            <a:endParaRPr lang="en-BE" sz="135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212963-ABDB-4DB3-B18E-5C558E64497B}"/>
              </a:ext>
            </a:extLst>
          </p:cNvPr>
          <p:cNvGrpSpPr/>
          <p:nvPr/>
        </p:nvGrpSpPr>
        <p:grpSpPr>
          <a:xfrm>
            <a:off x="4849451" y="2958278"/>
            <a:ext cx="2150920" cy="1009038"/>
            <a:chOff x="6578948" y="2801371"/>
            <a:chExt cx="2867893" cy="13453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AC8D7E5-F73A-40F3-BD0E-7129FEEE811B}"/>
                </a:ext>
              </a:extLst>
            </p:cNvPr>
            <p:cNvGrpSpPr/>
            <p:nvPr/>
          </p:nvGrpSpPr>
          <p:grpSpPr>
            <a:xfrm>
              <a:off x="6578948" y="3395793"/>
              <a:ext cx="2867893" cy="750963"/>
              <a:chOff x="5727470" y="6074879"/>
              <a:chExt cx="2867893" cy="750963"/>
            </a:xfrm>
          </p:grpSpPr>
          <p:sp>
            <p:nvSpPr>
              <p:cNvPr id="23" name="Left Brace 22">
                <a:extLst>
                  <a:ext uri="{FF2B5EF4-FFF2-40B4-BE49-F238E27FC236}">
                    <a16:creationId xmlns:a16="http://schemas.microsoft.com/office/drawing/2014/main" id="{E66B83C0-0CC1-4ECA-8971-82A66602F5F6}"/>
                  </a:ext>
                </a:extLst>
              </p:cNvPr>
              <p:cNvSpPr/>
              <p:nvPr/>
            </p:nvSpPr>
            <p:spPr>
              <a:xfrm rot="16200000">
                <a:off x="7047472" y="4754877"/>
                <a:ext cx="227890" cy="286789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FB1230-1F06-477D-B254-78BA16592273}"/>
                  </a:ext>
                </a:extLst>
              </p:cNvPr>
              <p:cNvSpPr txBox="1"/>
              <p:nvPr/>
            </p:nvSpPr>
            <p:spPr>
              <a:xfrm>
                <a:off x="7005765" y="6425732"/>
                <a:ext cx="6630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p_i</a:t>
                </a:r>
                <a:endParaRPr lang="en-BE" sz="135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2ADBFA-FA87-4379-8C4F-A6FAFB622357}"/>
                </a:ext>
              </a:extLst>
            </p:cNvPr>
            <p:cNvSpPr txBox="1"/>
            <p:nvPr/>
          </p:nvSpPr>
          <p:spPr>
            <a:xfrm>
              <a:off x="6760773" y="2801371"/>
              <a:ext cx="2477382" cy="4001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x00074</a:t>
              </a:r>
              <a:endParaRPr lang="en-BE" sz="13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5C3ED7-8588-45B4-B7C8-A5531B0E1F22}"/>
              </a:ext>
            </a:extLst>
          </p:cNvPr>
          <p:cNvGrpSpPr/>
          <p:nvPr/>
        </p:nvGrpSpPr>
        <p:grpSpPr>
          <a:xfrm>
            <a:off x="1256326" y="3311871"/>
            <a:ext cx="497252" cy="793946"/>
            <a:chOff x="3233459" y="4265889"/>
            <a:chExt cx="663002" cy="10585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2494CAD-DBF4-4789-B815-28D393B7CE49}"/>
                </a:ext>
              </a:extLst>
            </p:cNvPr>
            <p:cNvSpPr txBox="1"/>
            <p:nvPr/>
          </p:nvSpPr>
          <p:spPr>
            <a:xfrm>
              <a:off x="3233459" y="4924375"/>
              <a:ext cx="663002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p_i</a:t>
              </a:r>
              <a:endParaRPr lang="en-BE" sz="13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E59E72D-C8F1-45F8-8813-11B7B281DF34}"/>
                </a:ext>
              </a:extLst>
            </p:cNvPr>
            <p:cNvCxnSpPr>
              <a:stCxn id="28" idx="0"/>
            </p:cNvCxnSpPr>
            <p:nvPr/>
          </p:nvCxnSpPr>
          <p:spPr>
            <a:xfrm flipH="1" flipV="1">
              <a:off x="3507972" y="4265889"/>
              <a:ext cx="56988" cy="6584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272EA0-FE62-4347-8504-64BC147D69DE}"/>
              </a:ext>
            </a:extLst>
          </p:cNvPr>
          <p:cNvGrpSpPr/>
          <p:nvPr/>
        </p:nvGrpSpPr>
        <p:grpSpPr>
          <a:xfrm>
            <a:off x="4958951" y="3311871"/>
            <a:ext cx="601447" cy="793946"/>
            <a:chOff x="3233459" y="4265889"/>
            <a:chExt cx="801930" cy="105859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45CC08-5D2F-413D-AF68-2A568976FB43}"/>
                </a:ext>
              </a:extLst>
            </p:cNvPr>
            <p:cNvSpPr txBox="1"/>
            <p:nvPr/>
          </p:nvSpPr>
          <p:spPr>
            <a:xfrm>
              <a:off x="3233459" y="4924375"/>
              <a:ext cx="801930" cy="40010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pp_i</a:t>
              </a:r>
              <a:endParaRPr lang="en-BE" sz="135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45CC72E-0417-4241-99BE-6A50ACCC8A96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H="1" flipV="1">
              <a:off x="3579067" y="4265889"/>
              <a:ext cx="55357" cy="65848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245D03-1085-42A9-BAEC-148D5CE43A71}"/>
              </a:ext>
            </a:extLst>
          </p:cNvPr>
          <p:cNvCxnSpPr>
            <a:cxnSpLocks/>
          </p:cNvCxnSpPr>
          <p:nvPr/>
        </p:nvCxnSpPr>
        <p:spPr>
          <a:xfrm>
            <a:off x="4823637" y="2894155"/>
            <a:ext cx="0" cy="405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AAF6A83-B752-48EE-8C16-96B84E9CFF4C}"/>
              </a:ext>
            </a:extLst>
          </p:cNvPr>
          <p:cNvGrpSpPr/>
          <p:nvPr/>
        </p:nvGrpSpPr>
        <p:grpSpPr>
          <a:xfrm>
            <a:off x="1194191" y="2442702"/>
            <a:ext cx="700833" cy="471934"/>
            <a:chOff x="1705270" y="2113935"/>
            <a:chExt cx="934444" cy="62924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F63A5D-5E9F-440F-9A68-6AE56BA42D5F}"/>
                </a:ext>
              </a:extLst>
            </p:cNvPr>
            <p:cNvSpPr txBox="1"/>
            <p:nvPr/>
          </p:nvSpPr>
          <p:spPr>
            <a:xfrm>
              <a:off x="1705270" y="2153266"/>
              <a:ext cx="9344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x00074</a:t>
              </a:r>
              <a:endParaRPr lang="en-BE" sz="1350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ACB5C7-A228-48A1-8C57-06A9674B6689}"/>
                </a:ext>
              </a:extLst>
            </p:cNvPr>
            <p:cNvCxnSpPr/>
            <p:nvPr/>
          </p:nvCxnSpPr>
          <p:spPr>
            <a:xfrm>
              <a:off x="1705270" y="2113935"/>
              <a:ext cx="0" cy="629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AB68A5-580D-4D26-AC61-526CE7FDA69D}"/>
              </a:ext>
            </a:extLst>
          </p:cNvPr>
          <p:cNvGrpSpPr/>
          <p:nvPr/>
        </p:nvGrpSpPr>
        <p:grpSpPr>
          <a:xfrm>
            <a:off x="4823635" y="2409517"/>
            <a:ext cx="700833" cy="471934"/>
            <a:chOff x="6544530" y="2069689"/>
            <a:chExt cx="934444" cy="62924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1029A7-2911-406D-9BB8-29B2E9A87BBB}"/>
                </a:ext>
              </a:extLst>
            </p:cNvPr>
            <p:cNvSpPr txBox="1"/>
            <p:nvPr/>
          </p:nvSpPr>
          <p:spPr>
            <a:xfrm>
              <a:off x="6544530" y="2109020"/>
              <a:ext cx="9344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x00178</a:t>
              </a:r>
              <a:endParaRPr lang="en-BE" sz="1350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A38780F-4AFC-4562-94F9-AC4A3BB97294}"/>
                </a:ext>
              </a:extLst>
            </p:cNvPr>
            <p:cNvCxnSpPr/>
            <p:nvPr/>
          </p:nvCxnSpPr>
          <p:spPr>
            <a:xfrm>
              <a:off x="6544530" y="2069689"/>
              <a:ext cx="0" cy="6292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1D694C3-C162-482A-9863-D5B196067127}"/>
              </a:ext>
            </a:extLst>
          </p:cNvPr>
          <p:cNvSpPr txBox="1"/>
          <p:nvPr/>
        </p:nvSpPr>
        <p:spPr>
          <a:xfrm>
            <a:off x="3899053" y="2927173"/>
            <a:ext cx="3048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…</a:t>
            </a:r>
            <a:endParaRPr lang="en-BE" sz="1350" dirty="0"/>
          </a:p>
        </p:txBody>
      </p:sp>
      <p:sp>
        <p:nvSpPr>
          <p:cNvPr id="46" name="Slide Number Placeholder 3">
            <a:extLst>
              <a:ext uri="{FF2B5EF4-FFF2-40B4-BE49-F238E27FC236}">
                <a16:creationId xmlns:a16="http://schemas.microsoft.com/office/drawing/2014/main" id="{E4D72AA6-7AFC-437A-9CBE-9876C5C4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98AD-3E5F-4BFF-8CB6-CA52343B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U</a:t>
            </a:r>
            <a:r>
              <a:rPr lang="en-GB" dirty="0"/>
              <a:t>s</a:t>
            </a:r>
            <a:r>
              <a:rPr lang="en-BE" dirty="0" err="1"/>
              <a:t>i</a:t>
            </a:r>
            <a:r>
              <a:rPr lang="en-GB" dirty="0"/>
              <a:t>n</a:t>
            </a:r>
            <a:r>
              <a:rPr lang="en-BE" dirty="0"/>
              <a:t>g </a:t>
            </a:r>
            <a:r>
              <a:rPr lang="en-GB" dirty="0"/>
              <a:t>o</a:t>
            </a:r>
            <a:r>
              <a:rPr lang="en-BE" dirty="0"/>
              <a:t>b</a:t>
            </a:r>
            <a:r>
              <a:rPr lang="en-GB" dirty="0"/>
              <a:t>j</a:t>
            </a:r>
            <a:r>
              <a:rPr lang="en-BE" dirty="0"/>
              <a:t>e</a:t>
            </a:r>
            <a:r>
              <a:rPr lang="en-GB" dirty="0"/>
              <a:t>c</a:t>
            </a:r>
            <a:r>
              <a:rPr lang="en-BE" dirty="0"/>
              <a:t>t </a:t>
            </a:r>
            <a:r>
              <a:rPr lang="en-US" dirty="0"/>
              <a:t>vs.</a:t>
            </a:r>
            <a:r>
              <a:rPr lang="en-BE" dirty="0"/>
              <a:t> pointer to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F4F4-CF6B-4674-BA96-5E2D8DD3D15F}"/>
              </a:ext>
            </a:extLst>
          </p:cNvPr>
          <p:cNvSpPr txBox="1"/>
          <p:nvPr/>
        </p:nvSpPr>
        <p:spPr>
          <a:xfrm>
            <a:off x="1368294" y="2049001"/>
            <a:ext cx="5811206" cy="11310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struct Point {</a:t>
            </a:r>
          </a:p>
          <a:p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x, y;</a:t>
            </a:r>
          </a:p>
          <a:p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Point(double x_, double y_) : x {x_}, y {y_} {}</a:t>
            </a:r>
          </a:p>
          <a:p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print() </a:t>
            </a:r>
            <a:r>
              <a:rPr lang="en-BE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{ std::</a:t>
            </a:r>
            <a:r>
              <a:rPr lang="en-BE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x &lt;&lt; "," &lt;&lt; y; }</a:t>
            </a:r>
          </a:p>
          <a:p>
            <a:r>
              <a:rPr lang="en-BE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B9598E-2C4E-4D71-A667-13FEA7A488E7}"/>
              </a:ext>
            </a:extLst>
          </p:cNvPr>
          <p:cNvGrpSpPr/>
          <p:nvPr/>
        </p:nvGrpSpPr>
        <p:grpSpPr>
          <a:xfrm>
            <a:off x="1079947" y="4573448"/>
            <a:ext cx="4139788" cy="792132"/>
            <a:chOff x="151901" y="4954932"/>
            <a:chExt cx="5519717" cy="10561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B4ACA3-874A-496F-A220-A60C4CCE61C4}"/>
                </a:ext>
              </a:extLst>
            </p:cNvPr>
            <p:cNvSpPr txBox="1"/>
            <p:nvPr/>
          </p:nvSpPr>
          <p:spPr>
            <a:xfrm>
              <a:off x="151901" y="5580222"/>
              <a:ext cx="551971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" dirty="0"/>
                <a:t>d</a:t>
              </a:r>
              <a:r>
                <a:rPr lang="en-BE" sz="1500" dirty="0"/>
                <a:t>o</a:t>
              </a:r>
              <a:r>
                <a:rPr lang="en-GB" sz="1500" dirty="0"/>
                <a:t>t</a:t>
              </a:r>
              <a:r>
                <a:rPr lang="en-BE" sz="1500" dirty="0"/>
                <a:t> operator </a:t>
              </a:r>
              <a:r>
                <a:rPr lang="en-BE" sz="1500" dirty="0">
                  <a:sym typeface="Symbol" panose="05050102010706020507" pitchFamily="18" charset="2"/>
                </a:rPr>
                <a:t></a:t>
              </a:r>
              <a:r>
                <a:rPr lang="en-BE" sz="1500" dirty="0"/>
                <a:t> m</a:t>
              </a:r>
              <a:r>
                <a:rPr lang="en-GB" sz="1500" dirty="0"/>
                <a:t>e</a:t>
              </a:r>
              <a:r>
                <a:rPr lang="en-BE" sz="1500" dirty="0"/>
                <a:t>m</a:t>
              </a:r>
              <a:r>
                <a:rPr lang="en-GB" sz="1500" dirty="0"/>
                <a:t>b</a:t>
              </a:r>
              <a:r>
                <a:rPr lang="en-BE" sz="1500" dirty="0"/>
                <a:t>e</a:t>
              </a:r>
              <a:r>
                <a:rPr lang="en-GB" sz="1500" dirty="0"/>
                <a:t>r</a:t>
              </a:r>
              <a:r>
                <a:rPr lang="en-BE" sz="1500" dirty="0"/>
                <a:t> </a:t>
              </a:r>
              <a:r>
                <a:rPr lang="en-GB" sz="1500" dirty="0"/>
                <a:t>o</a:t>
              </a:r>
              <a:r>
                <a:rPr lang="en-BE" sz="1500" dirty="0"/>
                <a:t>p</a:t>
              </a:r>
              <a:r>
                <a:rPr lang="en-GB" sz="1500" dirty="0"/>
                <a:t>e</a:t>
              </a:r>
              <a:r>
                <a:rPr lang="en-BE" sz="1500" dirty="0"/>
                <a:t>r</a:t>
              </a:r>
              <a:r>
                <a:rPr lang="en-GB" sz="1500" dirty="0"/>
                <a:t>a</a:t>
              </a:r>
              <a:r>
                <a:rPr lang="en-BE" sz="1500" dirty="0"/>
                <a:t>t</a:t>
              </a:r>
              <a:r>
                <a:rPr lang="en-GB" sz="1500" dirty="0"/>
                <a:t>o</a:t>
              </a:r>
              <a:r>
                <a:rPr lang="en-BE" sz="1500" dirty="0"/>
                <a:t>r </a:t>
              </a:r>
              <a:r>
                <a:rPr lang="en-BE" sz="1500" dirty="0">
                  <a:sym typeface="Symbol" panose="05050102010706020507" pitchFamily="18" charset="2"/>
                </a:rPr>
                <a:t></a:t>
              </a:r>
              <a:r>
                <a:rPr lang="en-BE" sz="1500" dirty="0"/>
                <a:t> </a:t>
              </a:r>
              <a:r>
                <a:rPr lang="en-GB" sz="1500" dirty="0"/>
                <a:t>a</a:t>
              </a:r>
              <a:r>
                <a:rPr lang="en-BE" sz="1500" dirty="0"/>
                <a:t>r</a:t>
              </a:r>
              <a:r>
                <a:rPr lang="en-GB" sz="1500" dirty="0"/>
                <a:t>r</a:t>
              </a:r>
              <a:r>
                <a:rPr lang="en-BE" sz="1500" dirty="0"/>
                <a:t>o</a:t>
              </a:r>
              <a:r>
                <a:rPr lang="en-GB" sz="1500" dirty="0"/>
                <a:t>w</a:t>
              </a:r>
              <a:r>
                <a:rPr lang="en-BE" sz="1500" dirty="0"/>
                <a:t> </a:t>
              </a:r>
              <a:r>
                <a:rPr lang="en-GB" sz="1500" dirty="0"/>
                <a:t>o</a:t>
              </a:r>
              <a:r>
                <a:rPr lang="en-BE" sz="1500" dirty="0"/>
                <a:t>p</a:t>
              </a:r>
              <a:r>
                <a:rPr lang="en-GB" sz="1500" dirty="0"/>
                <a:t>e</a:t>
              </a:r>
              <a:r>
                <a:rPr lang="en-BE" sz="1500" dirty="0"/>
                <a:t>r</a:t>
              </a:r>
              <a:r>
                <a:rPr lang="en-GB" sz="1500" dirty="0"/>
                <a:t>a</a:t>
              </a:r>
              <a:r>
                <a:rPr lang="en-BE" sz="1500" dirty="0"/>
                <a:t>t</a:t>
              </a:r>
              <a:r>
                <a:rPr lang="en-GB" sz="1500" dirty="0"/>
                <a:t>o</a:t>
              </a:r>
              <a:r>
                <a:rPr lang="en-BE" sz="1500" dirty="0"/>
                <a:t>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D68FF5-7319-473C-AC64-A2D3C83128A4}"/>
                </a:ext>
              </a:extLst>
            </p:cNvPr>
            <p:cNvCxnSpPr/>
            <p:nvPr/>
          </p:nvCxnSpPr>
          <p:spPr>
            <a:xfrm flipV="1">
              <a:off x="707298" y="4954932"/>
              <a:ext cx="81742" cy="5855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5F38884-ACAD-4213-85DD-007C9D6EAC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4245" y="4976824"/>
              <a:ext cx="358253" cy="6033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32FB3E-BFB3-4A52-AB33-AAB54008959F}"/>
              </a:ext>
            </a:extLst>
          </p:cNvPr>
          <p:cNvGrpSpPr/>
          <p:nvPr/>
        </p:nvGrpSpPr>
        <p:grpSpPr>
          <a:xfrm>
            <a:off x="1368294" y="3560897"/>
            <a:ext cx="2060179" cy="1035637"/>
            <a:chOff x="536363" y="3604861"/>
            <a:chExt cx="2746906" cy="13808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48491B-FBE6-4388-8512-B4BB4834634D}"/>
                </a:ext>
              </a:extLst>
            </p:cNvPr>
            <p:cNvSpPr txBox="1"/>
            <p:nvPr/>
          </p:nvSpPr>
          <p:spPr>
            <a:xfrm>
              <a:off x="536363" y="4031602"/>
              <a:ext cx="2746906" cy="9541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Point p(3.2, 5.1);</a:t>
              </a:r>
            </a:p>
            <a:p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BE" sz="1350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3.7;</a:t>
              </a:r>
            </a:p>
            <a:p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BE" sz="1350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();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538ABD-4D08-476E-8955-568ECA291BFC}"/>
                </a:ext>
              </a:extLst>
            </p:cNvPr>
            <p:cNvSpPr txBox="1"/>
            <p:nvPr/>
          </p:nvSpPr>
          <p:spPr>
            <a:xfrm>
              <a:off x="1199535" y="3604861"/>
              <a:ext cx="158205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GB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GB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BE" sz="1350" dirty="0"/>
                <a:t> </a:t>
              </a:r>
              <a:r>
                <a:rPr lang="en-GB" sz="1350" dirty="0"/>
                <a:t>o</a:t>
              </a:r>
              <a:r>
                <a:rPr lang="en-BE" sz="1350" dirty="0"/>
                <a:t>b</a:t>
              </a:r>
              <a:r>
                <a:rPr lang="en-GB" sz="1350" dirty="0"/>
                <a:t>j</a:t>
              </a:r>
              <a:r>
                <a:rPr lang="en-BE" sz="1350" dirty="0"/>
                <a:t>e</a:t>
              </a:r>
              <a:r>
                <a:rPr lang="en-GB" sz="1350" dirty="0"/>
                <a:t>c</a:t>
              </a:r>
              <a:r>
                <a:rPr lang="en-BE" sz="1350" dirty="0"/>
                <a:t>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60DFAA-8958-4991-A713-16B2EFD7857C}"/>
              </a:ext>
            </a:extLst>
          </p:cNvPr>
          <p:cNvGrpSpPr/>
          <p:nvPr/>
        </p:nvGrpSpPr>
        <p:grpSpPr>
          <a:xfrm>
            <a:off x="3552785" y="3559093"/>
            <a:ext cx="3414717" cy="1040469"/>
            <a:chOff x="3449018" y="3602458"/>
            <a:chExt cx="4552956" cy="1387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77D767-E01C-43F6-9F1F-0BFEAF7DAE77}"/>
                </a:ext>
              </a:extLst>
            </p:cNvPr>
            <p:cNvSpPr txBox="1"/>
            <p:nvPr/>
          </p:nvSpPr>
          <p:spPr>
            <a:xfrm>
              <a:off x="3449018" y="4035642"/>
              <a:ext cx="4552956" cy="9541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Point* p = new Point(3.2, 5.1);</a:t>
              </a:r>
            </a:p>
            <a:p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BE" sz="135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-&gt;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 = 3.7;</a:t>
              </a:r>
            </a:p>
            <a:p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BE" sz="135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-&gt;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print();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F5714F-E10D-4E64-94F0-9C44AE70D13E}"/>
                </a:ext>
              </a:extLst>
            </p:cNvPr>
            <p:cNvSpPr txBox="1"/>
            <p:nvPr/>
          </p:nvSpPr>
          <p:spPr>
            <a:xfrm>
              <a:off x="4232786" y="3602458"/>
              <a:ext cx="256908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50" dirty="0"/>
                <a:t>p</a:t>
              </a:r>
              <a:r>
                <a:rPr lang="en-BE" sz="1350" dirty="0"/>
                <a:t>o</a:t>
              </a:r>
              <a:r>
                <a:rPr lang="en-GB" sz="1350" dirty="0" err="1"/>
                <a:t>i</a:t>
              </a:r>
              <a:r>
                <a:rPr lang="en-BE" sz="1350" dirty="0"/>
                <a:t>n</a:t>
              </a:r>
              <a:r>
                <a:rPr lang="en-GB" sz="1350" dirty="0"/>
                <a:t>t</a:t>
              </a:r>
              <a:r>
                <a:rPr lang="en-BE" sz="1350" dirty="0"/>
                <a:t>e</a:t>
              </a:r>
              <a:r>
                <a:rPr lang="en-GB" sz="1350" dirty="0"/>
                <a:t>r</a:t>
              </a:r>
              <a:r>
                <a:rPr lang="en-BE" sz="1350" dirty="0"/>
                <a:t> </a:t>
              </a:r>
              <a:r>
                <a:rPr lang="en-GB" sz="1350" dirty="0"/>
                <a:t>t</a:t>
              </a:r>
              <a:r>
                <a:rPr lang="en-BE" sz="1350" dirty="0"/>
                <a:t>o 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  <a:r>
                <a:rPr lang="en-GB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  <a:r>
                <a:rPr lang="en-BE" sz="135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GB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  <a:r>
                <a:rPr lang="en-BE" sz="135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en-BE" sz="1350" dirty="0"/>
                <a:t> </a:t>
              </a:r>
              <a:r>
                <a:rPr lang="en-GB" sz="1350" dirty="0"/>
                <a:t>o</a:t>
              </a:r>
              <a:r>
                <a:rPr lang="en-BE" sz="1350" dirty="0"/>
                <a:t>b</a:t>
              </a:r>
              <a:r>
                <a:rPr lang="en-GB" sz="1350" dirty="0"/>
                <a:t>j</a:t>
              </a:r>
              <a:r>
                <a:rPr lang="en-BE" sz="1350" dirty="0"/>
                <a:t>e</a:t>
              </a:r>
              <a:r>
                <a:rPr lang="en-GB" sz="1350" dirty="0"/>
                <a:t>c</a:t>
              </a:r>
              <a:r>
                <a:rPr lang="en-BE" sz="1350" dirty="0"/>
                <a:t>t</a:t>
              </a:r>
            </a:p>
          </p:txBody>
        </p:sp>
      </p:grp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27B01C7D-8F4B-4846-9E25-B5363150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0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2232-A47E-4A3E-8CEA-B6EA3216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care?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EE72-9FA3-4B4E-8DD1-85376C416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Mostly no… but sometimes we do!</a:t>
            </a:r>
          </a:p>
          <a:p>
            <a:r>
              <a:rPr lang="en-US" dirty="0"/>
              <a:t>C++ programs use two types of memory</a:t>
            </a:r>
          </a:p>
          <a:p>
            <a:pPr lvl="1"/>
            <a:r>
              <a:rPr lang="en-US" dirty="0"/>
              <a:t>stack</a:t>
            </a:r>
          </a:p>
          <a:p>
            <a:pPr lvl="2"/>
            <a:r>
              <a:rPr lang="en-US" dirty="0"/>
              <a:t>stores function arguments</a:t>
            </a:r>
          </a:p>
          <a:p>
            <a:pPr lvl="2"/>
            <a:r>
              <a:rPr lang="en-US" dirty="0"/>
              <a:t>stores local variables</a:t>
            </a:r>
          </a:p>
          <a:p>
            <a:pPr lvl="2"/>
            <a:r>
              <a:rPr lang="en-US" dirty="0"/>
              <a:t>return value</a:t>
            </a:r>
          </a:p>
          <a:p>
            <a:pPr lvl="1"/>
            <a:r>
              <a:rPr lang="en-US" dirty="0"/>
              <a:t>heap</a:t>
            </a:r>
          </a:p>
          <a:p>
            <a:pPr lvl="2"/>
            <a:r>
              <a:rPr lang="en-US" dirty="0"/>
              <a:t>stores explicitly allocated data</a:t>
            </a:r>
          </a:p>
          <a:p>
            <a:pPr lvl="3"/>
            <a:r>
              <a:rPr lang="en-US" dirty="0"/>
              <a:t>by data types,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valarray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std::vector</a:t>
            </a:r>
            <a:r>
              <a:rPr lang="en-US" dirty="0"/>
              <a:t>, …</a:t>
            </a:r>
          </a:p>
          <a:p>
            <a:pPr lvl="3"/>
            <a:r>
              <a:rPr lang="en-US" dirty="0"/>
              <a:t>by programmer: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en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3E2E47-A657-4B32-AB83-96C926DA65F6}"/>
              </a:ext>
            </a:extLst>
          </p:cNvPr>
          <p:cNvGrpSpPr/>
          <p:nvPr/>
        </p:nvGrpSpPr>
        <p:grpSpPr>
          <a:xfrm>
            <a:off x="4700771" y="3278542"/>
            <a:ext cx="1182191" cy="575187"/>
            <a:chOff x="5024284" y="3244645"/>
            <a:chExt cx="1576255" cy="76691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969110CE-6A05-4707-B8E8-2E9E3AF6675F}"/>
                </a:ext>
              </a:extLst>
            </p:cNvPr>
            <p:cNvSpPr/>
            <p:nvPr/>
          </p:nvSpPr>
          <p:spPr>
            <a:xfrm>
              <a:off x="5024284" y="3244645"/>
              <a:ext cx="58993" cy="76691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 sz="135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4F9667-F177-4BC6-B845-644D9A60BB01}"/>
                </a:ext>
              </a:extLst>
            </p:cNvPr>
            <p:cNvSpPr txBox="1"/>
            <p:nvPr/>
          </p:nvSpPr>
          <p:spPr>
            <a:xfrm>
              <a:off x="5270089" y="3411794"/>
              <a:ext cx="133045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stack frame</a:t>
              </a:r>
              <a:endParaRPr lang="en-BE" sz="135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E946F8E-E50A-4CD3-8DF5-5954501C66D0}"/>
              </a:ext>
            </a:extLst>
          </p:cNvPr>
          <p:cNvSpPr txBox="1"/>
          <p:nvPr/>
        </p:nvSpPr>
        <p:spPr>
          <a:xfrm>
            <a:off x="5119163" y="3816628"/>
            <a:ext cx="33961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lifetime: function execution</a:t>
            </a:r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AC578-EF65-4DB4-B6E2-82034A820DEA}"/>
              </a:ext>
            </a:extLst>
          </p:cNvPr>
          <p:cNvSpPr txBox="1"/>
          <p:nvPr/>
        </p:nvSpPr>
        <p:spPr>
          <a:xfrm>
            <a:off x="5119164" y="5429392"/>
            <a:ext cx="33961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lifetime: managed by programmer</a:t>
            </a:r>
            <a:endParaRPr lang="en-BE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9CEF190-621E-4EC8-83AC-0E4950E9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9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9902-43FD-488A-993C-B34DEFEF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latin typeface="Consolas" panose="020B0609020204030204" pitchFamily="49" charset="0"/>
              </a:rPr>
              <a:t>std::vector</a:t>
            </a:r>
            <a:endParaRPr lang="en-BE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ECF90-ADA9-4751-A29D-70EAA9157E82}"/>
              </a:ext>
            </a:extLst>
          </p:cNvPr>
          <p:cNvSpPr txBox="1"/>
          <p:nvPr/>
        </p:nvSpPr>
        <p:spPr>
          <a:xfrm>
            <a:off x="556660" y="4058875"/>
            <a:ext cx="4222550" cy="15465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std::vector&lt;double&gt;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read_data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std::vector&lt;double&gt; data;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value;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(std::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value)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data.push_back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(value);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data;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BE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97937-9A2F-42F4-B030-A35196A2E21B}"/>
              </a:ext>
            </a:extLst>
          </p:cNvPr>
          <p:cNvSpPr txBox="1"/>
          <p:nvPr/>
        </p:nvSpPr>
        <p:spPr>
          <a:xfrm>
            <a:off x="556660" y="2078167"/>
            <a:ext cx="466506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std::vector&lt;double&gt; data = 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read_data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sum {0.0};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(const auto&amp; value: data)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+= value;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33155-54B5-4EFE-8AB1-FCED6CD92A0E}"/>
              </a:ext>
            </a:extLst>
          </p:cNvPr>
          <p:cNvSpPr/>
          <p:nvPr/>
        </p:nvSpPr>
        <p:spPr>
          <a:xfrm>
            <a:off x="6054213" y="1764277"/>
            <a:ext cx="1850923" cy="330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DC445A-F869-4578-AF74-48B1BCA63A10}"/>
              </a:ext>
            </a:extLst>
          </p:cNvPr>
          <p:cNvSpPr txBox="1"/>
          <p:nvPr/>
        </p:nvSpPr>
        <p:spPr>
          <a:xfrm>
            <a:off x="6054212" y="4167667"/>
            <a:ext cx="185092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main:</a:t>
            </a:r>
          </a:p>
          <a:p>
            <a:r>
              <a:rPr lang="en-US" sz="1350" dirty="0"/>
              <a:t>    data</a:t>
            </a:r>
          </a:p>
          <a:p>
            <a:r>
              <a:rPr lang="en-US" sz="1350" dirty="0"/>
              <a:t>    sum</a:t>
            </a:r>
          </a:p>
          <a:p>
            <a:r>
              <a:rPr lang="en-US" sz="1350" dirty="0"/>
              <a:t>    value</a:t>
            </a:r>
            <a:endParaRPr lang="en-BE" sz="13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37643D-6A49-45EE-94A5-D6BD017D599E}"/>
              </a:ext>
            </a:extLst>
          </p:cNvPr>
          <p:cNvGrpSpPr/>
          <p:nvPr/>
        </p:nvGrpSpPr>
        <p:grpSpPr>
          <a:xfrm>
            <a:off x="6054212" y="3473893"/>
            <a:ext cx="2727084" cy="1594022"/>
            <a:chOff x="8072281" y="3488857"/>
            <a:chExt cx="3636111" cy="21253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1770DA-33BF-4F13-AF17-746A4F1095C8}"/>
                </a:ext>
              </a:extLst>
            </p:cNvPr>
            <p:cNvSpPr txBox="1"/>
            <p:nvPr/>
          </p:nvSpPr>
          <p:spPr>
            <a:xfrm>
              <a:off x="8072281" y="3488857"/>
              <a:ext cx="2467897" cy="9541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350" dirty="0" err="1"/>
                <a:t>read_data</a:t>
              </a:r>
              <a:r>
                <a:rPr lang="en-US" sz="1350" dirty="0"/>
                <a:t>:</a:t>
              </a:r>
            </a:p>
            <a:p>
              <a:r>
                <a:rPr lang="en-US" sz="1350" dirty="0"/>
                <a:t>    data</a:t>
              </a:r>
            </a:p>
            <a:p>
              <a:r>
                <a:rPr lang="en-US" sz="1350" dirty="0"/>
                <a:t>    value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5B68CD-E0C2-46F0-8D7E-844868819563}"/>
                </a:ext>
              </a:extLst>
            </p:cNvPr>
            <p:cNvGrpSpPr/>
            <p:nvPr/>
          </p:nvGrpSpPr>
          <p:grpSpPr>
            <a:xfrm>
              <a:off x="10645877" y="3488857"/>
              <a:ext cx="1062515" cy="2125362"/>
              <a:chOff x="9721643" y="3488857"/>
              <a:chExt cx="1062515" cy="2125362"/>
            </a:xfrm>
          </p:grpSpPr>
          <p:sp>
            <p:nvSpPr>
              <p:cNvPr id="9" name="Right Brace 8">
                <a:extLst>
                  <a:ext uri="{FF2B5EF4-FFF2-40B4-BE49-F238E27FC236}">
                    <a16:creationId xmlns:a16="http://schemas.microsoft.com/office/drawing/2014/main" id="{43B5BE77-C381-4C32-9CCC-351D14DD303B}"/>
                  </a:ext>
                </a:extLst>
              </p:cNvPr>
              <p:cNvSpPr/>
              <p:nvPr/>
            </p:nvSpPr>
            <p:spPr>
              <a:xfrm>
                <a:off x="9721643" y="3488857"/>
                <a:ext cx="95986" cy="2125362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1BF82E-DFB2-4557-B8EF-4C9EF19B335A}"/>
                  </a:ext>
                </a:extLst>
              </p:cNvPr>
              <p:cNvSpPr txBox="1"/>
              <p:nvPr/>
            </p:nvSpPr>
            <p:spPr>
              <a:xfrm>
                <a:off x="10062422" y="4366871"/>
                <a:ext cx="7217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stack</a:t>
                </a:r>
                <a:endParaRPr lang="en-BE" sz="1350"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3BB12-406C-42AD-91D3-8B893085468F}"/>
              </a:ext>
            </a:extLst>
          </p:cNvPr>
          <p:cNvGrpSpPr/>
          <p:nvPr/>
        </p:nvGrpSpPr>
        <p:grpSpPr>
          <a:xfrm>
            <a:off x="7958596" y="4166390"/>
            <a:ext cx="834455" cy="901524"/>
            <a:chOff x="9721642" y="4412187"/>
            <a:chExt cx="1112607" cy="1202032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0A452376-93C4-4EB1-99BB-CC26931B1B48}"/>
                </a:ext>
              </a:extLst>
            </p:cNvPr>
            <p:cNvSpPr/>
            <p:nvPr/>
          </p:nvSpPr>
          <p:spPr>
            <a:xfrm>
              <a:off x="9721642" y="4412187"/>
              <a:ext cx="189185" cy="1202032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BE" sz="13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57EB98-285F-448F-A278-F22A95640645}"/>
                </a:ext>
              </a:extLst>
            </p:cNvPr>
            <p:cNvSpPr txBox="1"/>
            <p:nvPr/>
          </p:nvSpPr>
          <p:spPr>
            <a:xfrm>
              <a:off x="10112513" y="4828538"/>
              <a:ext cx="72173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stack</a:t>
              </a:r>
              <a:endParaRPr lang="en-BE" sz="13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3F555C-C930-4C5A-9812-AB3106E83BFF}"/>
              </a:ext>
            </a:extLst>
          </p:cNvPr>
          <p:cNvGrpSpPr/>
          <p:nvPr/>
        </p:nvGrpSpPr>
        <p:grpSpPr>
          <a:xfrm>
            <a:off x="6054212" y="1760194"/>
            <a:ext cx="2723110" cy="715581"/>
            <a:chOff x="8072281" y="1203925"/>
            <a:chExt cx="3630812" cy="95410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FB290A-36BE-42D3-830D-9CA5731D1EE7}"/>
                </a:ext>
              </a:extLst>
            </p:cNvPr>
            <p:cNvSpPr txBox="1"/>
            <p:nvPr/>
          </p:nvSpPr>
          <p:spPr>
            <a:xfrm>
              <a:off x="8072281" y="1203925"/>
              <a:ext cx="2467897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 0.31452949e01</a:t>
              </a:r>
            </a:p>
            <a:p>
              <a:r>
                <a:rPr lang="en-US" sz="1350" dirty="0"/>
                <a:t> 0.33494484e02</a:t>
              </a:r>
            </a:p>
            <a:p>
              <a:r>
                <a:rPr lang="en-US" sz="1350" dirty="0"/>
                <a:t>-0.144598494-03</a:t>
              </a:r>
              <a:endParaRPr lang="en-BE" sz="135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C417FB2-88AF-4CDD-B598-A499E0F3FE8E}"/>
                </a:ext>
              </a:extLst>
            </p:cNvPr>
            <p:cNvGrpSpPr/>
            <p:nvPr/>
          </p:nvGrpSpPr>
          <p:grpSpPr>
            <a:xfrm>
              <a:off x="10645878" y="1203925"/>
              <a:ext cx="1057215" cy="923330"/>
              <a:chOff x="9721643" y="4412187"/>
              <a:chExt cx="1057215" cy="923330"/>
            </a:xfrm>
          </p:grpSpPr>
          <p:sp>
            <p:nvSpPr>
              <p:cNvPr id="17" name="Right Brace 16">
                <a:extLst>
                  <a:ext uri="{FF2B5EF4-FFF2-40B4-BE49-F238E27FC236}">
                    <a16:creationId xmlns:a16="http://schemas.microsoft.com/office/drawing/2014/main" id="{D268091F-70A3-48DC-8337-F472B25A7165}"/>
                  </a:ext>
                </a:extLst>
              </p:cNvPr>
              <p:cNvSpPr/>
              <p:nvPr/>
            </p:nvSpPr>
            <p:spPr>
              <a:xfrm>
                <a:off x="9721643" y="4412187"/>
                <a:ext cx="95986" cy="923330"/>
              </a:xfrm>
              <a:prstGeom prst="righ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BE" sz="135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8173F8-3C92-4E09-951E-C42F7471F4A4}"/>
                  </a:ext>
                </a:extLst>
              </p:cNvPr>
              <p:cNvSpPr txBox="1"/>
              <p:nvPr/>
            </p:nvSpPr>
            <p:spPr>
              <a:xfrm>
                <a:off x="10062422" y="4683727"/>
                <a:ext cx="7164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heap</a:t>
                </a:r>
                <a:endParaRPr lang="en-BE" sz="1350" dirty="0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80C5CC-DC31-40B1-86CC-E5213227362D}"/>
              </a:ext>
            </a:extLst>
          </p:cNvPr>
          <p:cNvSpPr/>
          <p:nvPr/>
        </p:nvSpPr>
        <p:spPr>
          <a:xfrm>
            <a:off x="5545862" y="1923696"/>
            <a:ext cx="611591" cy="1897980"/>
          </a:xfrm>
          <a:custGeom>
            <a:avLst/>
            <a:gdLst>
              <a:gd name="connsiteX0" fmla="*/ 815455 w 815455"/>
              <a:gd name="connsiteY0" fmla="*/ 2530640 h 2530640"/>
              <a:gd name="connsiteX1" fmla="*/ 127197 w 815455"/>
              <a:gd name="connsiteY1" fmla="*/ 1950537 h 2530640"/>
              <a:gd name="connsiteX2" fmla="*/ 38707 w 815455"/>
              <a:gd name="connsiteY2" fmla="*/ 357711 h 2530640"/>
              <a:gd name="connsiteX3" fmla="*/ 569649 w 815455"/>
              <a:gd name="connsiteY3" fmla="*/ 3749 h 253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455" h="2530640">
                <a:moveTo>
                  <a:pt x="815455" y="2530640"/>
                </a:moveTo>
                <a:cubicBezTo>
                  <a:pt x="536055" y="2421666"/>
                  <a:pt x="256655" y="2312692"/>
                  <a:pt x="127197" y="1950537"/>
                </a:cubicBezTo>
                <a:cubicBezTo>
                  <a:pt x="-2261" y="1588382"/>
                  <a:pt x="-35035" y="682176"/>
                  <a:pt x="38707" y="357711"/>
                </a:cubicBezTo>
                <a:cubicBezTo>
                  <a:pt x="112449" y="33246"/>
                  <a:pt x="428720" y="-15915"/>
                  <a:pt x="569649" y="3749"/>
                </a:cubicBezTo>
              </a:path>
            </a:pathLst>
          </a:custGeom>
          <a:noFill/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7ED57CD-41FF-47FC-92E2-7BDBE21FCF58}"/>
              </a:ext>
            </a:extLst>
          </p:cNvPr>
          <p:cNvSpPr/>
          <p:nvPr/>
        </p:nvSpPr>
        <p:spPr>
          <a:xfrm>
            <a:off x="5571672" y="1923696"/>
            <a:ext cx="611591" cy="2583880"/>
          </a:xfrm>
          <a:custGeom>
            <a:avLst/>
            <a:gdLst>
              <a:gd name="connsiteX0" fmla="*/ 815455 w 815455"/>
              <a:gd name="connsiteY0" fmla="*/ 2530640 h 2530640"/>
              <a:gd name="connsiteX1" fmla="*/ 127197 w 815455"/>
              <a:gd name="connsiteY1" fmla="*/ 1950537 h 2530640"/>
              <a:gd name="connsiteX2" fmla="*/ 38707 w 815455"/>
              <a:gd name="connsiteY2" fmla="*/ 357711 h 2530640"/>
              <a:gd name="connsiteX3" fmla="*/ 569649 w 815455"/>
              <a:gd name="connsiteY3" fmla="*/ 3749 h 253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455" h="2530640">
                <a:moveTo>
                  <a:pt x="815455" y="2530640"/>
                </a:moveTo>
                <a:cubicBezTo>
                  <a:pt x="536055" y="2421666"/>
                  <a:pt x="256655" y="2312692"/>
                  <a:pt x="127197" y="1950537"/>
                </a:cubicBezTo>
                <a:cubicBezTo>
                  <a:pt x="-2261" y="1588382"/>
                  <a:pt x="-35035" y="682176"/>
                  <a:pt x="38707" y="357711"/>
                </a:cubicBezTo>
                <a:cubicBezTo>
                  <a:pt x="112449" y="33246"/>
                  <a:pt x="428720" y="-15915"/>
                  <a:pt x="569649" y="3749"/>
                </a:cubicBezTo>
              </a:path>
            </a:pathLst>
          </a:custGeom>
          <a:noFill/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F002F79-E3FC-4F37-A70A-9EDC38B9E720}"/>
              </a:ext>
            </a:extLst>
          </p:cNvPr>
          <p:cNvSpPr/>
          <p:nvPr/>
        </p:nvSpPr>
        <p:spPr>
          <a:xfrm>
            <a:off x="373065" y="2524195"/>
            <a:ext cx="265472" cy="16960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617B36E-FD51-4F3B-9006-84821F05D16D}"/>
              </a:ext>
            </a:extLst>
          </p:cNvPr>
          <p:cNvSpPr/>
          <p:nvPr/>
        </p:nvSpPr>
        <p:spPr>
          <a:xfrm>
            <a:off x="369968" y="2729950"/>
            <a:ext cx="265472" cy="16960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66B464E-4350-4A4F-AF92-1E23054107B5}"/>
              </a:ext>
            </a:extLst>
          </p:cNvPr>
          <p:cNvSpPr/>
          <p:nvPr/>
        </p:nvSpPr>
        <p:spPr>
          <a:xfrm>
            <a:off x="367202" y="4310141"/>
            <a:ext cx="265472" cy="16960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E74F6C1-EABA-4FBB-AC68-E8EE12696159}"/>
              </a:ext>
            </a:extLst>
          </p:cNvPr>
          <p:cNvSpPr/>
          <p:nvPr/>
        </p:nvSpPr>
        <p:spPr>
          <a:xfrm>
            <a:off x="373993" y="2935705"/>
            <a:ext cx="265472" cy="16960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350"/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2C6BA648-F266-4D0A-8FBE-7E4E8609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2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48148E-6 L 0.00052 0.1618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807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1" grpId="0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E1A4-0104-4780-92EA-65A6B929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AC53-99A8-423D-9003-17458124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Heap memory</a:t>
            </a:r>
          </a:p>
          <a:p>
            <a:pPr lvl="1"/>
            <a:r>
              <a:rPr lang="en-US" dirty="0"/>
              <a:t> explicitly allocated when required</a:t>
            </a:r>
          </a:p>
          <a:p>
            <a:pPr lvl="1"/>
            <a:r>
              <a:rPr lang="en-US" dirty="0"/>
              <a:t>explicitly deallocated when no longer required</a:t>
            </a:r>
          </a:p>
          <a:p>
            <a:r>
              <a:rPr lang="en-US" dirty="0"/>
              <a:t>STL containers do that for you</a:t>
            </a:r>
          </a:p>
          <a:p>
            <a:pPr lvl="1"/>
            <a:r>
              <a:rPr lang="en-US" dirty="0"/>
              <a:t>constructor: memory allocation</a:t>
            </a:r>
          </a:p>
          <a:p>
            <a:pPr lvl="1"/>
            <a:r>
              <a:rPr lang="en-US" dirty="0"/>
              <a:t>move constructor/assignment: move resource handles</a:t>
            </a:r>
          </a:p>
          <a:p>
            <a:pPr lvl="1"/>
            <a:r>
              <a:rPr lang="en-US" dirty="0"/>
              <a:t>copy constructor/assignment: copy resources</a:t>
            </a:r>
          </a:p>
          <a:p>
            <a:pPr lvl="1"/>
            <a:r>
              <a:rPr lang="en-US" dirty="0"/>
              <a:t>destructor: memory deallocation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402F2-C2E3-4AF5-A245-A245C2A7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AFAB-5C85-45EB-9564-AD356507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memory management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A454-ECFA-4635-AE27-63BA5519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Allocate memory heap: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  <a:p>
            <a:r>
              <a:rPr lang="en-US" dirty="0"/>
              <a:t>Ensure correct copy of data: copy constructor, copy assignment</a:t>
            </a:r>
          </a:p>
          <a:p>
            <a:r>
              <a:rPr lang="en-US" dirty="0"/>
              <a:t>Ensure correct move of data: move constructor, move assignment</a:t>
            </a:r>
          </a:p>
          <a:p>
            <a:r>
              <a:rPr lang="en-US" dirty="0"/>
              <a:t>Deallocate memory: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no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: memory leak</a:t>
            </a:r>
          </a:p>
          <a:p>
            <a:pPr lvl="1"/>
            <a:r>
              <a:rPr lang="en-US" dirty="0"/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: segmentation fault</a:t>
            </a:r>
          </a:p>
          <a:p>
            <a:pPr lvl="1"/>
            <a:r>
              <a:rPr lang="en-US" dirty="0"/>
              <a:t>no move semantics: performance issues</a:t>
            </a:r>
          </a:p>
          <a:p>
            <a:pPr lvl="1"/>
            <a:r>
              <a:rPr lang="en-US" dirty="0"/>
              <a:t>no resource copying: segmentation fault or bugs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5C524-BA26-4FAA-9146-C41E61D77008}"/>
              </a:ext>
            </a:extLst>
          </p:cNvPr>
          <p:cNvSpPr txBox="1"/>
          <p:nvPr/>
        </p:nvSpPr>
        <p:spPr>
          <a:xfrm>
            <a:off x="6002676" y="1389072"/>
            <a:ext cx="298126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/>
              <a:t>Avoid it!</a:t>
            </a:r>
            <a:br>
              <a:rPr lang="en-US" sz="2100" dirty="0"/>
            </a:br>
            <a:r>
              <a:rPr lang="en-US" sz="2100" dirty="0"/>
              <a:t>Use STL or smart pointers</a:t>
            </a:r>
            <a:endParaRPr lang="en-BE" sz="210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B2EB287-B31F-41A2-B81D-F1D13B8C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9C13-6B13-4D5C-BEFA-68BD4780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Semi-automatic: smart pointers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0956-064C-4C57-9FEB-5223F02DB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unique_ptr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: unique resource ownership</a:t>
            </a:r>
          </a:p>
          <a:p>
            <a:pPr lvl="1"/>
            <a:r>
              <a:rPr lang="en-US" dirty="0"/>
              <a:t>auto-deleted when owner goes out of scope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: shared resource ownership</a:t>
            </a:r>
          </a:p>
          <a:p>
            <a:pPr lvl="1"/>
            <a:r>
              <a:rPr lang="en-US" dirty="0"/>
              <a:t>auto-deleted when last owner goes out of scope</a:t>
            </a:r>
          </a:p>
          <a:p>
            <a:pPr lvl="1"/>
            <a:r>
              <a:rPr lang="en-US" dirty="0"/>
              <a:t>requires bookkeeping: number of owners is tracked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weak_ptr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: temporary resource ownership</a:t>
            </a:r>
          </a:p>
          <a:p>
            <a:pPr lvl="1"/>
            <a:r>
              <a:rPr lang="en-US" dirty="0"/>
              <a:t>constructed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</a:p>
          <a:p>
            <a:pPr lvl="1"/>
            <a:r>
              <a:rPr lang="en-US" dirty="0"/>
              <a:t>not counted for reference count</a:t>
            </a:r>
          </a:p>
          <a:p>
            <a:pPr lvl="1"/>
            <a:r>
              <a:rPr lang="en-US" dirty="0"/>
              <a:t>to use, convert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</a:p>
          <a:p>
            <a:pPr lvl="1"/>
            <a:r>
              <a:rPr lang="en-US" dirty="0"/>
              <a:t>use cases</a:t>
            </a:r>
          </a:p>
          <a:p>
            <a:pPr lvl="2"/>
            <a:r>
              <a:rPr lang="en-US" dirty="0"/>
              <a:t>models temporary ownership</a:t>
            </a:r>
          </a:p>
          <a:p>
            <a:pPr lvl="2"/>
            <a:r>
              <a:rPr lang="en-US" dirty="0"/>
              <a:t>breaks cyclic references (e.g., graphs)</a:t>
            </a:r>
            <a:endParaRPr lang="en-BE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8C21A12-760D-4A69-8F80-9751DA2F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C7B90BF-DFC6-4821-92D8-D156D603F43D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</a:t>
            </a:r>
          </a:p>
          <a:p>
            <a:pPr lvl="1"/>
            <a:r>
              <a:rPr lang="en-US" dirty="0"/>
              <a:t>Memory management</a:t>
            </a:r>
          </a:p>
          <a:p>
            <a:pPr lvl="1"/>
            <a:r>
              <a:rPr lang="en-US" dirty="0"/>
              <a:t>C-style pointers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2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9,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https://github.com/gjbex/Scientific-C-plus-plus/tree/master/source-code/Containers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2233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structures are key to good programming</a:t>
            </a:r>
          </a:p>
          <a:p>
            <a:pPr lvl="1"/>
            <a:r>
              <a:rPr lang="en-US" dirty="0"/>
              <a:t>implementation conceptually close to model</a:t>
            </a:r>
          </a:p>
          <a:p>
            <a:pPr lvl="1"/>
            <a:r>
              <a:rPr lang="en-US" dirty="0"/>
              <a:t>fewer lines of code = less bugs</a:t>
            </a:r>
          </a:p>
          <a:p>
            <a:pPr lvl="1"/>
            <a:r>
              <a:rPr lang="en-US" dirty="0"/>
              <a:t>better performance</a:t>
            </a:r>
          </a:p>
          <a:p>
            <a:r>
              <a:rPr lang="en-US" dirty="0"/>
              <a:t>Programming languages</a:t>
            </a:r>
          </a:p>
          <a:p>
            <a:pPr lvl="1"/>
            <a:r>
              <a:rPr lang="en-US" dirty="0"/>
              <a:t>C++: STL (Standard Template Library)</a:t>
            </a:r>
          </a:p>
          <a:p>
            <a:pPr lvl="1"/>
            <a:r>
              <a:rPr lang="en-US" dirty="0"/>
              <a:t>Python: core language, standard library</a:t>
            </a:r>
          </a:p>
          <a:p>
            <a:pPr lvl="1"/>
            <a:r>
              <a:rPr lang="en-US" dirty="0"/>
              <a:t>Java: standard library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Don't reinvent the wheel!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0819" y="5029199"/>
            <a:ext cx="4668650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/>
              <a:t>For all languages, many 3</a:t>
            </a:r>
            <a:r>
              <a:rPr lang="en-US" sz="2100" baseline="30000" dirty="0"/>
              <a:t>rd</a:t>
            </a:r>
            <a:r>
              <a:rPr lang="en-US" sz="2100" dirty="0"/>
              <a:t> party libraries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2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a zoo…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data structures</a:t>
            </a:r>
          </a:p>
          <a:p>
            <a:pPr lvl="1"/>
            <a:r>
              <a:rPr lang="en-US" dirty="0"/>
              <a:t>specific properties</a:t>
            </a:r>
          </a:p>
          <a:p>
            <a:pPr lvl="1"/>
            <a:r>
              <a:rPr lang="en-US" dirty="0"/>
              <a:t>specific applications</a:t>
            </a:r>
          </a:p>
          <a:p>
            <a:pPr lvl="1"/>
            <a:r>
              <a:rPr lang="en-US" dirty="0"/>
              <a:t>relationship to algorithms!</a:t>
            </a:r>
          </a:p>
          <a:p>
            <a:r>
              <a:rPr lang="en-US" dirty="0"/>
              <a:t>Important to have an overview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Programming language independent</a:t>
            </a:r>
          </a:p>
          <a:p>
            <a:pPr lvl="1"/>
            <a:r>
              <a:rPr lang="en-US" dirty="0"/>
              <a:t>conceptual, mathematical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149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05347" y="4021281"/>
            <a:ext cx="4468980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/>
              <a:t>Which data structure to use in models?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8272" y="4592781"/>
            <a:ext cx="5237331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/>
              <a:t>Which data structure to choose for algorithm?</a:t>
            </a:r>
          </a:p>
        </p:txBody>
      </p:sp>
    </p:spTree>
    <p:extLst>
      <p:ext uri="{BB962C8B-B14F-4D97-AF65-F5344CB8AC3E}">
        <p14:creationId xmlns:p14="http://schemas.microsoft.com/office/powerpoint/2010/main" val="8470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Type </a:t>
            </a:r>
            <a:r>
              <a:rPr lang="en-US" i="1" dirty="0">
                <a:latin typeface="Palatino Linotype" panose="02040502050505030304" pitchFamily="18" charset="0"/>
              </a:rPr>
              <a:t>T</a:t>
            </a:r>
            <a:r>
              <a:rPr lang="en-US" dirty="0"/>
              <a:t>: set of values, e.g.,</a:t>
            </a:r>
          </a:p>
          <a:p>
            <a:pPr lvl="1"/>
            <a:r>
              <a:rPr lang="en-US" dirty="0" err="1"/>
              <a:t>boolean</a:t>
            </a:r>
            <a:r>
              <a:rPr lang="en-US" dirty="0"/>
              <a:t> = {true, false}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= {-2147483648, - 2147483647, …, -1, 0, 1..., 2147483647}</a:t>
            </a:r>
          </a:p>
          <a:p>
            <a:r>
              <a:rPr lang="en-US" dirty="0"/>
              <a:t>Size of type </a:t>
            </a:r>
            <a:r>
              <a:rPr lang="en-US" i="1" dirty="0">
                <a:latin typeface="Palatino Linotype" panose="02040502050505030304" pitchFamily="18" charset="0"/>
              </a:rPr>
              <a:t>T</a:t>
            </a:r>
            <a:r>
              <a:rPr lang="en-US" dirty="0"/>
              <a:t>: |</a:t>
            </a:r>
            <a:r>
              <a:rPr lang="en-US" i="1" dirty="0">
                <a:latin typeface="Palatino Linotype" panose="02040502050505030304" pitchFamily="18" charset="0"/>
              </a:rPr>
              <a:t>T</a:t>
            </a:r>
            <a:r>
              <a:rPr lang="en-US" dirty="0"/>
              <a:t>|</a:t>
            </a:r>
          </a:p>
          <a:p>
            <a:r>
              <a:rPr lang="en-US" dirty="0"/>
              <a:t>Property: </a:t>
            </a:r>
          </a:p>
          <a:p>
            <a:r>
              <a:rPr lang="en-US" dirty="0">
                <a:sym typeface="Symbol" panose="05050102010706020507" pitchFamily="18" charset="2"/>
              </a:rPr>
              <a:t>Power set of </a:t>
            </a:r>
            <a:r>
              <a:rPr lang="en-US" i="1" dirty="0">
                <a:latin typeface="Palatino Linotype" panose="0204050205050503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: 2</a:t>
            </a:r>
            <a:r>
              <a:rPr lang="en-US" i="1" baseline="30000" dirty="0">
                <a:latin typeface="Palatino Linotype" panose="0204050205050503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, e.g.,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2</a:t>
            </a:r>
            <a:r>
              <a:rPr lang="en-US" baseline="30000" dirty="0">
                <a:sym typeface="Symbol" panose="05050102010706020507" pitchFamily="18" charset="2"/>
              </a:rPr>
              <a:t>boolean</a:t>
            </a:r>
            <a:r>
              <a:rPr lang="en-US" dirty="0">
                <a:sym typeface="Symbol" panose="05050102010706020507" pitchFamily="18" charset="2"/>
              </a:rPr>
              <a:t> = {, {true}, {false}, {true, false}}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2</a:t>
            </a:r>
            <a:r>
              <a:rPr lang="en-US" baseline="30000" dirty="0">
                <a:sym typeface="Symbol" panose="05050102010706020507" pitchFamily="18" charset="2"/>
              </a:rPr>
              <a:t>int</a:t>
            </a:r>
            <a:r>
              <a:rPr lang="en-US" dirty="0">
                <a:sym typeface="Symbol" panose="05050102010706020507" pitchFamily="18" charset="2"/>
              </a:rPr>
              <a:t> = {, {0}, {1}, {-1}, …, {0, 1}, {0, -1}, …}</a:t>
            </a:r>
          </a:p>
          <a:p>
            <a:r>
              <a:rPr lang="en-US" dirty="0">
                <a:sym typeface="Symbol" panose="05050102010706020507" pitchFamily="18" charset="2"/>
              </a:rPr>
              <a:t>Set of all sequences of </a:t>
            </a:r>
            <a:r>
              <a:rPr lang="en-US" i="1" dirty="0">
                <a:latin typeface="Palatino Linotype" panose="0204050205050503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: </a:t>
            </a:r>
            <a:r>
              <a:rPr lang="en-US" i="1" dirty="0">
                <a:latin typeface="Palatino Linotype" panose="02040502050505030304" pitchFamily="18" charset="0"/>
                <a:sym typeface="Symbol" panose="05050102010706020507" pitchFamily="18" charset="2"/>
              </a:rPr>
              <a:t>T</a:t>
            </a:r>
            <a:r>
              <a:rPr lang="en-US" baseline="30000" dirty="0"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, e.g.,</a:t>
            </a:r>
          </a:p>
          <a:p>
            <a:pPr lvl="1"/>
            <a:r>
              <a:rPr lang="en-US" dirty="0" err="1">
                <a:sym typeface="Symbol" panose="05050102010706020507" pitchFamily="18" charset="2"/>
              </a:rPr>
              <a:t>boolean</a:t>
            </a:r>
            <a:r>
              <a:rPr lang="en-US" baseline="30000" dirty="0">
                <a:sym typeface="Symbol" panose="05050102010706020507" pitchFamily="18" charset="2"/>
              </a:rPr>
              <a:t>*</a:t>
            </a:r>
            <a:r>
              <a:rPr lang="en-US" dirty="0">
                <a:sym typeface="Symbol" panose="05050102010706020507" pitchFamily="18" charset="2"/>
              </a:rPr>
              <a:t> = {, true, false, </a:t>
            </a:r>
            <a:r>
              <a:rPr lang="en-US" dirty="0" err="1">
                <a:sym typeface="Symbol" panose="05050102010706020507" pitchFamily="18" charset="2"/>
              </a:rPr>
              <a:t>truetrue</a:t>
            </a:r>
            <a:r>
              <a:rPr lang="en-US" dirty="0">
                <a:sym typeface="Symbol" panose="05050102010706020507" pitchFamily="18" charset="2"/>
              </a:rPr>
              <a:t>, true </a:t>
            </a:r>
            <a:r>
              <a:rPr lang="en-US" dirty="0" err="1">
                <a:sym typeface="Symbol" panose="05050102010706020507" pitchFamily="18" charset="2"/>
              </a:rPr>
              <a:t>talse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talse</a:t>
            </a:r>
            <a:r>
              <a:rPr lang="en-US" dirty="0">
                <a:sym typeface="Symbol" panose="05050102010706020507" pitchFamily="18" charset="2"/>
              </a:rPr>
              <a:t> true,…}</a:t>
            </a:r>
          </a:p>
          <a:p>
            <a:pPr lvl="1"/>
            <a:r>
              <a:rPr lang="en-US" dirty="0" err="1">
                <a:sym typeface="Symbol" panose="05050102010706020507" pitchFamily="18" charset="2"/>
              </a:rPr>
              <a:t>int</a:t>
            </a:r>
            <a:r>
              <a:rPr lang="en-US" dirty="0">
                <a:sym typeface="Symbol" panose="05050102010706020507" pitchFamily="18" charset="2"/>
              </a:rPr>
              <a:t>* = { , 0, 1, …, 0 0, 0 1, …, 0 0 0, 0 0 1, …}</a:t>
            </a:r>
          </a:p>
          <a:p>
            <a:pPr lvl="1"/>
            <a:endParaRPr lang="en-US" dirty="0">
              <a:sym typeface="Symbol" panose="05050102010706020507" pitchFamily="18" charset="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857006"/>
              </p:ext>
            </p:extLst>
          </p:nvPr>
        </p:nvGraphicFramePr>
        <p:xfrm>
          <a:off x="2472334" y="3409591"/>
          <a:ext cx="3093244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215640" progId="Equation.3">
                  <p:embed/>
                </p:oleObj>
              </mc:Choice>
              <mc:Fallback>
                <p:oleObj name="Equation" r:id="rId3" imgW="184140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2334" y="3409591"/>
                        <a:ext cx="3093244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08795" y="4353937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|2</a:t>
            </a:r>
            <a:r>
              <a:rPr lang="en-US" i="1" baseline="30000" dirty="0">
                <a:latin typeface="Palatino Linotype" panose="02040502050505030304" pitchFamily="18" charset="0"/>
                <a:sym typeface="Symbol" panose="05050102010706020507" pitchFamily="18" charset="2"/>
              </a:rPr>
              <a:t>T</a:t>
            </a:r>
            <a:r>
              <a:rPr lang="en-US" dirty="0">
                <a:sym typeface="Symbol" panose="05050102010706020507" pitchFamily="18" charset="2"/>
              </a:rPr>
              <a:t>| = 2</a:t>
            </a:r>
            <a:r>
              <a:rPr lang="en-US" i="1" baseline="30000" dirty="0">
                <a:latin typeface="Palatino Linotype" panose="02040502050505030304" pitchFamily="18" charset="0"/>
                <a:sym typeface="Symbol" panose="05050102010706020507" pitchFamily="18" charset="2"/>
              </a:rPr>
              <a:t>|T|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68995" y="5992821"/>
            <a:ext cx="142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Palatino Linotype" panose="02040502050505030304" pitchFamily="18" charset="0"/>
                <a:sym typeface="Symbol" panose="05050102010706020507" pitchFamily="18" charset="2"/>
              </a:rPr>
              <a:t>|T</a:t>
            </a:r>
            <a:r>
              <a:rPr lang="en-US" sz="2400" baseline="30000" dirty="0">
                <a:sym typeface="Symbol" panose="05050102010706020507" pitchFamily="18" charset="2"/>
              </a:rPr>
              <a:t>*</a:t>
            </a:r>
            <a:r>
              <a:rPr lang="en-US" sz="2400" dirty="0">
                <a:sym typeface="Symbol" panose="05050102010706020507" pitchFamily="18" charset="2"/>
              </a:rPr>
              <a:t>| = 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structures provided</a:t>
            </a:r>
          </a:p>
          <a:p>
            <a:pPr lvl="1"/>
            <a:r>
              <a:rPr lang="en-US" dirty="0"/>
              <a:t>core language</a:t>
            </a:r>
          </a:p>
          <a:p>
            <a:pPr lvl="1"/>
            <a:r>
              <a:rPr lang="en-US" dirty="0"/>
              <a:t>standard libraries</a:t>
            </a:r>
          </a:p>
          <a:p>
            <a:r>
              <a:rPr lang="en-US" dirty="0"/>
              <a:t>Other data structures can be implemented on top</a:t>
            </a:r>
          </a:p>
          <a:p>
            <a:r>
              <a:rPr lang="en-US" dirty="0"/>
              <a:t>Contents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 err="1"/>
              <a:t>valarray</a:t>
            </a:r>
            <a:endParaRPr lang="en-US" dirty="0"/>
          </a:p>
          <a:p>
            <a:pPr lvl="1"/>
            <a:r>
              <a:rPr lang="en-US" dirty="0"/>
              <a:t>vector</a:t>
            </a:r>
          </a:p>
          <a:p>
            <a:pPr lvl="1"/>
            <a:r>
              <a:rPr lang="en-US" dirty="0"/>
              <a:t>tuple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/>
              <a:t>set</a:t>
            </a:r>
          </a:p>
          <a:p>
            <a:pPr lvl="1"/>
            <a:r>
              <a:rPr lang="en-US" dirty="0"/>
              <a:t>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6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random by ordinal index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fixed length</a:t>
            </a:r>
          </a:p>
          <a:p>
            <a:pPr lvl="1"/>
            <a:r>
              <a:rPr lang="en-US" dirty="0"/>
              <a:t>update: O(1)</a:t>
            </a:r>
          </a:p>
          <a:p>
            <a:pPr lvl="1"/>
            <a:r>
              <a:rPr lang="en-US" dirty="0"/>
              <a:t>retrieval: O(1)</a:t>
            </a:r>
          </a:p>
          <a:p>
            <a:pPr lvl="1"/>
            <a:r>
              <a:rPr lang="en-US" dirty="0"/>
              <a:t>search: O(n)</a:t>
            </a:r>
          </a:p>
          <a:p>
            <a:pPr lvl="1"/>
            <a:r>
              <a:rPr lang="en-US" dirty="0"/>
              <a:t>element type: homogenous</a:t>
            </a:r>
          </a:p>
          <a:p>
            <a:r>
              <a:rPr lang="en-US" dirty="0"/>
              <a:t>Implementation: core language</a:t>
            </a:r>
          </a:p>
          <a:p>
            <a:pPr lvl="1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730462" y="2782168"/>
            <a:ext cx="2926051" cy="777009"/>
            <a:chOff x="6307280" y="2566553"/>
            <a:chExt cx="3901402" cy="1036011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7052731" y="3147481"/>
            <a:ext cx="3155951" cy="4550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409400" imgH="203040" progId="Equation.3">
                    <p:embed/>
                  </p:oleObj>
                </mc:Choice>
                <mc:Fallback>
                  <p:oleObj name="Equation" r:id="rId2" imgW="1409400" imgH="2030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052731" y="3147481"/>
                          <a:ext cx="3155951" cy="4550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6307280" y="2566553"/>
              <a:ext cx="3386911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d</a:t>
              </a:r>
              <a:r>
                <a:rPr lang="en-US" sz="2100" dirty="0"/>
                <a:t>-dimensional array </a:t>
              </a:r>
              <a:r>
                <a:rPr lang="en-US" sz="2100" i="1" dirty="0">
                  <a:latin typeface="Palatino Linotype" panose="02040502050505030304" pitchFamily="18" charset="0"/>
                </a:rPr>
                <a:t>a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152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5431341" y="5693496"/>
            <a:ext cx="1839304" cy="662855"/>
            <a:chOff x="5431341" y="5693496"/>
            <a:chExt cx="1839304" cy="662855"/>
          </a:xfrm>
        </p:grpSpPr>
        <p:grpSp>
          <p:nvGrpSpPr>
            <p:cNvPr id="20" name="Group 19"/>
            <p:cNvGrpSpPr/>
            <p:nvPr/>
          </p:nvGrpSpPr>
          <p:grpSpPr>
            <a:xfrm>
              <a:off x="5431341" y="5693496"/>
              <a:ext cx="1839304" cy="222972"/>
              <a:chOff x="5330430" y="5953991"/>
              <a:chExt cx="1839304" cy="22297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5330430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638695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940034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248299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560026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868291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44646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740979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605958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6357456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6651870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6971387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431341" y="5908242"/>
              <a:ext cx="1839304" cy="222972"/>
              <a:chOff x="5330430" y="5953991"/>
              <a:chExt cx="1839304" cy="222972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5330430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638695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940034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248299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560026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868291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44646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5740979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605958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6357456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651870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971387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5431341" y="6133379"/>
              <a:ext cx="1839304" cy="222972"/>
              <a:chOff x="5330430" y="5953991"/>
              <a:chExt cx="1839304" cy="222972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5330430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5638695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940034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248299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6560026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868291" y="5953991"/>
                <a:ext cx="301443" cy="2229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544646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5740979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6059582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6357456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651870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971387" y="6023914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004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50" y="1953400"/>
            <a:ext cx="5561138" cy="14773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 a = {3, 5, 7, 9};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4; ++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]*a[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4152808"/>
            <a:ext cx="5561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a[0] = 12;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a[1] = a[0] +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13;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018" y="5579918"/>
            <a:ext cx="5201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Note: array indexing is zero based!</a:t>
            </a:r>
          </a:p>
        </p:txBody>
      </p:sp>
      <p:sp>
        <p:nvSpPr>
          <p:cNvPr id="5" name="TextBox 4"/>
          <p:cNvSpPr txBox="1"/>
          <p:nvPr/>
        </p:nvSpPr>
        <p:spPr>
          <a:xfrm rot="19700132">
            <a:off x="3059723" y="3130154"/>
            <a:ext cx="4091505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Avoid if possible!</a:t>
            </a:r>
          </a:p>
        </p:txBody>
      </p:sp>
    </p:spTree>
    <p:extLst>
      <p:ext uri="{BB962C8B-B14F-4D97-AF65-F5344CB8AC3E}">
        <p14:creationId xmlns:p14="http://schemas.microsoft.com/office/powerpoint/2010/main" val="15428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array</a:t>
            </a:r>
          </a:p>
          <a:p>
            <a:r>
              <a:rPr lang="en-US" dirty="0"/>
              <a:t>Size is known at compile time.</a:t>
            </a:r>
          </a:p>
          <a:p>
            <a:r>
              <a:rPr lang="en-US" dirty="0"/>
              <a:t>Implementation: STL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9093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array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50" y="1953400"/>
            <a:ext cx="5561138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&lt;array&gt;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::array&lt;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4&gt; a {3, 5, 7, 9};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element: a)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element*element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4152808"/>
            <a:ext cx="5561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a[0] = 12;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a[1] = a[0] +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13;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1018" y="5579918"/>
            <a:ext cx="520174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Note: array indexing is zero based!</a:t>
            </a:r>
          </a:p>
        </p:txBody>
      </p:sp>
    </p:spTree>
    <p:extLst>
      <p:ext uri="{BB962C8B-B14F-4D97-AF65-F5344CB8AC3E}">
        <p14:creationId xmlns:p14="http://schemas.microsoft.com/office/powerpoint/2010/main" val="269848777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Properties of array</a:t>
            </a:r>
          </a:p>
          <a:p>
            <a:r>
              <a:rPr lang="en-US" dirty="0"/>
              <a:t>Support for mathematical operations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</a:p>
          <a:p>
            <a:pPr lvl="1"/>
            <a:r>
              <a:rPr lang="en-US" dirty="0"/>
              <a:t>functions: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/>
              <a:t>, …</a:t>
            </a:r>
          </a:p>
          <a:p>
            <a:r>
              <a:rPr lang="en-US" dirty="0"/>
              <a:t>Implementation: STL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8006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array example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628650" y="4401777"/>
            <a:ext cx="7886700" cy="1775186"/>
          </a:xfrm>
        </p:spPr>
        <p:txBody>
          <a:bodyPr/>
          <a:lstStyle/>
          <a:p>
            <a:r>
              <a:rPr lang="en-US" dirty="0"/>
              <a:t>range for loop</a:t>
            </a:r>
          </a:p>
          <a:p>
            <a:pPr lvl="1"/>
            <a:r>
              <a:rPr lang="en-US" dirty="0"/>
              <a:t>iterates over all values in container</a:t>
            </a:r>
          </a:p>
          <a:p>
            <a:pPr lvl="1"/>
            <a:r>
              <a:rPr lang="en-US" dirty="0"/>
              <a:t>variable type = data type in container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when value won’t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1961638"/>
            <a:ext cx="6979848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 data = {3.5, 7.3, 9.1};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.size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3.0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data;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auto&amp; value: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data_tr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value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64195" y="2093453"/>
            <a:ext cx="3089189" cy="855693"/>
            <a:chOff x="5629634" y="2531611"/>
            <a:chExt cx="3089189" cy="855693"/>
          </a:xfrm>
        </p:grpSpPr>
        <p:sp>
          <p:nvSpPr>
            <p:cNvPr id="9" name="TextBox 8"/>
            <p:cNvSpPr txBox="1"/>
            <p:nvPr/>
          </p:nvSpPr>
          <p:spPr>
            <a:xfrm>
              <a:off x="6768917" y="2531611"/>
              <a:ext cx="1949906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valarray</a:t>
              </a:r>
              <a:r>
                <a:rPr lang="en-US" dirty="0"/>
                <a:t> keeps</a:t>
              </a:r>
              <a:br>
                <a:rPr lang="en-US" dirty="0"/>
              </a:br>
              <a:r>
                <a:rPr lang="en-US" dirty="0"/>
                <a:t>track of size</a:t>
              </a: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>
              <a:off x="5629634" y="2854777"/>
              <a:ext cx="1139283" cy="53252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896497" y="2871599"/>
            <a:ext cx="5156887" cy="646331"/>
            <a:chOff x="4134134" y="2531611"/>
            <a:chExt cx="4769097" cy="646331"/>
          </a:xfrm>
        </p:grpSpPr>
        <p:sp>
          <p:nvSpPr>
            <p:cNvPr id="21" name="TextBox 20"/>
            <p:cNvSpPr txBox="1"/>
            <p:nvPr/>
          </p:nvSpPr>
          <p:spPr>
            <a:xfrm>
              <a:off x="6768916" y="2531611"/>
              <a:ext cx="2134315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overloaded arithmetic operators</a:t>
              </a:r>
            </a:p>
          </p:txBody>
        </p:sp>
        <p:cxnSp>
          <p:nvCxnSpPr>
            <p:cNvPr id="22" name="Straight Arrow Connector 21"/>
            <p:cNvCxnSpPr>
              <a:stCxn id="21" idx="1"/>
            </p:cNvCxnSpPr>
            <p:nvPr/>
          </p:nvCxnSpPr>
          <p:spPr>
            <a:xfrm flipH="1">
              <a:off x="4134134" y="2854777"/>
              <a:ext cx="2634782" cy="7754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/>
          <p:cNvCxnSpPr/>
          <p:nvPr/>
        </p:nvCxnSpPr>
        <p:spPr>
          <a:xfrm flipV="1">
            <a:off x="826718" y="3688915"/>
            <a:ext cx="219205" cy="77661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4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 bldLvl="2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random by ordinal index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length can vary</a:t>
            </a:r>
          </a:p>
          <a:p>
            <a:pPr lvl="1"/>
            <a:r>
              <a:rPr lang="en-US" dirty="0"/>
              <a:t>update: O(1)</a:t>
            </a:r>
          </a:p>
          <a:p>
            <a:pPr lvl="1"/>
            <a:r>
              <a:rPr lang="en-US" dirty="0"/>
              <a:t>retrieval: O(1)</a:t>
            </a:r>
          </a:p>
          <a:p>
            <a:pPr lvl="1"/>
            <a:r>
              <a:rPr lang="en-US" dirty="0"/>
              <a:t>search: O(n)</a:t>
            </a:r>
          </a:p>
          <a:p>
            <a:pPr lvl="1"/>
            <a:r>
              <a:rPr lang="en-US" dirty="0"/>
              <a:t>element type: homogenous</a:t>
            </a:r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730462" y="2782169"/>
            <a:ext cx="2993192" cy="777007"/>
            <a:chOff x="6307280" y="2566553"/>
            <a:chExt cx="3990923" cy="1036008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8161864" y="3147479"/>
            <a:ext cx="937684" cy="4550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19040" imgH="203040" progId="Equation.3">
                    <p:embed/>
                  </p:oleObj>
                </mc:Choice>
                <mc:Fallback>
                  <p:oleObj name="Equation" r:id="rId2" imgW="419040" imgH="2030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161864" y="3147479"/>
                          <a:ext cx="937684" cy="4550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6307280" y="2566553"/>
              <a:ext cx="3990923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1-dimensional array-like </a:t>
              </a:r>
              <a:r>
                <a:rPr lang="en-US" sz="2100" i="1" dirty="0">
                  <a:latin typeface="Palatino Linotype" panose="02040502050505030304" pitchFamily="18" charset="0"/>
                </a:rPr>
                <a:t>a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158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5431341" y="5693496"/>
            <a:ext cx="1839304" cy="222972"/>
            <a:chOff x="5330430" y="5953991"/>
            <a:chExt cx="1839304" cy="222972"/>
          </a:xfrm>
        </p:grpSpPr>
        <p:sp>
          <p:nvSpPr>
            <p:cNvPr id="8" name="Rectangle 7"/>
            <p:cNvSpPr/>
            <p:nvPr/>
          </p:nvSpPr>
          <p:spPr>
            <a:xfrm>
              <a:off x="5330430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638695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40034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48299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560026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68291" y="5953991"/>
              <a:ext cx="301443" cy="2229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446462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740979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059582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357456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651870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6971387" y="6023914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90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example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/>
          <a:p>
            <a:fld id="{11AD1F4E-1E51-402E-B221-310F004E7D3B}" type="slidenum">
              <a:rPr lang="en-US" smtClean="0"/>
              <a:t>159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49" y="1953400"/>
            <a:ext cx="7486651" cy="25853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vector&lt;double&gt;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 in)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vector&lt;double&gt; data;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item;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(in &gt;&gt; item)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push_back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data;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990260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example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solidFill>
            <a:schemeClr val="bg1"/>
          </a:solidFill>
        </p:spPr>
        <p:txBody>
          <a:bodyPr/>
          <a:lstStyle/>
          <a:p>
            <a:fld id="{11AD1F4E-1E51-402E-B221-310F004E7D3B}" type="slidenum">
              <a:rPr lang="en-US" smtClean="0"/>
              <a:t>160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49" y="1953400"/>
            <a:ext cx="7486651" cy="34163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Stats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compute_stats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(vector&lt;double&gt;&amp; data)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sum {0.0};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double item: 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sum += item;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Stats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stats.n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stats.mean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sum/n;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stats;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6395" y="5766404"/>
            <a:ext cx="538025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Note: vector indexing is zero based!</a:t>
            </a:r>
          </a:p>
        </p:txBody>
      </p:sp>
    </p:spTree>
    <p:extLst>
      <p:ext uri="{BB962C8B-B14F-4D97-AF65-F5344CB8AC3E}">
        <p14:creationId xmlns:p14="http://schemas.microsoft.com/office/powerpoint/2010/main" val="353229080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en-US" dirty="0"/>
              <a:t>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true if container empty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number of items in container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c.max_size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maximum capacity of container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2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SequenceContainer</a:t>
            </a:r>
            <a:r>
              <a:rPr lang="en-US" dirty="0"/>
              <a:t>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c.at(index)</a:t>
            </a:r>
          </a:p>
          <a:p>
            <a:pPr lvl="1"/>
            <a:r>
              <a:rPr lang="en-US" dirty="0"/>
              <a:t>accessing element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/>
              <a:t> (0-based)</a:t>
            </a:r>
          </a:p>
          <a:p>
            <a:pPr lvl="1"/>
            <a:r>
              <a:rPr lang="en-US" dirty="0"/>
              <a:t>range checked, safer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c[index]</a:t>
            </a:r>
          </a:p>
          <a:p>
            <a:pPr lvl="1"/>
            <a:r>
              <a:rPr lang="en-US" dirty="0"/>
              <a:t>accessing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/>
              <a:t> (0-based)</a:t>
            </a:r>
          </a:p>
          <a:p>
            <a:pPr lvl="1"/>
            <a:r>
              <a:rPr lang="en-US" dirty="0"/>
              <a:t>not ranged checked, faster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c.front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first/last element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c.push_back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(e)</a:t>
            </a:r>
          </a:p>
          <a:p>
            <a:pPr lvl="1"/>
            <a:r>
              <a:rPr lang="en-US" dirty="0"/>
              <a:t>add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 at end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c.insert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(it, e)</a:t>
            </a:r>
          </a:p>
          <a:p>
            <a:pPr lvl="1"/>
            <a:r>
              <a:rPr lang="en-US" dirty="0"/>
              <a:t>insert an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dirty="0"/>
              <a:t> before position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US" dirty="0"/>
              <a:t> iterator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random by ordinal index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fixed length</a:t>
            </a:r>
          </a:p>
          <a:p>
            <a:pPr lvl="1"/>
            <a:r>
              <a:rPr lang="en-US" dirty="0"/>
              <a:t>insert/update: O(1)</a:t>
            </a:r>
          </a:p>
          <a:p>
            <a:pPr lvl="1"/>
            <a:r>
              <a:rPr lang="en-US" dirty="0"/>
              <a:t>retrieval: O(1)</a:t>
            </a:r>
          </a:p>
          <a:p>
            <a:pPr lvl="1"/>
            <a:r>
              <a:rPr lang="en-US" dirty="0"/>
              <a:t>search: N/A</a:t>
            </a:r>
          </a:p>
          <a:p>
            <a:pPr lvl="1"/>
            <a:r>
              <a:rPr lang="en-US" dirty="0"/>
              <a:t>element type: any combination</a:t>
            </a:r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699287" y="3234173"/>
            <a:ext cx="2734976" cy="798078"/>
            <a:chOff x="6307280" y="2566553"/>
            <a:chExt cx="3646634" cy="1064103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7305964" y="3118423"/>
            <a:ext cx="2647950" cy="512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80800" imgH="228600" progId="Equation.3">
                    <p:embed/>
                  </p:oleObj>
                </mc:Choice>
                <mc:Fallback>
                  <p:oleObj name="Equation" r:id="rId2" imgW="1180800" imgH="228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305964" y="3118423"/>
                          <a:ext cx="2647950" cy="5122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6307280" y="2566553"/>
              <a:ext cx="1498701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d</a:t>
              </a:r>
              <a:r>
                <a:rPr lang="en-US" sz="2100" dirty="0"/>
                <a:t>-tuple </a:t>
              </a:r>
              <a:r>
                <a:rPr lang="en-US" sz="2100" i="1" dirty="0">
                  <a:latin typeface="Palatino Linotype" panose="02040502050505030304" pitchFamily="18" charset="0"/>
                </a:rPr>
                <a:t>t</a:t>
              </a: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163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708775" y="4379119"/>
            <a:ext cx="1450975" cy="1450975"/>
            <a:chOff x="6868390" y="4539672"/>
            <a:chExt cx="1450975" cy="1450975"/>
          </a:xfrm>
        </p:grpSpPr>
        <p:pic>
          <p:nvPicPr>
            <p:cNvPr id="3113" name="Picture 41" descr="http://plainicon.com/dl.php?pid=48762&amp;tem=256px&amp;con=download-ico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8390" y="4539672"/>
              <a:ext cx="1450975" cy="1450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 rot="2676447">
              <a:off x="7121600" y="4829490"/>
              <a:ext cx="94455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Name:</a:t>
              </a:r>
              <a:br>
                <a:rPr lang="en-US" sz="1200" dirty="0"/>
              </a:br>
              <a:r>
                <a:rPr lang="en-US" sz="1200" dirty="0"/>
                <a:t>     </a:t>
              </a:r>
              <a:r>
                <a:rPr lang="en-US" sz="1200" dirty="0">
                  <a:latin typeface="Edwardian Script ITC" panose="030303020407070D0804" pitchFamily="66" charset="0"/>
                </a:rPr>
                <a:t>Bex</a:t>
              </a:r>
            </a:p>
            <a:p>
              <a:r>
                <a:rPr lang="en-US" sz="1200" dirty="0"/>
                <a:t>Destination:</a:t>
              </a:r>
              <a:br>
                <a:rPr lang="en-US" sz="1200" dirty="0"/>
              </a:br>
              <a:r>
                <a:rPr lang="en-US" sz="1200" dirty="0"/>
                <a:t>    </a:t>
              </a:r>
              <a:r>
                <a:rPr lang="en-US" sz="1200" dirty="0">
                  <a:latin typeface="Edwardian Script ITC" panose="030303020407070D0804" pitchFamily="66" charset="0"/>
                </a:rPr>
                <a:t>London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267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1463860"/>
            <a:ext cx="7540565" cy="34163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&lt;tuple&gt;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electron_prop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make_tuple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(9.11e-31, -1);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"mass: 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::get&lt;0&gt;(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electron_prop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"charge: 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::get&lt;1&gt;(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electron_prop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 [mass, charge]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electron_prop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"mass: " &lt;&lt; mass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"charge: " &lt;&lt; charge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4261" y="5726565"/>
            <a:ext cx="521899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Note: tuple indexing is zero based!</a:t>
            </a:r>
          </a:p>
        </p:txBody>
      </p:sp>
    </p:spTree>
    <p:extLst>
      <p:ext uri="{BB962C8B-B14F-4D97-AF65-F5344CB8AC3E}">
        <p14:creationId xmlns:p14="http://schemas.microsoft.com/office/powerpoint/2010/main" val="176115611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in order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length can vary</a:t>
            </a:r>
          </a:p>
          <a:p>
            <a:pPr lvl="1"/>
            <a:r>
              <a:rPr lang="en-US" dirty="0"/>
              <a:t>insert/update: O(n)</a:t>
            </a:r>
          </a:p>
          <a:p>
            <a:pPr lvl="1"/>
            <a:r>
              <a:rPr lang="en-US" dirty="0"/>
              <a:t>retrieval: O(n)</a:t>
            </a:r>
          </a:p>
          <a:p>
            <a:pPr lvl="1"/>
            <a:r>
              <a:rPr lang="en-US" dirty="0"/>
              <a:t>search: O(n)</a:t>
            </a:r>
          </a:p>
          <a:p>
            <a:pPr lvl="1"/>
            <a:r>
              <a:rPr lang="en-US" dirty="0"/>
              <a:t>prepend/append/pop/</a:t>
            </a:r>
            <a:r>
              <a:rPr lang="en-US" dirty="0" err="1"/>
              <a:t>unshift</a:t>
            </a:r>
            <a:r>
              <a:rPr lang="en-US" dirty="0"/>
              <a:t>: O(1)</a:t>
            </a:r>
          </a:p>
          <a:p>
            <a:pPr lvl="1"/>
            <a:r>
              <a:rPr lang="en-US" dirty="0"/>
              <a:t>element type: homogenous</a:t>
            </a:r>
          </a:p>
          <a:p>
            <a:pPr lvl="1"/>
            <a:r>
              <a:rPr lang="en-US" dirty="0"/>
              <a:t>operations: concatenation</a:t>
            </a:r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165</a:t>
            </a:fld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5268191" y="4873328"/>
            <a:ext cx="2732816" cy="817426"/>
            <a:chOff x="5268191" y="4873328"/>
            <a:chExt cx="2732816" cy="817426"/>
          </a:xfrm>
        </p:grpSpPr>
        <p:grpSp>
          <p:nvGrpSpPr>
            <p:cNvPr id="12" name="Group 11"/>
            <p:cNvGrpSpPr/>
            <p:nvPr/>
          </p:nvGrpSpPr>
          <p:grpSpPr>
            <a:xfrm>
              <a:off x="5268191" y="5070761"/>
              <a:ext cx="311727" cy="467593"/>
              <a:chOff x="5268191" y="5070761"/>
              <a:chExt cx="311727" cy="467593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5278475" y="5070761"/>
                <a:ext cx="301443" cy="4675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5394507" y="5140685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endCxn id="8" idx="3"/>
              </p:cNvCxnSpPr>
              <p:nvPr/>
            </p:nvCxnSpPr>
            <p:spPr>
              <a:xfrm>
                <a:off x="5268191" y="5299364"/>
                <a:ext cx="311727" cy="51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/>
            <p:cNvGrpSpPr/>
            <p:nvPr/>
          </p:nvGrpSpPr>
          <p:grpSpPr>
            <a:xfrm>
              <a:off x="6044047" y="5223161"/>
              <a:ext cx="311727" cy="467593"/>
              <a:chOff x="5268191" y="5070761"/>
              <a:chExt cx="311727" cy="467593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278475" y="5070761"/>
                <a:ext cx="301443" cy="4675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394507" y="5140685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endCxn id="14" idx="3"/>
              </p:cNvCxnSpPr>
              <p:nvPr/>
            </p:nvCxnSpPr>
            <p:spPr>
              <a:xfrm>
                <a:off x="5268191" y="5299364"/>
                <a:ext cx="311727" cy="51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6799123" y="5053440"/>
              <a:ext cx="311727" cy="467593"/>
              <a:chOff x="5268191" y="5070761"/>
              <a:chExt cx="311727" cy="467593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5278475" y="5070761"/>
                <a:ext cx="301443" cy="4675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5394507" y="5140685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/>
              <p:cNvCxnSpPr>
                <a:endCxn id="18" idx="3"/>
              </p:cNvCxnSpPr>
              <p:nvPr/>
            </p:nvCxnSpPr>
            <p:spPr>
              <a:xfrm>
                <a:off x="5268191" y="5299364"/>
                <a:ext cx="311727" cy="51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7689280" y="4873328"/>
              <a:ext cx="311727" cy="467593"/>
              <a:chOff x="5268191" y="5070761"/>
              <a:chExt cx="311727" cy="467593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5278475" y="5070761"/>
                <a:ext cx="301443" cy="4675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5394507" y="5140685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/>
              <p:cNvCxnSpPr>
                <a:endCxn id="22" idx="3"/>
              </p:cNvCxnSpPr>
              <p:nvPr/>
            </p:nvCxnSpPr>
            <p:spPr>
              <a:xfrm>
                <a:off x="5268191" y="5299364"/>
                <a:ext cx="311727" cy="51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/>
            <p:cNvCxnSpPr/>
            <p:nvPr/>
          </p:nvCxnSpPr>
          <p:spPr>
            <a:xfrm flipV="1">
              <a:off x="5394507" y="5376212"/>
              <a:ext cx="649540" cy="7555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6180647" y="5154573"/>
              <a:ext cx="628760" cy="40477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6956503" y="4938352"/>
              <a:ext cx="756809" cy="49280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7763641" y="5223161"/>
              <a:ext cx="185411" cy="377535"/>
              <a:chOff x="7763641" y="5223161"/>
              <a:chExt cx="185411" cy="377535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7856346" y="5223161"/>
                <a:ext cx="0" cy="2978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7763641" y="5521033"/>
                <a:ext cx="18541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7806124" y="5590054"/>
                <a:ext cx="100444" cy="106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Group 26"/>
          <p:cNvGrpSpPr/>
          <p:nvPr/>
        </p:nvGrpSpPr>
        <p:grpSpPr>
          <a:xfrm>
            <a:off x="6457951" y="3296518"/>
            <a:ext cx="1206743" cy="782600"/>
            <a:chOff x="6457951" y="3296518"/>
            <a:chExt cx="1206743" cy="782600"/>
          </a:xfrm>
        </p:grpSpPr>
        <p:sp>
          <p:nvSpPr>
            <p:cNvPr id="6" name="TextBox 5"/>
            <p:cNvSpPr txBox="1"/>
            <p:nvPr/>
          </p:nvSpPr>
          <p:spPr>
            <a:xfrm>
              <a:off x="6457951" y="3296518"/>
              <a:ext cx="63850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list </a:t>
              </a:r>
              <a:r>
                <a:rPr lang="en-US" sz="2100" i="1" dirty="0">
                  <a:latin typeface="Palatino Linotype" panose="02040502050505030304" pitchFamily="18" charset="0"/>
                </a:rPr>
                <a:t>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967002" y="3802119"/>
                  <a:ext cx="6976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7002" y="3802119"/>
                  <a:ext cx="697692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7895" r="-1754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889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49" y="1971523"/>
            <a:ext cx="7746423" cy="20313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&lt;list&gt;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::list&lt;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list;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list.push_back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value: list)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value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9753126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7690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iterator</a:t>
            </a:r>
          </a:p>
          <a:p>
            <a:pPr lvl="1"/>
            <a:r>
              <a:rPr lang="en-US" dirty="0"/>
              <a:t>unordered</a:t>
            </a:r>
          </a:p>
          <a:p>
            <a:pPr lvl="1"/>
            <a:r>
              <a:rPr lang="en-US" dirty="0"/>
              <a:t>size can vary</a:t>
            </a:r>
          </a:p>
          <a:p>
            <a:pPr lvl="1"/>
            <a:r>
              <a:rPr lang="en-US" dirty="0"/>
              <a:t>insert/remove: O(1)</a:t>
            </a:r>
          </a:p>
          <a:p>
            <a:pPr lvl="1"/>
            <a:r>
              <a:rPr lang="en-US" dirty="0"/>
              <a:t>search: O(1)</a:t>
            </a:r>
          </a:p>
          <a:p>
            <a:pPr lvl="1"/>
            <a:r>
              <a:rPr lang="en-US" dirty="0"/>
              <a:t>element type: homogenous</a:t>
            </a:r>
          </a:p>
          <a:p>
            <a:pPr lvl="1"/>
            <a:r>
              <a:rPr lang="en-US" dirty="0"/>
              <a:t>elements are unique in set</a:t>
            </a:r>
          </a:p>
          <a:p>
            <a:pPr lvl="1"/>
            <a:r>
              <a:rPr lang="en-US" dirty="0"/>
              <a:t>operations: union, intersection, …</a:t>
            </a:r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167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6112450" y="3306586"/>
            <a:ext cx="1166159" cy="744979"/>
            <a:chOff x="6112450" y="3306586"/>
            <a:chExt cx="1166159" cy="744979"/>
          </a:xfrm>
        </p:grpSpPr>
        <p:sp>
          <p:nvSpPr>
            <p:cNvPr id="6" name="TextBox 5"/>
            <p:cNvSpPr txBox="1"/>
            <p:nvPr/>
          </p:nvSpPr>
          <p:spPr>
            <a:xfrm>
              <a:off x="6112450" y="3306586"/>
              <a:ext cx="67851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set </a:t>
              </a:r>
              <a:r>
                <a:rPr lang="en-US" sz="2100" i="1" dirty="0">
                  <a:latin typeface="Palatino Linotype" panose="02040502050505030304" pitchFamily="18" charset="0"/>
                </a:rPr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687613" y="3774566"/>
                  <a:ext cx="5909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i="1" dirty="0"/>
                    <a:t>s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613" y="3774566"/>
                  <a:ext cx="59099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3711" t="-28261" r="-8247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5746177" y="5258955"/>
            <a:ext cx="892756" cy="1287318"/>
            <a:chOff x="5268191" y="5258955"/>
            <a:chExt cx="892756" cy="1287318"/>
          </a:xfrm>
        </p:grpSpPr>
        <p:sp>
          <p:nvSpPr>
            <p:cNvPr id="8" name="Oval 7"/>
            <p:cNvSpPr/>
            <p:nvPr/>
          </p:nvSpPr>
          <p:spPr>
            <a:xfrm>
              <a:off x="5268191" y="5258955"/>
              <a:ext cx="892756" cy="12873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0" name="Oval 9"/>
            <p:cNvSpPr/>
            <p:nvPr/>
          </p:nvSpPr>
          <p:spPr>
            <a:xfrm>
              <a:off x="5779077" y="6155893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931477" y="5601709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429248" y="5774891"/>
              <a:ext cx="83127" cy="83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20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49" y="1704105"/>
            <a:ext cx="7886701" cy="424731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 col1, col2, col3;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col1 &gt;&gt; col2 &gt;&gt; col3;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temp;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id &gt;&gt;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temp)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dim_nrs.insert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2819" y="461993"/>
            <a:ext cx="2941831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id      dim_nr  temp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1       1       -0.5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2       1       0.0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4       2       -0.5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5       2       0.0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6       2       0.5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8       3       0.0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9       3       0.5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10      4       0.0</a:t>
            </a:r>
          </a:p>
        </p:txBody>
      </p:sp>
    </p:spTree>
    <p:extLst>
      <p:ext uri="{BB962C8B-B14F-4D97-AF65-F5344CB8AC3E}">
        <p14:creationId xmlns:p14="http://schemas.microsoft.com/office/powerpoint/2010/main" val="14271254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8833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random by key</a:t>
            </a:r>
          </a:p>
          <a:p>
            <a:pPr lvl="1"/>
            <a:r>
              <a:rPr lang="en-US" dirty="0"/>
              <a:t>unordered</a:t>
            </a:r>
          </a:p>
          <a:p>
            <a:pPr lvl="1"/>
            <a:r>
              <a:rPr lang="en-US" dirty="0"/>
              <a:t>size can vary</a:t>
            </a:r>
          </a:p>
          <a:p>
            <a:pPr lvl="1"/>
            <a:r>
              <a:rPr lang="en-US" dirty="0"/>
              <a:t>insert/update: O(1)</a:t>
            </a:r>
          </a:p>
          <a:p>
            <a:pPr lvl="1"/>
            <a:r>
              <a:rPr lang="en-US" dirty="0"/>
              <a:t>retrieval: O(1)</a:t>
            </a:r>
          </a:p>
          <a:p>
            <a:pPr lvl="1"/>
            <a:r>
              <a:rPr lang="en-US" dirty="0"/>
              <a:t>search: O(1)</a:t>
            </a:r>
          </a:p>
          <a:p>
            <a:pPr lvl="1"/>
            <a:r>
              <a:rPr lang="en-US" dirty="0"/>
              <a:t>element type:</a:t>
            </a:r>
          </a:p>
          <a:p>
            <a:pPr lvl="2"/>
            <a:r>
              <a:rPr lang="en-US" dirty="0" err="1"/>
              <a:t>homogenious</a:t>
            </a:r>
            <a:r>
              <a:rPr lang="en-US" dirty="0"/>
              <a:t> for key</a:t>
            </a:r>
          </a:p>
          <a:p>
            <a:pPr lvl="2"/>
            <a:r>
              <a:rPr lang="en-US" dirty="0" err="1"/>
              <a:t>homogenious</a:t>
            </a:r>
            <a:r>
              <a:rPr lang="en-US" dirty="0"/>
              <a:t> for value</a:t>
            </a:r>
          </a:p>
          <a:p>
            <a:pPr lvl="1"/>
            <a:r>
              <a:rPr lang="en-US" dirty="0"/>
              <a:t>keys are unique in map</a:t>
            </a:r>
          </a:p>
          <a:p>
            <a:pPr lvl="1"/>
            <a:r>
              <a:rPr lang="en-US" dirty="0"/>
              <a:t>operations: union</a:t>
            </a:r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169</a:t>
            </a:fld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750181" y="4156406"/>
            <a:ext cx="192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surjective function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01209" y="2628405"/>
            <a:ext cx="1955712" cy="728405"/>
            <a:chOff x="5342225" y="3241911"/>
            <a:chExt cx="1955712" cy="728405"/>
          </a:xfrm>
        </p:grpSpPr>
        <p:sp>
          <p:nvSpPr>
            <p:cNvPr id="6" name="TextBox 5"/>
            <p:cNvSpPr txBox="1"/>
            <p:nvPr/>
          </p:nvSpPr>
          <p:spPr>
            <a:xfrm>
              <a:off x="5342225" y="3241911"/>
              <a:ext cx="93968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map </a:t>
              </a:r>
              <a:r>
                <a:rPr lang="en-US" sz="2100" i="1" dirty="0">
                  <a:latin typeface="Palatino Linotype" panose="02040502050505030304" pitchFamily="18" charset="0"/>
                </a:rPr>
                <a:t>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957635" y="3693317"/>
                  <a:ext cx="13403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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7635" y="3693317"/>
                  <a:ext cx="1340302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273" r="-1818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/>
          <p:cNvGrpSpPr/>
          <p:nvPr/>
        </p:nvGrpSpPr>
        <p:grpSpPr>
          <a:xfrm>
            <a:off x="4883147" y="4723818"/>
            <a:ext cx="3881949" cy="1763801"/>
            <a:chOff x="4883147" y="4723818"/>
            <a:chExt cx="3881949" cy="1763801"/>
          </a:xfrm>
        </p:grpSpPr>
        <p:grpSp>
          <p:nvGrpSpPr>
            <p:cNvPr id="51" name="Group 50"/>
            <p:cNvGrpSpPr/>
            <p:nvPr/>
          </p:nvGrpSpPr>
          <p:grpSpPr>
            <a:xfrm>
              <a:off x="5597075" y="5200301"/>
              <a:ext cx="2587335" cy="1287318"/>
              <a:chOff x="5268191" y="5258955"/>
              <a:chExt cx="2587335" cy="1287318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5268191" y="5258955"/>
                <a:ext cx="892756" cy="12873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35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6911473" y="5258955"/>
                <a:ext cx="944053" cy="12873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667054" y="538422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463894" y="5989130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823249" y="6148822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486650" y="5610378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7192241" y="6155893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>
                <a:stCxn id="12" idx="5"/>
                <a:endCxn id="15" idx="1"/>
              </p:cNvCxnSpPr>
              <p:nvPr/>
            </p:nvCxnSpPr>
            <p:spPr>
              <a:xfrm>
                <a:off x="5738007" y="5455179"/>
                <a:ext cx="1760817" cy="1673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>
                <a:stCxn id="13" idx="6"/>
                <a:endCxn id="15" idx="3"/>
              </p:cNvCxnSpPr>
              <p:nvPr/>
            </p:nvCxnSpPr>
            <p:spPr>
              <a:xfrm flipV="1">
                <a:off x="5547021" y="5681331"/>
                <a:ext cx="1951803" cy="3493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stCxn id="14" idx="6"/>
                <a:endCxn id="16" idx="2"/>
              </p:cNvCxnSpPr>
              <p:nvPr/>
            </p:nvCxnSpPr>
            <p:spPr>
              <a:xfrm>
                <a:off x="5906376" y="6190386"/>
                <a:ext cx="1285865" cy="70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883147" y="4723818"/>
                  <a:ext cx="11543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keys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147" y="4723818"/>
                  <a:ext cx="115435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291" t="-2222" r="-1058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7461598" y="4791500"/>
                  <a:ext cx="13034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values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598" y="4791500"/>
                  <a:ext cx="130349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06" r="-1869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0899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0" grpId="0" uiExpand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58537" y="1690689"/>
            <a:ext cx="7845136" cy="4524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 col1, col2, col3;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col1 &gt;&gt; col2 &gt;&gt; col3;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temp;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dim_nr_counts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id &gt;&gt;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temp)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dim_nr_counts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]++;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auto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dim_nr_counts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dim_nr.first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": 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dim_nr.second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2819" y="461993"/>
            <a:ext cx="2941831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id      dim_nr  temp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1       1       -0.5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2       1       0.0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4       2       -0.5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5       2       0.0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6       2       0.5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8       3       0.0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9       3       0.5</a:t>
            </a:r>
          </a:p>
          <a:p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10      4       0.0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574851" y="5599134"/>
            <a:ext cx="550151" cy="686544"/>
            <a:chOff x="3248890" y="5148406"/>
            <a:chExt cx="550151" cy="686544"/>
          </a:xfrm>
        </p:grpSpPr>
        <p:sp>
          <p:nvSpPr>
            <p:cNvPr id="8" name="TextBox 7"/>
            <p:cNvSpPr txBox="1"/>
            <p:nvPr/>
          </p:nvSpPr>
          <p:spPr>
            <a:xfrm>
              <a:off x="3248890" y="5465618"/>
              <a:ext cx="55015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pair</a:t>
              </a:r>
            </a:p>
          </p:txBody>
        </p:sp>
        <p:cxnSp>
          <p:nvCxnSpPr>
            <p:cNvPr id="9" name="Straight Arrow Connector 8"/>
            <p:cNvCxnSpPr>
              <a:stCxn id="8" idx="0"/>
            </p:cNvCxnSpPr>
            <p:nvPr/>
          </p:nvCxnSpPr>
          <p:spPr>
            <a:xfrm flipV="1">
              <a:off x="3523966" y="5148406"/>
              <a:ext cx="83246" cy="31721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61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versus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unordered_set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elements not sorted</a:t>
            </a:r>
          </a:p>
          <a:p>
            <a:pPr lvl="1"/>
            <a:r>
              <a:rPr lang="en-US" dirty="0"/>
              <a:t>faster insert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lvl="1"/>
            <a:r>
              <a:rPr lang="en-US" dirty="0"/>
              <a:t>elements sorted (custom comparator supported)</a:t>
            </a:r>
          </a:p>
          <a:p>
            <a:pPr lvl="1"/>
            <a:r>
              <a:rPr lang="en-US" dirty="0"/>
              <a:t>slower insert</a:t>
            </a:r>
          </a:p>
          <a:p>
            <a:pPr lvl="1"/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keys not sorted</a:t>
            </a:r>
          </a:p>
          <a:p>
            <a:pPr lvl="1"/>
            <a:r>
              <a:rPr lang="en-US" dirty="0"/>
              <a:t>faster insert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</a:p>
          <a:p>
            <a:pPr lvl="1"/>
            <a:r>
              <a:rPr lang="en-US" dirty="0"/>
              <a:t>keys sorted (custom comparator supported)</a:t>
            </a:r>
          </a:p>
          <a:p>
            <a:pPr lvl="1"/>
            <a:r>
              <a:rPr lang="en-US" dirty="0"/>
              <a:t>slower insert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45960"/>
            <a:ext cx="2057400" cy="365125"/>
          </a:xfrm>
        </p:spPr>
        <p:txBody>
          <a:bodyPr/>
          <a:lstStyle/>
          <a:p>
            <a:fld id="{11AD1F4E-1E51-402E-B221-310F004E7D3B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5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vs. non-contiguous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stored contiguously in memory allows </a:t>
            </a:r>
            <a:r>
              <a:rPr lang="en-US" dirty="0" err="1"/>
              <a:t>prefetch</a:t>
            </a:r>
            <a:endParaRPr lang="en-US" dirty="0"/>
          </a:p>
          <a:p>
            <a:pPr lvl="1"/>
            <a:r>
              <a:rPr lang="en-US" dirty="0"/>
              <a:t>decreases memory latency</a:t>
            </a:r>
          </a:p>
          <a:p>
            <a:pPr lvl="1"/>
            <a:endParaRPr lang="en-US" dirty="0"/>
          </a:p>
          <a:p>
            <a:r>
              <a:rPr lang="en-US" dirty="0"/>
              <a:t>Data types</a:t>
            </a:r>
          </a:p>
          <a:p>
            <a:pPr lvl="1"/>
            <a:r>
              <a:rPr lang="en-US" dirty="0" err="1"/>
              <a:t>valarray</a:t>
            </a:r>
            <a:endParaRPr lang="en-US" dirty="0"/>
          </a:p>
          <a:p>
            <a:pPr lvl="1"/>
            <a:r>
              <a:rPr lang="en-US" dirty="0"/>
              <a:t>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48575" y="2475781"/>
            <a:ext cx="221874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Many codes are</a:t>
            </a:r>
            <a:br>
              <a:rPr lang="en-US" sz="2400" dirty="0"/>
            </a:br>
            <a:r>
              <a:rPr lang="en-US" sz="2400" dirty="0"/>
              <a:t>memory bound!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5668" y="5072332"/>
            <a:ext cx="657609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Use these for memory-intensive algorithms,</a:t>
            </a:r>
            <a:br>
              <a:rPr lang="en-US" sz="2800" dirty="0"/>
            </a:br>
            <a:r>
              <a:rPr lang="en-US" sz="2800" i="1" dirty="0"/>
              <a:t>never</a:t>
            </a:r>
            <a:r>
              <a:rPr lang="en-US" sz="2800" dirty="0"/>
              <a:t> list/queue/…</a:t>
            </a:r>
          </a:p>
        </p:txBody>
      </p:sp>
    </p:spTree>
    <p:extLst>
      <p:ext uri="{BB962C8B-B14F-4D97-AF65-F5344CB8AC3E}">
        <p14:creationId xmlns:p14="http://schemas.microsoft.com/office/powerpoint/2010/main" val="365358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structures provided</a:t>
            </a:r>
          </a:p>
          <a:p>
            <a:pPr lvl="1"/>
            <a:r>
              <a:rPr lang="en-US" dirty="0"/>
              <a:t>standard libraries</a:t>
            </a:r>
          </a:p>
          <a:p>
            <a:pPr lvl="1"/>
            <a:r>
              <a:rPr lang="en-US" dirty="0"/>
              <a:t>third-party libraries</a:t>
            </a:r>
          </a:p>
          <a:p>
            <a:r>
              <a:rPr lang="en-US" dirty="0"/>
              <a:t>Often implemented on top of basic data structures</a:t>
            </a:r>
          </a:p>
          <a:p>
            <a:r>
              <a:rPr lang="en-US" dirty="0"/>
              <a:t>Other data structures can be implemented on top</a:t>
            </a:r>
          </a:p>
          <a:p>
            <a:r>
              <a:rPr lang="en-US" dirty="0"/>
              <a:t>Contents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queue, priority queue</a:t>
            </a:r>
          </a:p>
          <a:p>
            <a:pPr lvl="1"/>
            <a:r>
              <a:rPr lang="en-US" dirty="0"/>
              <a:t>graph, DAG,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638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only top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length can vary</a:t>
            </a:r>
          </a:p>
          <a:p>
            <a:pPr lvl="1"/>
            <a:r>
              <a:rPr lang="en-US" dirty="0"/>
              <a:t>push/peek/pop: O(1)</a:t>
            </a:r>
          </a:p>
          <a:p>
            <a:pPr lvl="1"/>
            <a:r>
              <a:rPr lang="en-US" dirty="0"/>
              <a:t>element type: homogenous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52154" y="4309392"/>
            <a:ext cx="274607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First in, last out</a:t>
            </a:r>
          </a:p>
        </p:txBody>
      </p:sp>
      <p:pic>
        <p:nvPicPr>
          <p:cNvPr id="7174" name="Picture 6" descr="http://www.clipartkid.com/images/357/stack-of-books-teach-yourself-latin-books-LQk2ox-clipart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2" r="17971"/>
          <a:stretch/>
        </p:blipFill>
        <p:spPr bwMode="auto">
          <a:xfrm>
            <a:off x="5237018" y="4395296"/>
            <a:ext cx="1496291" cy="157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6457950" y="3296518"/>
            <a:ext cx="1239444" cy="782600"/>
            <a:chOff x="6457950" y="3296518"/>
            <a:chExt cx="1239444" cy="782600"/>
          </a:xfrm>
        </p:grpSpPr>
        <p:sp>
          <p:nvSpPr>
            <p:cNvPr id="9" name="TextBox 8"/>
            <p:cNvSpPr txBox="1"/>
            <p:nvPr/>
          </p:nvSpPr>
          <p:spPr>
            <a:xfrm>
              <a:off x="6457950" y="3296518"/>
              <a:ext cx="90293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stack </a:t>
              </a:r>
              <a:r>
                <a:rPr lang="en-US" sz="2100" i="1" dirty="0">
                  <a:latin typeface="Palatino Linotype" panose="02040502050505030304" pitchFamily="18" charset="0"/>
                </a:rPr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967002" y="3802119"/>
                  <a:ext cx="7303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7002" y="3802119"/>
                  <a:ext cx="7303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167" r="-833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7196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1704105"/>
            <a:ext cx="6665768" cy="25853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&lt;stack&gt;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::stack&lt;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s;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384026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front to pop and back to push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length can vary</a:t>
            </a:r>
          </a:p>
          <a:p>
            <a:pPr lvl="1"/>
            <a:r>
              <a:rPr lang="en-US" dirty="0"/>
              <a:t>push/front/pop: O(1)</a:t>
            </a:r>
          </a:p>
          <a:p>
            <a:pPr lvl="1"/>
            <a:r>
              <a:rPr lang="en-US" dirty="0"/>
              <a:t>element type: homogenous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Implementation: STL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666153" y="4405168"/>
            <a:ext cx="285256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First in, first out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831385" y="5128420"/>
            <a:ext cx="5058454" cy="1016990"/>
            <a:chOff x="3831385" y="5159593"/>
            <a:chExt cx="5058454" cy="1016990"/>
          </a:xfrm>
        </p:grpSpPr>
        <p:pic>
          <p:nvPicPr>
            <p:cNvPr id="8199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3999" y="5551281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5" name="Picture 13" descr="http://justintm.com/programming/img/PO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825684" y="5159593"/>
              <a:ext cx="1064155" cy="738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0323" y="5528614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6647" y="5551281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1385" y="5528614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4634344" y="5863932"/>
              <a:ext cx="627611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6457950" y="3296518"/>
            <a:ext cx="1281825" cy="733385"/>
            <a:chOff x="6457950" y="3296518"/>
            <a:chExt cx="1281825" cy="733385"/>
          </a:xfrm>
        </p:grpSpPr>
        <p:sp>
          <p:nvSpPr>
            <p:cNvPr id="10" name="TextBox 9"/>
            <p:cNvSpPr txBox="1"/>
            <p:nvPr/>
          </p:nvSpPr>
          <p:spPr>
            <a:xfrm>
              <a:off x="6457950" y="3296518"/>
              <a:ext cx="106311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queue </a:t>
              </a:r>
              <a:r>
                <a:rPr lang="en-US" sz="2100" i="1" dirty="0">
                  <a:latin typeface="Palatino Linotype" panose="02040502050505030304" pitchFamily="18" charset="0"/>
                </a:rPr>
                <a:t>q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989506" y="3752904"/>
                  <a:ext cx="7502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506" y="3752904"/>
                  <a:ext cx="75026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317" r="-1626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902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1704105"/>
            <a:ext cx="6665768" cy="258532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&lt;queue&gt;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::queue&lt;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q;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(!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q.front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q.pop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547835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access: only front to pop, push inserts in order</a:t>
            </a:r>
          </a:p>
          <a:p>
            <a:pPr lvl="1"/>
            <a:r>
              <a:rPr lang="en-US" dirty="0"/>
              <a:t>ordered according to priority</a:t>
            </a:r>
          </a:p>
          <a:p>
            <a:pPr lvl="1"/>
            <a:r>
              <a:rPr lang="en-US" dirty="0"/>
              <a:t>length can vary</a:t>
            </a:r>
          </a:p>
          <a:p>
            <a:pPr lvl="1"/>
            <a:r>
              <a:rPr lang="en-US" dirty="0"/>
              <a:t>front: O(1), pop/push: O(log n)</a:t>
            </a:r>
          </a:p>
          <a:p>
            <a:pPr lvl="1"/>
            <a:r>
              <a:rPr lang="en-US" dirty="0"/>
              <a:t>element type: homogenous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Implementation: STL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178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4437411" y="4031720"/>
            <a:ext cx="4452428" cy="2113690"/>
            <a:chOff x="4437411" y="4031720"/>
            <a:chExt cx="4452428" cy="2113690"/>
          </a:xfrm>
        </p:grpSpPr>
        <p:pic>
          <p:nvPicPr>
            <p:cNvPr id="8199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3999" y="5520108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5" name="Picture 13" descr="http://justintm.com/programming/img/POS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825684" y="5128420"/>
              <a:ext cx="1064155" cy="738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1087" y="5497441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1" y="5520108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345" y="4397489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7339302" y="515077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!!!!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19816" y="5131672"/>
              <a:ext cx="386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!!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96659" y="5150775"/>
              <a:ext cx="2856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!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05187" y="4031720"/>
              <a:ext cx="4876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!!!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7063257" y="4666777"/>
              <a:ext cx="211" cy="2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5699298" y="4666777"/>
              <a:ext cx="1363958" cy="945665"/>
              <a:chOff x="5699298" y="4666777"/>
              <a:chExt cx="1363958" cy="945665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>
                <a:off x="7063256" y="4666777"/>
                <a:ext cx="0" cy="94566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5699298" y="4677804"/>
                <a:ext cx="1363958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9" name="Picture 7" descr="https://d30y9cdsu7xlg0.cloudfront.net/png/1675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1465" y="5501788"/>
              <a:ext cx="625302" cy="62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6360194" y="5136019"/>
              <a:ext cx="386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C00000"/>
                  </a:solidFill>
                </a:rPr>
                <a:t>!!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094696" y="3296518"/>
            <a:ext cx="1933543" cy="733385"/>
            <a:chOff x="6094696" y="3296518"/>
            <a:chExt cx="1933543" cy="733385"/>
          </a:xfrm>
        </p:grpSpPr>
        <p:sp>
          <p:nvSpPr>
            <p:cNvPr id="31" name="TextBox 30"/>
            <p:cNvSpPr txBox="1"/>
            <p:nvPr/>
          </p:nvSpPr>
          <p:spPr>
            <a:xfrm>
              <a:off x="6094696" y="3296518"/>
              <a:ext cx="193354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priority queue </a:t>
              </a:r>
              <a:r>
                <a:rPr lang="en-US" sz="2100" i="1" dirty="0">
                  <a:latin typeface="Palatino Linotype" panose="02040502050505030304" pitchFamily="18" charset="0"/>
                </a:rPr>
                <a:t>q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6989506" y="3752904"/>
                  <a:ext cx="7502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506" y="3752904"/>
                  <a:ext cx="75026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317" r="-1626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3839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represents relationships (= edges) between</a:t>
            </a:r>
            <a:br>
              <a:rPr lang="en-US" dirty="0"/>
            </a:br>
            <a:r>
              <a:rPr lang="en-US" dirty="0"/>
              <a:t>objects (= vertices)</a:t>
            </a:r>
          </a:p>
          <a:p>
            <a:pPr lvl="1"/>
            <a:r>
              <a:rPr lang="en-US" dirty="0"/>
              <a:t>ordered (directed graph or digraph),</a:t>
            </a:r>
            <a:br>
              <a:rPr lang="en-US" dirty="0"/>
            </a:br>
            <a:r>
              <a:rPr lang="en-US" dirty="0"/>
              <a:t>unordered (undirected graph)</a:t>
            </a:r>
          </a:p>
          <a:p>
            <a:pPr lvl="1"/>
            <a:r>
              <a:rPr lang="en-US" dirty="0"/>
              <a:t>number of vertices can vary</a:t>
            </a:r>
          </a:p>
          <a:p>
            <a:pPr lvl="1"/>
            <a:r>
              <a:rPr lang="en-US" dirty="0"/>
              <a:t>number of edges can vary</a:t>
            </a:r>
          </a:p>
          <a:p>
            <a:pPr lvl="1"/>
            <a:r>
              <a:rPr lang="en-US" dirty="0"/>
              <a:t>edges can have associate info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Implementations</a:t>
            </a:r>
          </a:p>
          <a:p>
            <a:pPr lvl="1"/>
            <a:r>
              <a:rPr lang="en-US" dirty="0"/>
              <a:t>e.g., as adjacency list</a:t>
            </a:r>
          </a:p>
          <a:p>
            <a:pPr lvl="1"/>
            <a:r>
              <a:rPr lang="en-US" dirty="0"/>
              <a:t>Boost library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179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893710" y="4063555"/>
            <a:ext cx="1239250" cy="884260"/>
            <a:chOff x="6263805" y="4078304"/>
            <a:chExt cx="1239250" cy="884260"/>
          </a:xfrm>
        </p:grpSpPr>
        <p:cxnSp>
          <p:nvCxnSpPr>
            <p:cNvPr id="11" name="Straight Arrow Connector 10"/>
            <p:cNvCxnSpPr>
              <a:stCxn id="12" idx="0"/>
            </p:cNvCxnSpPr>
            <p:nvPr/>
          </p:nvCxnSpPr>
          <p:spPr>
            <a:xfrm flipV="1">
              <a:off x="6883430" y="4078304"/>
              <a:ext cx="356809" cy="51492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263805" y="4593232"/>
              <a:ext cx="1239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vertex type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463185" y="4088695"/>
            <a:ext cx="1529458" cy="873869"/>
            <a:chOff x="6263805" y="4088695"/>
            <a:chExt cx="1529458" cy="873869"/>
          </a:xfrm>
        </p:grpSpPr>
        <p:cxnSp>
          <p:nvCxnSpPr>
            <p:cNvPr id="23" name="Straight Arrow Connector 22"/>
            <p:cNvCxnSpPr>
              <a:stCxn id="24" idx="0"/>
            </p:cNvCxnSpPr>
            <p:nvPr/>
          </p:nvCxnSpPr>
          <p:spPr>
            <a:xfrm flipH="1" flipV="1">
              <a:off x="6839950" y="4088695"/>
              <a:ext cx="188584" cy="50453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263805" y="4593232"/>
              <a:ext cx="1529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edge info type</a:t>
              </a:r>
            </a:p>
          </p:txBody>
        </p:sp>
      </p:grpSp>
      <p:grpSp>
        <p:nvGrpSpPr>
          <p:cNvPr id="8208" name="Group 8207"/>
          <p:cNvGrpSpPr/>
          <p:nvPr/>
        </p:nvGrpSpPr>
        <p:grpSpPr>
          <a:xfrm>
            <a:off x="5029091" y="5112383"/>
            <a:ext cx="1943337" cy="1452842"/>
            <a:chOff x="5029091" y="5112383"/>
            <a:chExt cx="1943337" cy="1452842"/>
          </a:xfrm>
        </p:grpSpPr>
        <p:grpSp>
          <p:nvGrpSpPr>
            <p:cNvPr id="16" name="Group 15"/>
            <p:cNvGrpSpPr/>
            <p:nvPr/>
          </p:nvGrpSpPr>
          <p:grpSpPr>
            <a:xfrm>
              <a:off x="5029091" y="5496792"/>
              <a:ext cx="301443" cy="252000"/>
              <a:chOff x="5029091" y="5496792"/>
              <a:chExt cx="301443" cy="2520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1" name="Straight Arrow Connector 30"/>
            <p:cNvCxnSpPr>
              <a:endCxn id="61" idx="0"/>
            </p:cNvCxnSpPr>
            <p:nvPr/>
          </p:nvCxnSpPr>
          <p:spPr>
            <a:xfrm>
              <a:off x="5228250" y="5755863"/>
              <a:ext cx="385333" cy="40431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52" idx="2"/>
              <a:endCxn id="61" idx="0"/>
            </p:cNvCxnSpPr>
            <p:nvPr/>
          </p:nvCxnSpPr>
          <p:spPr>
            <a:xfrm flipH="1">
              <a:off x="5613583" y="5364383"/>
              <a:ext cx="302912" cy="7957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55" idx="0"/>
              <a:endCxn id="52" idx="2"/>
            </p:cNvCxnSpPr>
            <p:nvPr/>
          </p:nvCxnSpPr>
          <p:spPr>
            <a:xfrm flipH="1" flipV="1">
              <a:off x="5916495" y="5364383"/>
              <a:ext cx="460501" cy="38980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5765773" y="5112383"/>
              <a:ext cx="301443" cy="252000"/>
              <a:chOff x="5029091" y="5496792"/>
              <a:chExt cx="301443" cy="25200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6226274" y="5754184"/>
              <a:ext cx="301443" cy="252000"/>
              <a:chOff x="5029091" y="5496792"/>
              <a:chExt cx="301443" cy="25200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5462861" y="6160174"/>
              <a:ext cx="301443" cy="252000"/>
              <a:chOff x="5029091" y="5496792"/>
              <a:chExt cx="301443" cy="2520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8" name="Straight Arrow Connector 67"/>
            <p:cNvCxnSpPr>
              <a:stCxn id="61" idx="3"/>
              <a:endCxn id="55" idx="1"/>
            </p:cNvCxnSpPr>
            <p:nvPr/>
          </p:nvCxnSpPr>
          <p:spPr>
            <a:xfrm flipV="1">
              <a:off x="5764304" y="5880184"/>
              <a:ext cx="461970" cy="40599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>
              <a:stCxn id="47" idx="3"/>
              <a:endCxn id="52" idx="1"/>
            </p:cNvCxnSpPr>
            <p:nvPr/>
          </p:nvCxnSpPr>
          <p:spPr>
            <a:xfrm flipV="1">
              <a:off x="5330534" y="5238383"/>
              <a:ext cx="435239" cy="38440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6670985" y="6313225"/>
              <a:ext cx="301443" cy="252000"/>
              <a:chOff x="5029091" y="5496792"/>
              <a:chExt cx="301443" cy="252000"/>
            </a:xfrm>
          </p:grpSpPr>
          <p:sp>
            <p:nvSpPr>
              <p:cNvPr id="77" name="Rectangle 76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82" name="Straight Arrow Connector 81"/>
          <p:cNvCxnSpPr>
            <a:stCxn id="55" idx="2"/>
            <a:endCxn id="61" idx="3"/>
          </p:cNvCxnSpPr>
          <p:nvPr/>
        </p:nvCxnSpPr>
        <p:spPr>
          <a:xfrm flipH="1">
            <a:off x="5764304" y="6006184"/>
            <a:ext cx="612692" cy="27999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634671F-E4BB-4607-B5AD-11CCCA43B550}"/>
              </a:ext>
            </a:extLst>
          </p:cNvPr>
          <p:cNvGrpSpPr/>
          <p:nvPr/>
        </p:nvGrpSpPr>
        <p:grpSpPr>
          <a:xfrm>
            <a:off x="6313340" y="3296518"/>
            <a:ext cx="1812740" cy="729767"/>
            <a:chOff x="6313340" y="3296518"/>
            <a:chExt cx="1812740" cy="729767"/>
          </a:xfrm>
        </p:grpSpPr>
        <p:sp>
          <p:nvSpPr>
            <p:cNvPr id="10" name="TextBox 9"/>
            <p:cNvSpPr txBox="1"/>
            <p:nvPr/>
          </p:nvSpPr>
          <p:spPr>
            <a:xfrm>
              <a:off x="6457950" y="3296518"/>
              <a:ext cx="100630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/>
                <a:t>graph </a:t>
              </a:r>
              <a:r>
                <a:rPr lang="en-US" sz="2100" i="1" dirty="0">
                  <a:latin typeface="Palatino Linotype" panose="02040502050505030304" pitchFamily="18" charset="0"/>
                </a:rPr>
                <a:t>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6313340" y="3749286"/>
                  <a:ext cx="18127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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340" y="3749286"/>
                  <a:ext cx="1812740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347" b="-26667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/>
          <p:cNvGrpSpPr/>
          <p:nvPr/>
        </p:nvGrpSpPr>
        <p:grpSpPr>
          <a:xfrm>
            <a:off x="6952533" y="4026285"/>
            <a:ext cx="734175" cy="1258580"/>
            <a:chOff x="6370276" y="3703984"/>
            <a:chExt cx="734175" cy="1258580"/>
          </a:xfrm>
        </p:grpSpPr>
        <p:cxnSp>
          <p:nvCxnSpPr>
            <p:cNvPr id="41" name="Straight Arrow Connector 40"/>
            <p:cNvCxnSpPr>
              <a:stCxn id="42" idx="0"/>
              <a:endCxn id="4" idx="2"/>
            </p:cNvCxnSpPr>
            <p:nvPr/>
          </p:nvCxnSpPr>
          <p:spPr>
            <a:xfrm flipH="1" flipV="1">
              <a:off x="6637453" y="3703984"/>
              <a:ext cx="99911" cy="88924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6370276" y="4593232"/>
              <a:ext cx="734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edges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21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special graph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Directed Acyclic Graph (DAG)</a:t>
            </a:r>
          </a:p>
          <a:p>
            <a:pPr lvl="1"/>
            <a:r>
              <a:rPr lang="en-US" dirty="0"/>
              <a:t>directed graph contains no cycles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Tree</a:t>
            </a:r>
          </a:p>
          <a:p>
            <a:pPr lvl="1"/>
            <a:r>
              <a:rPr lang="en-US" dirty="0"/>
              <a:t>for every pair of vertices </a:t>
            </a:r>
            <a:r>
              <a:rPr lang="en-US" i="1" dirty="0"/>
              <a:t>v</a:t>
            </a:r>
            <a:r>
              <a:rPr lang="en-US" i="1" baseline="-25000" dirty="0"/>
              <a:t>i</a:t>
            </a:r>
            <a:r>
              <a:rPr lang="en-US" dirty="0"/>
              <a:t> and </a:t>
            </a:r>
            <a:r>
              <a:rPr lang="en-US" i="1" dirty="0" err="1"/>
              <a:t>v</a:t>
            </a:r>
            <a:r>
              <a:rPr lang="en-US" i="1" baseline="-25000" dirty="0" err="1"/>
              <a:t>j</a:t>
            </a:r>
            <a:r>
              <a:rPr lang="en-US" dirty="0"/>
              <a:t>, there is exactly one path from </a:t>
            </a:r>
            <a:r>
              <a:rPr lang="en-US" i="1" dirty="0"/>
              <a:t>v</a:t>
            </a:r>
            <a:r>
              <a:rPr lang="en-US" i="1" baseline="-25000" dirty="0"/>
              <a:t>i</a:t>
            </a:r>
            <a:r>
              <a:rPr lang="en-US" dirty="0"/>
              <a:t> to </a:t>
            </a:r>
            <a:r>
              <a:rPr lang="en-US" i="1" dirty="0" err="1"/>
              <a:t>v</a:t>
            </a:r>
            <a:r>
              <a:rPr lang="en-US" i="1" baseline="-25000" dirty="0" err="1"/>
              <a:t>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78574" y="2348399"/>
            <a:ext cx="1943337" cy="1452842"/>
            <a:chOff x="5029091" y="5112383"/>
            <a:chExt cx="1943337" cy="1452842"/>
          </a:xfrm>
        </p:grpSpPr>
        <p:grpSp>
          <p:nvGrpSpPr>
            <p:cNvPr id="6" name="Group 5"/>
            <p:cNvGrpSpPr/>
            <p:nvPr/>
          </p:nvGrpSpPr>
          <p:grpSpPr>
            <a:xfrm>
              <a:off x="5029091" y="5496792"/>
              <a:ext cx="301443" cy="252000"/>
              <a:chOff x="5029091" y="5496792"/>
              <a:chExt cx="301443" cy="25200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Arrow Connector 6"/>
            <p:cNvCxnSpPr>
              <a:endCxn id="18" idx="0"/>
            </p:cNvCxnSpPr>
            <p:nvPr/>
          </p:nvCxnSpPr>
          <p:spPr>
            <a:xfrm>
              <a:off x="5228250" y="5755863"/>
              <a:ext cx="385333" cy="40431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22" idx="2"/>
              <a:endCxn id="18" idx="0"/>
            </p:cNvCxnSpPr>
            <p:nvPr/>
          </p:nvCxnSpPr>
          <p:spPr>
            <a:xfrm flipH="1">
              <a:off x="5613583" y="5364383"/>
              <a:ext cx="302912" cy="79579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0" idx="0"/>
              <a:endCxn id="22" idx="2"/>
            </p:cNvCxnSpPr>
            <p:nvPr/>
          </p:nvCxnSpPr>
          <p:spPr>
            <a:xfrm flipH="1" flipV="1">
              <a:off x="5916495" y="5364383"/>
              <a:ext cx="460501" cy="389801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5765773" y="5112383"/>
              <a:ext cx="301443" cy="252000"/>
              <a:chOff x="5029091" y="5496792"/>
              <a:chExt cx="301443" cy="25200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226274" y="5754184"/>
              <a:ext cx="301443" cy="252000"/>
              <a:chOff x="5029091" y="5496792"/>
              <a:chExt cx="301443" cy="2520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462861" y="6160174"/>
              <a:ext cx="301443" cy="252000"/>
              <a:chOff x="5029091" y="5496792"/>
              <a:chExt cx="301443" cy="2520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/>
            <p:cNvCxnSpPr>
              <a:stCxn id="24" idx="3"/>
              <a:endCxn id="22" idx="1"/>
            </p:cNvCxnSpPr>
            <p:nvPr/>
          </p:nvCxnSpPr>
          <p:spPr>
            <a:xfrm flipV="1">
              <a:off x="5330534" y="5238383"/>
              <a:ext cx="435239" cy="38440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/>
            <p:cNvGrpSpPr/>
            <p:nvPr/>
          </p:nvGrpSpPr>
          <p:grpSpPr>
            <a:xfrm>
              <a:off x="6670985" y="6313225"/>
              <a:ext cx="301443" cy="252000"/>
              <a:chOff x="5029091" y="5496792"/>
              <a:chExt cx="301443" cy="2520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5029091" y="5496792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145123" y="5566716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6" name="Straight Arrow Connector 25"/>
          <p:cNvCxnSpPr>
            <a:stCxn id="20" idx="2"/>
            <a:endCxn id="18" idx="3"/>
          </p:cNvCxnSpPr>
          <p:nvPr/>
        </p:nvCxnSpPr>
        <p:spPr>
          <a:xfrm flipH="1">
            <a:off x="6813787" y="3242200"/>
            <a:ext cx="612692" cy="27999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3504375" y="4813815"/>
            <a:ext cx="2898286" cy="1493855"/>
            <a:chOff x="3504375" y="4813815"/>
            <a:chExt cx="2898286" cy="1493855"/>
          </a:xfrm>
        </p:grpSpPr>
        <p:grpSp>
          <p:nvGrpSpPr>
            <p:cNvPr id="28" name="Group 27"/>
            <p:cNvGrpSpPr/>
            <p:nvPr/>
          </p:nvGrpSpPr>
          <p:grpSpPr>
            <a:xfrm>
              <a:off x="4391883" y="4813815"/>
              <a:ext cx="1943337" cy="1452842"/>
              <a:chOff x="5029091" y="5112383"/>
              <a:chExt cx="1943337" cy="1452842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5029091" y="5496792"/>
                <a:ext cx="301443" cy="252000"/>
                <a:chOff x="5029091" y="5496792"/>
                <a:chExt cx="301443" cy="252000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0" name="Straight Arrow Connector 29"/>
              <p:cNvCxnSpPr>
                <a:endCxn id="40" idx="0"/>
              </p:cNvCxnSpPr>
              <p:nvPr/>
            </p:nvCxnSpPr>
            <p:spPr>
              <a:xfrm>
                <a:off x="5228250" y="5755863"/>
                <a:ext cx="385333" cy="40431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>
                <a:stCxn id="38" idx="1"/>
                <a:endCxn id="40" idx="3"/>
              </p:cNvCxnSpPr>
              <p:nvPr/>
            </p:nvCxnSpPr>
            <p:spPr>
              <a:xfrm flipH="1" flipV="1">
                <a:off x="5764304" y="6286174"/>
                <a:ext cx="906681" cy="1530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42" idx="0"/>
                <a:endCxn id="44" idx="2"/>
              </p:cNvCxnSpPr>
              <p:nvPr/>
            </p:nvCxnSpPr>
            <p:spPr>
              <a:xfrm flipH="1" flipV="1">
                <a:off x="5916495" y="5364383"/>
                <a:ext cx="460501" cy="3898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>
              <a:xfrm>
                <a:off x="5765773" y="5112383"/>
                <a:ext cx="301443" cy="252000"/>
                <a:chOff x="5029091" y="5496792"/>
                <a:chExt cx="301443" cy="252000"/>
              </a:xfrm>
            </p:grpSpPr>
            <p:sp>
              <p:nvSpPr>
                <p:cNvPr id="44" name="Rectangle 43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/>
              <p:cNvGrpSpPr/>
              <p:nvPr/>
            </p:nvGrpSpPr>
            <p:grpSpPr>
              <a:xfrm>
                <a:off x="6226274" y="5754184"/>
                <a:ext cx="301443" cy="252000"/>
                <a:chOff x="5029091" y="5496792"/>
                <a:chExt cx="301443" cy="252000"/>
              </a:xfrm>
            </p:grpSpPr>
            <p:sp>
              <p:nvSpPr>
                <p:cNvPr id="42" name="Rectangle 41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" name="Group 34"/>
              <p:cNvGrpSpPr/>
              <p:nvPr/>
            </p:nvGrpSpPr>
            <p:grpSpPr>
              <a:xfrm>
                <a:off x="5462861" y="6160174"/>
                <a:ext cx="301443" cy="252000"/>
                <a:chOff x="5029091" y="5496792"/>
                <a:chExt cx="301443" cy="252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6" name="Straight Arrow Connector 35"/>
              <p:cNvCxnSpPr>
                <a:stCxn id="46" idx="3"/>
                <a:endCxn id="44" idx="1"/>
              </p:cNvCxnSpPr>
              <p:nvPr/>
            </p:nvCxnSpPr>
            <p:spPr>
              <a:xfrm flipV="1">
                <a:off x="5330534" y="5238383"/>
                <a:ext cx="435239" cy="3844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36"/>
              <p:cNvGrpSpPr/>
              <p:nvPr/>
            </p:nvGrpSpPr>
            <p:grpSpPr>
              <a:xfrm>
                <a:off x="6670985" y="6313225"/>
                <a:ext cx="301443" cy="252000"/>
                <a:chOff x="5029091" y="5496792"/>
                <a:chExt cx="301443" cy="252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6" name="Group 55"/>
            <p:cNvGrpSpPr/>
            <p:nvPr/>
          </p:nvGrpSpPr>
          <p:grpSpPr>
            <a:xfrm>
              <a:off x="6101218" y="5063716"/>
              <a:ext cx="301443" cy="252000"/>
              <a:chOff x="6101218" y="5063716"/>
              <a:chExt cx="301443" cy="252000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6101218" y="5063716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6217250" y="5133640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7" name="Straight Arrow Connector 56"/>
            <p:cNvCxnSpPr>
              <a:stCxn id="54" idx="1"/>
              <a:endCxn id="44" idx="3"/>
            </p:cNvCxnSpPr>
            <p:nvPr/>
          </p:nvCxnSpPr>
          <p:spPr>
            <a:xfrm flipH="1" flipV="1">
              <a:off x="5430008" y="4939815"/>
              <a:ext cx="671210" cy="249901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/>
            <p:cNvGrpSpPr/>
            <p:nvPr/>
          </p:nvGrpSpPr>
          <p:grpSpPr>
            <a:xfrm>
              <a:off x="3504375" y="5111535"/>
              <a:ext cx="301443" cy="252000"/>
              <a:chOff x="6101218" y="5063716"/>
              <a:chExt cx="301443" cy="2520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6101218" y="5063716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6217250" y="5133640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3920044" y="6055670"/>
              <a:ext cx="301443" cy="252000"/>
              <a:chOff x="6101218" y="5063716"/>
              <a:chExt cx="301443" cy="25200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6101218" y="5063716"/>
                <a:ext cx="30144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6217250" y="5133640"/>
                <a:ext cx="83127" cy="8312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6" name="Straight Arrow Connector 65"/>
            <p:cNvCxnSpPr>
              <a:stCxn id="64" idx="3"/>
              <a:endCxn id="40" idx="1"/>
            </p:cNvCxnSpPr>
            <p:nvPr/>
          </p:nvCxnSpPr>
          <p:spPr>
            <a:xfrm flipV="1">
              <a:off x="4221487" y="5987606"/>
              <a:ext cx="604166" cy="194064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1" idx="3"/>
              <a:endCxn id="46" idx="1"/>
            </p:cNvCxnSpPr>
            <p:nvPr/>
          </p:nvCxnSpPr>
          <p:spPr>
            <a:xfrm>
              <a:off x="3805818" y="5237535"/>
              <a:ext cx="586065" cy="86689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863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Max-flow: maximum flow rate between source and destination in graph weighted with capacities</a:t>
            </a:r>
          </a:p>
          <a:p>
            <a:r>
              <a:rPr lang="en-US" dirty="0"/>
              <a:t>Shortest path: find shortest path between source and destination in graph weighted with distances</a:t>
            </a:r>
          </a:p>
          <a:p>
            <a:r>
              <a:rPr lang="en-US" dirty="0"/>
              <a:t>Topological sort: linear order on vertices of digraph such that "precedes" relation is respected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181</a:t>
            </a:fld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714500" y="4400550"/>
            <a:ext cx="2468669" cy="1969532"/>
            <a:chOff x="1714500" y="4400550"/>
            <a:chExt cx="2468669" cy="1969532"/>
          </a:xfrm>
        </p:grpSpPr>
        <p:grpSp>
          <p:nvGrpSpPr>
            <p:cNvPr id="5" name="Group 4"/>
            <p:cNvGrpSpPr/>
            <p:nvPr/>
          </p:nvGrpSpPr>
          <p:grpSpPr>
            <a:xfrm>
              <a:off x="1963774" y="4691549"/>
              <a:ext cx="1943337" cy="1452842"/>
              <a:chOff x="5029091" y="5112383"/>
              <a:chExt cx="1943337" cy="1452842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5029091" y="5496792"/>
                <a:ext cx="301443" cy="252000"/>
                <a:chOff x="5029091" y="5496792"/>
                <a:chExt cx="301443" cy="252000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Arrow Connector 6"/>
              <p:cNvCxnSpPr>
                <a:endCxn id="17" idx="0"/>
              </p:cNvCxnSpPr>
              <p:nvPr/>
            </p:nvCxnSpPr>
            <p:spPr>
              <a:xfrm>
                <a:off x="5228250" y="5755863"/>
                <a:ext cx="385333" cy="40431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21" idx="2"/>
                <a:endCxn id="17" idx="0"/>
              </p:cNvCxnSpPr>
              <p:nvPr/>
            </p:nvCxnSpPr>
            <p:spPr>
              <a:xfrm flipH="1">
                <a:off x="5613583" y="5364383"/>
                <a:ext cx="302912" cy="7957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9" idx="0"/>
                <a:endCxn id="21" idx="2"/>
              </p:cNvCxnSpPr>
              <p:nvPr/>
            </p:nvCxnSpPr>
            <p:spPr>
              <a:xfrm flipH="1" flipV="1">
                <a:off x="5916495" y="5364383"/>
                <a:ext cx="460501" cy="3898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/>
              <p:cNvGrpSpPr/>
              <p:nvPr/>
            </p:nvGrpSpPr>
            <p:grpSpPr>
              <a:xfrm>
                <a:off x="5765773" y="5112383"/>
                <a:ext cx="301443" cy="252000"/>
                <a:chOff x="5029091" y="5496792"/>
                <a:chExt cx="301443" cy="252000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6226274" y="5754184"/>
                <a:ext cx="301443" cy="252000"/>
                <a:chOff x="5029091" y="5496792"/>
                <a:chExt cx="301443" cy="252000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5462861" y="6160174"/>
                <a:ext cx="301443" cy="252000"/>
                <a:chOff x="5029091" y="5496792"/>
                <a:chExt cx="301443" cy="252000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3" name="Straight Arrow Connector 12"/>
              <p:cNvCxnSpPr>
                <a:stCxn id="23" idx="3"/>
                <a:endCxn id="21" idx="1"/>
              </p:cNvCxnSpPr>
              <p:nvPr/>
            </p:nvCxnSpPr>
            <p:spPr>
              <a:xfrm flipV="1">
                <a:off x="5330534" y="5238383"/>
                <a:ext cx="435239" cy="3844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>
                <a:off x="6670985" y="6313225"/>
                <a:ext cx="301443" cy="252000"/>
                <a:chOff x="5029091" y="5496792"/>
                <a:chExt cx="301443" cy="252000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5029091" y="5496792"/>
                  <a:ext cx="30144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5145123" y="5566716"/>
                  <a:ext cx="83127" cy="8312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5" name="TextBox 24"/>
            <p:cNvSpPr txBox="1"/>
            <p:nvPr/>
          </p:nvSpPr>
          <p:spPr>
            <a:xfrm>
              <a:off x="1714500" y="4895850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66975" y="44005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47950" y="5857875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09950" y="50863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76675" y="600075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024991" y="504693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d, a, e, b, c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4143375" y="5028984"/>
            <a:ext cx="1642437" cy="426698"/>
            <a:chOff x="4143375" y="5028984"/>
            <a:chExt cx="1642437" cy="426698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4381500" y="5455682"/>
              <a:ext cx="123825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143375" y="5028984"/>
              <a:ext cx="1642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topological sort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024991" y="5451743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a, d, b, c, 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0588" y="585655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9469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" grpId="0"/>
      <p:bldP spid="36" grpId="0"/>
      <p:bldP spid="37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 arrays (discussed in chapter 12.6)</a:t>
            </a:r>
          </a:p>
          <a:p>
            <a:r>
              <a:rPr lang="en-US" dirty="0"/>
              <a:t>tuple (discussed in chapter 11.3)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stack</a:t>
            </a:r>
          </a:p>
          <a:p>
            <a:r>
              <a:rPr lang="en-US" dirty="0"/>
              <a:t>queue/priority queue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2540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10,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https://github.com/gjbex/Scientific-C-plus-plus/tree/master/source-code/Algorithms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>
                <a:hlinkClick r:id="rId3"/>
              </a:rPr>
              <a:t>https://github.com/gjbex/Scientific-C-plus-plus/tree/master/source-code/Ranges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285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8650" y="1953400"/>
            <a:ext cx="723726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vector&lt;double&gt; v {3.5, 1.2, 5.9, -1.3, 0.6};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(auto 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v.cbegin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it !=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v.cend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++it)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*it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525915" y="4584764"/>
            <a:ext cx="2734725" cy="369332"/>
            <a:chOff x="2525915" y="3919743"/>
            <a:chExt cx="2734725" cy="369332"/>
          </a:xfrm>
        </p:grpSpPr>
        <p:grpSp>
          <p:nvGrpSpPr>
            <p:cNvPr id="6" name="Group 5"/>
            <p:cNvGrpSpPr/>
            <p:nvPr/>
          </p:nvGrpSpPr>
          <p:grpSpPr>
            <a:xfrm>
              <a:off x="4166750" y="3919743"/>
              <a:ext cx="546945" cy="369332"/>
              <a:chOff x="1839191" y="3896591"/>
              <a:chExt cx="546945" cy="369332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1839191" y="3906982"/>
                <a:ext cx="546945" cy="3325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839191" y="3896591"/>
                <a:ext cx="5469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-1.3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4713695" y="3919743"/>
              <a:ext cx="546945" cy="369332"/>
              <a:chOff x="1839191" y="3896591"/>
              <a:chExt cx="546945" cy="369332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839191" y="3906982"/>
                <a:ext cx="546945" cy="3325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839191" y="3896591"/>
                <a:ext cx="476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0.6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619805" y="3919743"/>
              <a:ext cx="546945" cy="369332"/>
              <a:chOff x="1839191" y="3896591"/>
              <a:chExt cx="546945" cy="369332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1839191" y="3906982"/>
                <a:ext cx="546945" cy="3325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839191" y="3896591"/>
                <a:ext cx="476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5.9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072860" y="3919743"/>
              <a:ext cx="546945" cy="369332"/>
              <a:chOff x="1839191" y="3896591"/>
              <a:chExt cx="546945" cy="369332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839191" y="3906982"/>
                <a:ext cx="546945" cy="3325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839191" y="3896591"/>
                <a:ext cx="476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1.2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525915" y="3919743"/>
              <a:ext cx="546945" cy="369332"/>
              <a:chOff x="1839191" y="3896591"/>
              <a:chExt cx="546945" cy="36933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39191" y="3906982"/>
                <a:ext cx="546945" cy="3325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839191" y="3896591"/>
                <a:ext cx="476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3.5</a:t>
                </a: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1686775" y="3808331"/>
            <a:ext cx="1723549" cy="776433"/>
            <a:chOff x="1686775" y="3808331"/>
            <a:chExt cx="1723549" cy="776433"/>
          </a:xfrm>
        </p:grpSpPr>
        <p:sp>
          <p:nvSpPr>
            <p:cNvPr id="22" name="TextBox 21"/>
            <p:cNvSpPr txBox="1"/>
            <p:nvPr/>
          </p:nvSpPr>
          <p:spPr>
            <a:xfrm>
              <a:off x="1686775" y="3808331"/>
              <a:ext cx="1723549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v.cbegin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25" name="Straight Arrow Connector 24"/>
            <p:cNvCxnSpPr>
              <a:stCxn id="22" idx="2"/>
              <a:endCxn id="20" idx="0"/>
            </p:cNvCxnSpPr>
            <p:nvPr/>
          </p:nvCxnSpPr>
          <p:spPr>
            <a:xfrm>
              <a:off x="2548550" y="4208441"/>
              <a:ext cx="215571" cy="37632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5260640" y="3808331"/>
            <a:ext cx="1558389" cy="1119332"/>
            <a:chOff x="5260640" y="3808331"/>
            <a:chExt cx="1558389" cy="1119332"/>
          </a:xfrm>
        </p:grpSpPr>
        <p:sp>
          <p:nvSpPr>
            <p:cNvPr id="23" name="Rectangle 22"/>
            <p:cNvSpPr/>
            <p:nvPr/>
          </p:nvSpPr>
          <p:spPr>
            <a:xfrm>
              <a:off x="5260640" y="4595154"/>
              <a:ext cx="546945" cy="33250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5403257" y="3808331"/>
              <a:ext cx="1415772" cy="786823"/>
              <a:chOff x="1686775" y="3808331"/>
              <a:chExt cx="1415772" cy="786823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1686775" y="3808331"/>
                <a:ext cx="1415772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v.cend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</p:txBody>
          </p:sp>
          <p:cxnSp>
            <p:nvCxnSpPr>
              <p:cNvPr id="30" name="Straight Arrow Connector 29"/>
              <p:cNvCxnSpPr>
                <a:stCxn id="29" idx="2"/>
                <a:endCxn id="23" idx="0"/>
              </p:cNvCxnSpPr>
              <p:nvPr/>
            </p:nvCxnSpPr>
            <p:spPr>
              <a:xfrm flipH="1">
                <a:off x="1817631" y="4208441"/>
                <a:ext cx="577030" cy="3867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oup 32"/>
          <p:cNvGrpSpPr/>
          <p:nvPr/>
        </p:nvGrpSpPr>
        <p:grpSpPr>
          <a:xfrm>
            <a:off x="2134686" y="4984874"/>
            <a:ext cx="664701" cy="710673"/>
            <a:chOff x="1686775" y="3497768"/>
            <a:chExt cx="664701" cy="710673"/>
          </a:xfrm>
        </p:grpSpPr>
        <p:sp>
          <p:nvSpPr>
            <p:cNvPr id="34" name="TextBox 33"/>
            <p:cNvSpPr txBox="1"/>
            <p:nvPr/>
          </p:nvSpPr>
          <p:spPr>
            <a:xfrm>
              <a:off x="1686775" y="3808331"/>
              <a:ext cx="49244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it</a:t>
              </a:r>
            </a:p>
          </p:txBody>
        </p:sp>
        <p:cxnSp>
          <p:nvCxnSpPr>
            <p:cNvPr id="35" name="Straight Arrow Connector 34"/>
            <p:cNvCxnSpPr>
              <a:stCxn id="34" idx="0"/>
            </p:cNvCxnSpPr>
            <p:nvPr/>
          </p:nvCxnSpPr>
          <p:spPr>
            <a:xfrm flipV="1">
              <a:off x="1932997" y="3497768"/>
              <a:ext cx="418479" cy="31056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1517073" y="4954096"/>
            <a:ext cx="148525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20741" y="5958916"/>
            <a:ext cx="67509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US" sz="2400" dirty="0"/>
              <a:t> contains address of element (pointer): value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*it</a:t>
            </a:r>
          </a:p>
        </p:txBody>
      </p:sp>
    </p:spTree>
    <p:extLst>
      <p:ext uri="{BB962C8B-B14F-4D97-AF65-F5344CB8AC3E}">
        <p14:creationId xmlns:p14="http://schemas.microsoft.com/office/powerpoint/2010/main" val="14742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6 L 0.30556 -3.7037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3970437"/>
            <a:ext cx="7886700" cy="2206526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constant iterator</a:t>
            </a:r>
          </a:p>
          <a:p>
            <a:pPr lvl="1"/>
            <a:r>
              <a:rPr lang="en-US" dirty="0"/>
              <a:t>elements will not be modified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begin()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end()</a:t>
            </a:r>
          </a:p>
          <a:p>
            <a:pPr lvl="1"/>
            <a:r>
              <a:rPr lang="en-US" dirty="0"/>
              <a:t>elements can be modified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8650" y="1953400"/>
            <a:ext cx="7787986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vector&lt;double&gt; v {3.5, 1.2, 5.9, -1.3, 0.6};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sort(v.begin(),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(auto&amp; 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v.cbegin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it !=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v.cend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++it)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*it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2037" y="4520046"/>
            <a:ext cx="276877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Use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dirty="0"/>
              <a:t> iterators</a:t>
            </a:r>
            <a:br>
              <a:rPr lang="en-US" sz="2400" dirty="0"/>
            </a:br>
            <a:r>
              <a:rPr lang="en-US" sz="2400" dirty="0"/>
              <a:t>whenever possible</a:t>
            </a:r>
          </a:p>
        </p:txBody>
      </p:sp>
    </p:spTree>
    <p:extLst>
      <p:ext uri="{BB962C8B-B14F-4D97-AF65-F5344CB8AC3E}">
        <p14:creationId xmlns:p14="http://schemas.microsoft.com/office/powerpoint/2010/main" val="351731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data structure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order relation on mass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Sort on mass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348258"/>
            <a:ext cx="7787986" cy="1200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x, y, mass;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init_particles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4381412"/>
            <a:ext cx="7787986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mass_cmp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p1, </a:t>
            </a:r>
            <a:r>
              <a:rPr lang="fr-F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p2) {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p1.mass &lt; p2.mass;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850234"/>
            <a:ext cx="7787986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sort(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particles.begin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particles.end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mass_cmp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9932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Predicate find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Sequence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48" y="2298021"/>
            <a:ext cx="8006195" cy="1200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 data {…};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find_if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data.cbegin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[] 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x) { return x &lt; 0; }) !=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data.cend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!" &lt;&lt;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48" y="4350648"/>
            <a:ext cx="8006195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subseq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{"ACCGTA"};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auto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dna.cbegin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dna.cend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b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subseq.cbegin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subseq.cend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dna.cend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found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!" &lt;&lt;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2264" y="4165982"/>
            <a:ext cx="31816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Can use Boyer-Moore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2709" y="6257866"/>
            <a:ext cx="49728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Similar: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count_if</a:t>
            </a:r>
            <a:r>
              <a:rPr lang="en-US" sz="2400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05107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container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containers (aka zip)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47" y="2347136"/>
            <a:ext cx="7611343" cy="1200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10&gt; v1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10&gt; v2;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(v1.cbegin(), v1.cend(), v2.begin(),</a:t>
            </a:r>
            <a:b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[] (</a:t>
            </a:r>
            <a:r>
              <a:rPr lang="fr-F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x) -&gt; 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{ return x*x; 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48" y="4410786"/>
            <a:ext cx="7611343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10&gt; v1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10&gt; v2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10&gt; v3;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double w1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double w2 {…};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(v1.cbegin(), v1.cend(), v2.cbegin(),</a:t>
            </a:r>
            <a:b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v3.begin(),</a:t>
            </a:r>
            <a:b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[=] (</a:t>
            </a:r>
            <a:r>
              <a:rPr lang="fr-F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fr-F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y) { </a:t>
            </a:r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w1*x + w2*y;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7800" y="4031216"/>
            <a:ext cx="399179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Similar: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sz="2400" dirty="0">
                <a:cs typeface="Courier New" panose="02070309020205020404" pitchFamily="49" charset="0"/>
              </a:rPr>
              <a:t>,</a:t>
            </a:r>
            <a:br>
              <a:rPr lang="en-US" sz="2400" dirty="0">
                <a:cs typeface="Courier New" panose="02070309020205020404" pitchFamily="49" charset="0"/>
              </a:rPr>
            </a:br>
            <a:r>
              <a:rPr lang="en-US" sz="2400" dirty="0">
                <a:cs typeface="Courier New" panose="02070309020205020404" pitchFamily="49" charset="0"/>
              </a:rPr>
              <a:t>       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replace_if</a:t>
            </a:r>
            <a:r>
              <a:rPr lang="en-US" sz="2400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92288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all_of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any_of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none_of</a:t>
            </a:r>
            <a:r>
              <a:rPr lang="en-US" dirty="0"/>
              <a:t>: check predicate on collection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mismatch</a:t>
            </a:r>
            <a:r>
              <a:rPr lang="en-US" dirty="0"/>
              <a:t>: find position where sequences differ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equal</a:t>
            </a:r>
            <a:r>
              <a:rPr lang="en-US" dirty="0"/>
              <a:t>: check equality of sequences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n-US" dirty="0"/>
              <a:t>: copy, move sequence to other sequence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remove_if</a:t>
            </a:r>
            <a:r>
              <a:rPr lang="en-US" dirty="0"/>
              <a:t>: remove elements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shuffle</a:t>
            </a:r>
            <a:r>
              <a:rPr lang="en-US" dirty="0"/>
              <a:t>: random shuffle sequence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accumulate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inner_product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many more, even more in C++17!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7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4EB2-8C6F-12EB-CE87-49EAF72E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8EC6-E52F-6300-1002-8E984BEA4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C++17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C++20 introduces ranges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A800-917F-D51E-AC4B-C146A716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190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7E932-B6CC-0C71-AD38-3D03AF91BB55}"/>
              </a:ext>
            </a:extLst>
          </p:cNvPr>
          <p:cNvSpPr txBox="1"/>
          <p:nvPr/>
        </p:nvSpPr>
        <p:spPr>
          <a:xfrm>
            <a:off x="852167" y="2329109"/>
            <a:ext cx="6412233" cy="20313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 data(20);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fr-FR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t1;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std::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copy_if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data.begin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data.end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(),          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std::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back_inserter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(t1),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FR" sz="1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t2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(t1.begin() + skip, t1.end());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for (auto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t2.rbegin();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!= t2.rend(); ++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std::cout &lt;&lt; *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 ";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B36E4-8EC4-DD6F-E55E-54113A8643AA}"/>
              </a:ext>
            </a:extLst>
          </p:cNvPr>
          <p:cNvSpPr txBox="1"/>
          <p:nvPr/>
        </p:nvSpPr>
        <p:spPr>
          <a:xfrm>
            <a:off x="852167" y="4863917"/>
            <a:ext cx="6412233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{data,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}, skip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value: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std::cout &lt;&lt; value &lt;&lt; " ";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AF02A-CA46-C121-8FBF-FFDA634CF71E}"/>
              </a:ext>
            </a:extLst>
          </p:cNvPr>
          <p:cNvSpPr txBox="1"/>
          <p:nvPr/>
        </p:nvSpPr>
        <p:spPr>
          <a:xfrm>
            <a:off x="6766858" y="2474893"/>
            <a:ext cx="1748492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Temporary</a:t>
            </a:r>
            <a:br>
              <a:rPr lang="en-US" sz="2800" dirty="0"/>
            </a:br>
            <a:r>
              <a:rPr lang="en-US" sz="2800" dirty="0"/>
              <a:t>variables!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5339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EE8F-5F9E-99DC-9CCC-DD55E0ED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C70B0-53A9-2073-CE88-4FB8D0965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Ranges: inside 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Views: clearer (some C++23 features)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EDB31-352C-237C-8DAE-5CD74466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191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97C1E-B7D7-F18C-279C-23C3F29A31FD}"/>
              </a:ext>
            </a:extLst>
          </p:cNvPr>
          <p:cNvSpPr txBox="1"/>
          <p:nvPr/>
        </p:nvSpPr>
        <p:spPr>
          <a:xfrm>
            <a:off x="852167" y="2323917"/>
            <a:ext cx="6412233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std::ranges::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filter_view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{data,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}, skip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value: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rv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std::cout &lt;&lt; value &lt;&lt; " ";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C8050-45A9-EF3C-7704-1FE09E87DEC7}"/>
              </a:ext>
            </a:extLst>
          </p:cNvPr>
          <p:cNvSpPr txBox="1"/>
          <p:nvPr/>
        </p:nvSpPr>
        <p:spPr>
          <a:xfrm>
            <a:off x="852167" y="4889718"/>
            <a:ext cx="6412233" cy="13849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auto&amp; value: data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| std::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is_even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| std::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::drop(skip)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| std::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::reverse) {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std::cout &lt;&lt; value &lt;&lt; " ";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16A5A-DB21-CE88-87AD-06BB951AA2D9}"/>
              </a:ext>
            </a:extLst>
          </p:cNvPr>
          <p:cNvSpPr txBox="1"/>
          <p:nvPr/>
        </p:nvSpPr>
        <p:spPr>
          <a:xfrm>
            <a:off x="6060559" y="5045373"/>
            <a:ext cx="2653099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Much more</a:t>
            </a:r>
            <a:br>
              <a:rPr lang="en-US" sz="2800" dirty="0"/>
            </a:br>
            <a:r>
              <a:rPr lang="en-US" sz="2800" dirty="0"/>
              <a:t>compact/elegant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23D59-8576-CAA1-6CAA-735A7EFC1928}"/>
              </a:ext>
            </a:extLst>
          </p:cNvPr>
          <p:cNvSpPr txBox="1"/>
          <p:nvPr/>
        </p:nvSpPr>
        <p:spPr>
          <a:xfrm>
            <a:off x="5286639" y="550853"/>
            <a:ext cx="308334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Performance boost!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31929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7095-FE81-8CD3-8A05-40994C37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D0EC-FD6A-B8EA-9AB7-81E3C7E6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order with projection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BE22-4053-F448-CE0A-5F094859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data structure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Sort on mass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D373-93A1-56D1-571F-20EDA358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192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3AD59-4E4E-3FAB-CB78-3D728EEE07D9}"/>
              </a:ext>
            </a:extLst>
          </p:cNvPr>
          <p:cNvSpPr txBox="1"/>
          <p:nvPr/>
        </p:nvSpPr>
        <p:spPr>
          <a:xfrm>
            <a:off x="628650" y="2348258"/>
            <a:ext cx="7787986" cy="1200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x, y, mass;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Particle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init_particles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92B39-A8EF-0860-BCAB-CC6B1C4946FC}"/>
              </a:ext>
            </a:extLst>
          </p:cNvPr>
          <p:cNvSpPr txBox="1"/>
          <p:nvPr/>
        </p:nvSpPr>
        <p:spPr>
          <a:xfrm>
            <a:off x="628650" y="4426676"/>
            <a:ext cx="7787986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Std::ranges::sort(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{}, @Particle::mass);</a:t>
            </a:r>
          </a:p>
        </p:txBody>
      </p:sp>
    </p:spTree>
    <p:extLst>
      <p:ext uri="{BB962C8B-B14F-4D97-AF65-F5344CB8AC3E}">
        <p14:creationId xmlns:p14="http://schemas.microsoft.com/office/powerpoint/2010/main" val="365305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7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0436-F66F-DE01-1A74-6EA3FE66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Almost Python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6BB9F-2CEE-0061-B191-D9730F0A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193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E62DF-3F65-A1B5-BDF4-DCB84692A871}"/>
              </a:ext>
            </a:extLst>
          </p:cNvPr>
          <p:cNvSpPr txBox="1"/>
          <p:nvPr/>
        </p:nvSpPr>
        <p:spPr>
          <a:xfrm>
            <a:off x="852167" y="2425517"/>
            <a:ext cx="7663183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td::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&lt;char&gt; data {'a', 'b', 'd', 'z’};</a:t>
            </a:r>
          </a:p>
          <a:p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auto [id, value]: std::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fr-F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enumerate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(data)) {</a:t>
            </a:r>
          </a:p>
          <a:p>
            <a:r>
              <a:rPr lang="fr-FR" sz="1600">
                <a:latin typeface="Courier New" panose="02070309020205020404" pitchFamily="49" charset="0"/>
                <a:cs typeface="Courier New" panose="02070309020205020404" pitchFamily="49" charset="0"/>
              </a:rPr>
              <a:t>    std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::cout &lt;&lt; id &lt;&lt; " -&gt; " &lt;&lt; value &lt;&lt; "\n";</a:t>
            </a:r>
          </a:p>
          <a:p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30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 dirty="0"/>
              <a:t>stream iterators</a:t>
            </a:r>
          </a:p>
          <a:p>
            <a:pPr lvl="1"/>
            <a:r>
              <a:rPr lang="en-US" dirty="0"/>
              <a:t>discussion of iterator types</a:t>
            </a:r>
          </a:p>
          <a:p>
            <a:r>
              <a:rPr lang="en-US" dirty="0"/>
              <a:t>Added</a:t>
            </a:r>
          </a:p>
          <a:p>
            <a:pPr lvl="1"/>
            <a:r>
              <a:rPr lang="en-US" dirty="0"/>
              <a:t>extra examples</a:t>
            </a:r>
          </a:p>
          <a:p>
            <a:pPr lvl="1"/>
            <a:r>
              <a:rPr lang="en-US" dirty="0"/>
              <a:t>Ranges, views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6272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Introduction to algorithms</a:t>
            </a:r>
            <a:br>
              <a:rPr lang="en-US" dirty="0"/>
            </a:br>
            <a:r>
              <a:rPr lang="en-US" dirty="0"/>
              <a:t>Thomas H. </a:t>
            </a:r>
            <a:r>
              <a:rPr lang="en-US" dirty="0" err="1"/>
              <a:t>Cromen</a:t>
            </a:r>
            <a:r>
              <a:rPr lang="en-US" dirty="0"/>
              <a:t>, Charles E. </a:t>
            </a:r>
            <a:r>
              <a:rPr lang="en-US" dirty="0" err="1"/>
              <a:t>Leiserson</a:t>
            </a:r>
            <a:r>
              <a:rPr lang="en-US" dirty="0"/>
              <a:t>, Ronald L. </a:t>
            </a:r>
            <a:r>
              <a:rPr lang="en-US" dirty="0" err="1"/>
              <a:t>Rivest</a:t>
            </a:r>
            <a:r>
              <a:rPr lang="en-US" dirty="0"/>
              <a:t> and Clifford Stein</a:t>
            </a:r>
            <a:br>
              <a:rPr lang="en-US" dirty="0"/>
            </a:br>
            <a:r>
              <a:rPr lang="en-US" dirty="0"/>
              <a:t>MIT Press, 2009 (3rd edition)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D1F4E-1E51-402E-B221-310F004E7D3B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3072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Numerics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Chapter 12, B. </a:t>
            </a:r>
            <a:r>
              <a:rPr lang="en-US" dirty="0" err="1"/>
              <a:t>Stroustrup</a:t>
            </a:r>
            <a:r>
              <a:rPr lang="en-US" dirty="0"/>
              <a:t> "A tour of C++"</a:t>
            </a:r>
          </a:p>
          <a:p>
            <a:r>
              <a:rPr lang="en-US" sz="1600" dirty="0">
                <a:hlinkClick r:id="rId2"/>
              </a:rPr>
              <a:t>https://github.com/gjbex/Scientific-C-plus-plus/tree/master/source-code/Numerics</a:t>
            </a:r>
            <a:r>
              <a:rPr lang="en-US" sz="1600" dirty="0"/>
              <a:t> </a:t>
            </a:r>
          </a:p>
          <a:p>
            <a:r>
              <a:rPr lang="en-US" sz="1600" dirty="0">
                <a:hlinkClick r:id="rId3"/>
              </a:rPr>
              <a:t>https://github.com/gjbex/Scientific-C-plus-plus/tree/master/source-code/Armadillo</a:t>
            </a:r>
            <a:r>
              <a:rPr lang="en-US" sz="1600" dirty="0"/>
              <a:t> </a:t>
            </a:r>
          </a:p>
          <a:p>
            <a:r>
              <a:rPr lang="en-US" sz="1600" dirty="0">
                <a:hlinkClick r:id="rId4"/>
              </a:rPr>
              <a:t>https://github.com/gjbex/Scientific-C-plus-plus/tree/master/source-code/Boost</a:t>
            </a:r>
            <a:r>
              <a:rPr lang="en-US" sz="1600" dirty="0"/>
              <a:t> </a:t>
            </a:r>
          </a:p>
          <a:p>
            <a:r>
              <a:rPr lang="en-US" sz="1600" dirty="0">
                <a:hlinkClick r:id="rId5"/>
              </a:rPr>
              <a:t>https://github.com/gjbex/Scientific-C-plus-plus/tree/master/source-code/UsingCLibraries</a:t>
            </a:r>
            <a:r>
              <a:rPr lang="en-US" sz="1600" dirty="0"/>
              <a:t>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1915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197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8707" y="1682819"/>
            <a:ext cx="6472699" cy="30469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&lt;complex&gt;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const complex&lt;double&gt; c(-0.62772, -0.42193);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for (double x = -1.8; x &lt; 1.8; x += 0.001)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(double y = -1.8; y &lt; 1.8; y += 0.001)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complex&lt;double&gt; z(x, y);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while (abs(z) &lt; 2.0 &amp;&amp; n++ 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z = z*z + c;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x &lt;&lt; " " &lt;&lt; y &lt;&lt; " " &lt;&lt; n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67207" y="3923071"/>
            <a:ext cx="2892587" cy="1403978"/>
            <a:chOff x="1997804" y="3136936"/>
            <a:chExt cx="2892587" cy="1403978"/>
          </a:xfrm>
        </p:grpSpPr>
        <p:sp>
          <p:nvSpPr>
            <p:cNvPr id="14" name="TextBox 13"/>
            <p:cNvSpPr txBox="1"/>
            <p:nvPr/>
          </p:nvSpPr>
          <p:spPr>
            <a:xfrm>
              <a:off x="1997804" y="4171582"/>
              <a:ext cx="289258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(Overloaded) math functions</a:t>
              </a:r>
            </a:p>
          </p:txBody>
        </p:sp>
        <p:cxnSp>
          <p:nvCxnSpPr>
            <p:cNvPr id="15" name="Straight Arrow Connector 14"/>
            <p:cNvCxnSpPr>
              <a:stCxn id="14" idx="0"/>
            </p:cNvCxnSpPr>
            <p:nvPr/>
          </p:nvCxnSpPr>
          <p:spPr>
            <a:xfrm flipV="1">
              <a:off x="3444098" y="3136936"/>
              <a:ext cx="264228" cy="103464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588" y="4505941"/>
            <a:ext cx="2925096" cy="2193822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44128" y="5653935"/>
            <a:ext cx="5161937" cy="702416"/>
            <a:chOff x="353960" y="5514361"/>
            <a:chExt cx="5161937" cy="702416"/>
          </a:xfrm>
        </p:grpSpPr>
        <p:sp>
          <p:nvSpPr>
            <p:cNvPr id="11" name="TextBox 10"/>
            <p:cNvSpPr txBox="1"/>
            <p:nvPr/>
          </p:nvSpPr>
          <p:spPr>
            <a:xfrm>
              <a:off x="395133" y="5878223"/>
              <a:ext cx="5120764" cy="3385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real(z)*real(z) + 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imag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(z)*</a:t>
              </a:r>
              <a:r>
                <a:rPr lang="en-US" sz="1600" dirty="0" err="1">
                  <a:latin typeface="Courier New" pitchFamily="49" charset="0"/>
                  <a:cs typeface="Courier New" pitchFamily="49" charset="0"/>
                </a:rPr>
                <a:t>imag</a:t>
              </a:r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(z) &lt; 4.0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3960" y="5514361"/>
              <a:ext cx="1579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More efficient: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19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limits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Integer: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int8_t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int16_t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int32_t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int64_t</a:t>
            </a:r>
          </a:p>
          <a:p>
            <a:pPr lvl="1"/>
            <a:r>
              <a:rPr lang="en-US" dirty="0"/>
              <a:t>minimum: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&gt;::min()</a:t>
            </a:r>
          </a:p>
          <a:p>
            <a:pPr lvl="1"/>
            <a:r>
              <a:rPr lang="en-US" dirty="0"/>
              <a:t>maximum: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&gt;::max()</a:t>
            </a:r>
            <a:endParaRPr lang="en-US" dirty="0"/>
          </a:p>
          <a:p>
            <a:r>
              <a:rPr lang="en-US" dirty="0"/>
              <a:t>Floating point: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 double</a:t>
            </a:r>
          </a:p>
          <a:p>
            <a:pPr lvl="1"/>
            <a:r>
              <a:rPr lang="en-US" dirty="0"/>
              <a:t>smallest number &gt; 0: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&lt;double&gt;::min()</a:t>
            </a:r>
          </a:p>
          <a:p>
            <a:pPr lvl="1"/>
            <a:r>
              <a:rPr lang="en-US" dirty="0"/>
              <a:t>maximum: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&lt;double&gt;::max()</a:t>
            </a:r>
          </a:p>
          <a:p>
            <a:pPr lvl="1"/>
            <a:r>
              <a:rPr lang="en-US" dirty="0"/>
              <a:t>1 &lt; 1 + </a:t>
            </a:r>
            <a:r>
              <a:rPr lang="en-US" dirty="0">
                <a:sym typeface="Symbol" panose="05050102010706020507" pitchFamily="18" charset="2"/>
              </a:rPr>
              <a:t>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&lt;double&gt;::epsilon()</a:t>
            </a:r>
          </a:p>
          <a:p>
            <a:pPr lvl="1"/>
            <a:r>
              <a:rPr lang="en-US" dirty="0"/>
              <a:t>significant digits, base 10: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numeric_limits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&lt;double&gt;::digits10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isfinite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>
                <a:cs typeface="Courier New" panose="02070309020205020404" pitchFamily="49" charset="0"/>
              </a:rPr>
              <a:t>: true if not </a:t>
            </a:r>
            <a:r>
              <a:rPr lang="en-US" dirty="0">
                <a:cs typeface="Courier New" panose="02070309020205020404" pitchFamily="49" charset="0"/>
                <a:sym typeface="Symbol" panose="05050102010706020507" pitchFamily="18" charset="2"/>
              </a:rPr>
              <a:t></a:t>
            </a:r>
            <a:r>
              <a:rPr lang="en-US" dirty="0">
                <a:cs typeface="Courier New" panose="02070309020205020404" pitchFamily="49" charset="0"/>
              </a:rPr>
              <a:t>infinity, or </a:t>
            </a:r>
            <a:r>
              <a:rPr lang="en-US" dirty="0" err="1">
                <a:cs typeface="Courier New" panose="02070309020205020404" pitchFamily="49" charset="0"/>
              </a:rPr>
              <a:t>NaN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198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88052" y="1397377"/>
            <a:ext cx="2539796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&lt;limits&gt;</a:t>
            </a:r>
          </a:p>
        </p:txBody>
      </p:sp>
    </p:spTree>
    <p:extLst>
      <p:ext uri="{BB962C8B-B14F-4D97-AF65-F5344CB8AC3E}">
        <p14:creationId xmlns:p14="http://schemas.microsoft.com/office/powerpoint/2010/main" val="19512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values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429414"/>
              </p:ext>
            </p:extLst>
          </p:nvPr>
        </p:nvGraphicFramePr>
        <p:xfrm>
          <a:off x="628650" y="2248415"/>
          <a:ext cx="78867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2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int8_t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int16_t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int32_t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int64_t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-32768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-2147483648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-9223372036854775808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32767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2147483647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9223372036854775807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199</a:t>
            </a:fld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374848" y="1388133"/>
            <a:ext cx="5072742" cy="819187"/>
            <a:chOff x="3374848" y="965343"/>
            <a:chExt cx="5072742" cy="819187"/>
          </a:xfrm>
        </p:grpSpPr>
        <p:grpSp>
          <p:nvGrpSpPr>
            <p:cNvPr id="6" name="Group 5"/>
            <p:cNvGrpSpPr/>
            <p:nvPr/>
          </p:nvGrpSpPr>
          <p:grpSpPr>
            <a:xfrm>
              <a:off x="4868927" y="965343"/>
              <a:ext cx="1870949" cy="819187"/>
              <a:chOff x="5512408" y="85367"/>
              <a:chExt cx="1870949" cy="819187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078192" y="85367"/>
                <a:ext cx="1305165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usually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" name="Straight Arrow Connector 7"/>
              <p:cNvCxnSpPr>
                <a:stCxn id="7" idx="2"/>
              </p:cNvCxnSpPr>
              <p:nvPr/>
            </p:nvCxnSpPr>
            <p:spPr>
              <a:xfrm flipH="1">
                <a:off x="5512408" y="454699"/>
                <a:ext cx="1218367" cy="4498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6807635" y="965343"/>
              <a:ext cx="1639955" cy="819187"/>
              <a:chOff x="5881261" y="85367"/>
              <a:chExt cx="1639955" cy="819187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6078192" y="85367"/>
                <a:ext cx="14430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usually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long</a:t>
                </a:r>
              </a:p>
            </p:txBody>
          </p:sp>
          <p:cxnSp>
            <p:nvCxnSpPr>
              <p:cNvPr id="14" name="Straight Arrow Connector 13"/>
              <p:cNvCxnSpPr>
                <a:stCxn id="13" idx="2"/>
              </p:cNvCxnSpPr>
              <p:nvPr/>
            </p:nvCxnSpPr>
            <p:spPr>
              <a:xfrm flipH="1">
                <a:off x="5881261" y="454699"/>
                <a:ext cx="918443" cy="4498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3374848" y="965343"/>
              <a:ext cx="1777814" cy="819187"/>
              <a:chOff x="5881260" y="85367"/>
              <a:chExt cx="1777814" cy="819187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6078192" y="85367"/>
                <a:ext cx="158088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usually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short</a:t>
                </a:r>
              </a:p>
            </p:txBody>
          </p:sp>
          <p:cxnSp>
            <p:nvCxnSpPr>
              <p:cNvPr id="17" name="Straight Arrow Connector 16"/>
              <p:cNvCxnSpPr>
                <a:stCxn id="16" idx="2"/>
              </p:cNvCxnSpPr>
              <p:nvPr/>
            </p:nvCxnSpPr>
            <p:spPr>
              <a:xfrm flipH="1">
                <a:off x="5881260" y="454699"/>
                <a:ext cx="987373" cy="4498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TextBox 18"/>
          <p:cNvSpPr txBox="1"/>
          <p:nvPr/>
        </p:nvSpPr>
        <p:spPr>
          <a:xfrm>
            <a:off x="5308141" y="3311205"/>
            <a:ext cx="62388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</a:t>
            </a:r>
            <a:r>
              <a:rPr lang="en-US" dirty="0"/>
              <a:t>10</a:t>
            </a:r>
            <a:r>
              <a:rPr lang="en-US" baseline="30000" dirty="0"/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0550" y="3311205"/>
            <a:ext cx="7553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 </a:t>
            </a:r>
            <a:r>
              <a:rPr lang="en-US" dirty="0"/>
              <a:t>10</a:t>
            </a:r>
            <a:r>
              <a:rPr lang="en-US" baseline="30000" dirty="0"/>
              <a:t>19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564454"/>
              </p:ext>
            </p:extLst>
          </p:nvPr>
        </p:nvGraphicFramePr>
        <p:xfrm>
          <a:off x="711635" y="395399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1.176e-38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2.225e-308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3.362e-4932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epsilon()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1.192e-07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2.221e-16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1.084e-19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3.403e+38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1.798e+308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1.190e+4932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1413600" y="5820373"/>
            <a:ext cx="4102044" cy="734676"/>
            <a:chOff x="1413600" y="5505743"/>
            <a:chExt cx="4102044" cy="734676"/>
          </a:xfrm>
        </p:grpSpPr>
        <p:grpSp>
          <p:nvGrpSpPr>
            <p:cNvPr id="22" name="Group 21"/>
            <p:cNvGrpSpPr/>
            <p:nvPr/>
          </p:nvGrpSpPr>
          <p:grpSpPr>
            <a:xfrm>
              <a:off x="1413600" y="5505743"/>
              <a:ext cx="965806" cy="730477"/>
              <a:chOff x="6343663" y="-128616"/>
              <a:chExt cx="965806" cy="730477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6343663" y="232529"/>
                <a:ext cx="74090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32-bit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4" name="Straight Arrow Connector 23"/>
              <p:cNvCxnSpPr>
                <a:stCxn id="23" idx="0"/>
              </p:cNvCxnSpPr>
              <p:nvPr/>
            </p:nvCxnSpPr>
            <p:spPr>
              <a:xfrm flipV="1">
                <a:off x="6714117" y="-128616"/>
                <a:ext cx="595352" cy="36114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2961720" y="5509943"/>
              <a:ext cx="965806" cy="730476"/>
              <a:chOff x="6343663" y="-128615"/>
              <a:chExt cx="965806" cy="730476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6343663" y="232529"/>
                <a:ext cx="74090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64-bit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29" idx="0"/>
              </p:cNvCxnSpPr>
              <p:nvPr/>
            </p:nvCxnSpPr>
            <p:spPr>
              <a:xfrm flipV="1">
                <a:off x="6714117" y="-128615"/>
                <a:ext cx="595352" cy="361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4549838" y="5505743"/>
              <a:ext cx="965806" cy="730476"/>
              <a:chOff x="6343663" y="-128615"/>
              <a:chExt cx="965806" cy="730476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6343663" y="232529"/>
                <a:ext cx="74090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96-bit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3" name="Straight Arrow Connector 32"/>
              <p:cNvCxnSpPr>
                <a:stCxn id="32" idx="0"/>
              </p:cNvCxnSpPr>
              <p:nvPr/>
            </p:nvCxnSpPr>
            <p:spPr>
              <a:xfrm flipV="1">
                <a:off x="6714117" y="-128615"/>
                <a:ext cx="595352" cy="361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/>
          <p:cNvGrpSpPr/>
          <p:nvPr/>
        </p:nvGrpSpPr>
        <p:grpSpPr>
          <a:xfrm>
            <a:off x="6558116" y="4306524"/>
            <a:ext cx="2106346" cy="646331"/>
            <a:chOff x="5699501" y="143567"/>
            <a:chExt cx="2106346" cy="646331"/>
          </a:xfrm>
        </p:grpSpPr>
        <p:sp>
          <p:nvSpPr>
            <p:cNvPr id="35" name="TextBox 34"/>
            <p:cNvSpPr txBox="1"/>
            <p:nvPr/>
          </p:nvSpPr>
          <p:spPr>
            <a:xfrm>
              <a:off x="6406168" y="143567"/>
              <a:ext cx="139967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performance</a:t>
              </a:r>
              <a:br>
                <a:rPr lang="en-US" dirty="0">
                  <a:solidFill>
                    <a:srgbClr val="C00000"/>
                  </a:solidFill>
                </a:rPr>
              </a:br>
              <a:r>
                <a:rPr lang="en-US" dirty="0">
                  <a:solidFill>
                    <a:srgbClr val="C00000"/>
                  </a:solidFill>
                </a:rPr>
                <a:t>penalty!</a:t>
              </a:r>
              <a:endPara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Straight Arrow Connector 35"/>
            <p:cNvCxnSpPr>
              <a:stCxn id="35" idx="1"/>
            </p:cNvCxnSpPr>
            <p:nvPr/>
          </p:nvCxnSpPr>
          <p:spPr>
            <a:xfrm flipH="1" flipV="1">
              <a:off x="5699501" y="143567"/>
              <a:ext cx="706667" cy="323166"/>
            </a:xfrm>
            <a:prstGeom prst="straightConnector1">
              <a:avLst/>
            </a:prstGeom>
            <a:ln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927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precision?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Possible, but at high cost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development</a:t>
            </a:r>
          </a:p>
          <a:p>
            <a:r>
              <a:rPr lang="en-US" dirty="0"/>
              <a:t>Consider other algorithms first</a:t>
            </a:r>
          </a:p>
          <a:p>
            <a:r>
              <a:rPr lang="en-US" dirty="0"/>
              <a:t>Libraries for arbitrary precision arithmetic</a:t>
            </a:r>
          </a:p>
          <a:p>
            <a:pPr lvl="1"/>
            <a:r>
              <a:rPr lang="en-US" dirty="0"/>
              <a:t>GMP: for integers</a:t>
            </a:r>
          </a:p>
          <a:p>
            <a:pPr lvl="1"/>
            <a:r>
              <a:rPr lang="en-US" dirty="0"/>
              <a:t>MPFR: for floating point numbers</a:t>
            </a:r>
          </a:p>
          <a:p>
            <a:pPr lvl="1"/>
            <a:r>
              <a:rPr lang="en-US" dirty="0"/>
              <a:t>MPC: for complex floating point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3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E5A9-0E74-DF7B-C0D9-0E07F7CD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constants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D1E1E-E613-EE39-6DC6-920A9072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constexpr</a:t>
            </a:r>
            <a:r>
              <a:rPr lang="en-US" dirty="0"/>
              <a:t> double precision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std::numbers::pi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inv_pi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inv_sqrtpi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std::numbers::ln2</a:t>
            </a:r>
          </a:p>
          <a:p>
            <a:pPr lvl="1"/>
            <a:r>
              <a:rPr lang="en-US" dirty="0"/>
              <a:t>...</a:t>
            </a:r>
          </a:p>
          <a:p>
            <a:r>
              <a:rPr lang="en-US" dirty="0"/>
              <a:t>Templates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pi_v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std::numbers::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inv_pi_v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12081-9828-BE08-A4BF-0CD60A09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201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E2667-EB43-5723-C9B6-75E588C74A0A}"/>
              </a:ext>
            </a:extLst>
          </p:cNvPr>
          <p:cNvSpPr txBox="1"/>
          <p:nvPr/>
        </p:nvSpPr>
        <p:spPr>
          <a:xfrm>
            <a:off x="5188052" y="1397377"/>
            <a:ext cx="2539796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&lt;numbers&gt;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3FA08-E7FC-553F-25FC-7A81DE9DD1CA}"/>
              </a:ext>
            </a:extLst>
          </p:cNvPr>
          <p:cNvSpPr txBox="1"/>
          <p:nvPr/>
        </p:nvSpPr>
        <p:spPr>
          <a:xfrm>
            <a:off x="2201327" y="6221898"/>
            <a:ext cx="3096537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std::numbers::pi</a:t>
            </a:r>
          </a:p>
        </p:txBody>
      </p:sp>
    </p:spTree>
    <p:extLst>
      <p:ext uri="{BB962C8B-B14F-4D97-AF65-F5344CB8AC3E}">
        <p14:creationId xmlns:p14="http://schemas.microsoft.com/office/powerpoint/2010/main" val="336315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Engine: generates random number sequence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random_device</a:t>
            </a:r>
            <a:r>
              <a:rPr lang="en-US" dirty="0"/>
              <a:t>: non-deterministic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::ranlux48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::mt19937_64</a:t>
            </a:r>
            <a:r>
              <a:rPr lang="en-US" dirty="0"/>
              <a:t>: </a:t>
            </a:r>
            <a:r>
              <a:rPr lang="en-US" dirty="0" err="1"/>
              <a:t>Mersenne</a:t>
            </a:r>
            <a:r>
              <a:rPr lang="en-US" dirty="0"/>
              <a:t> twister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Distributions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uniform_int_distribution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&lt;type&gt;(a, b)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uniform_real_distribution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&lt;type&gt;(a, b)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normal_distribution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&lt;type&gt;(mu, sigma)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random device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seed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Draw seed from seed distribution using random device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engine, seed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actual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Draw random number from actual distribution using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2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normal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683" y="1889296"/>
            <a:ext cx="7367435" cy="35394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&lt;functional&gt;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&lt;random&gt;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seed_dist_t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uniform_int_distribution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random_device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dev;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seed_dist_t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seed_distr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(0,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numeric_limits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&gt;::max());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seed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seed_distr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(dev);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seed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mt19937_64 engine(seed);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bind(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normal_distribution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&lt;double&gt;(0.0, 1.0),                  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engine);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5;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65" y="305080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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6366" y="3312413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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176365" y="3574023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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176365" y="4033352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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176364" y="4476723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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176364" y="5015901"/>
            <a:ext cx="505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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6047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distributions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bind</a:t>
            </a:r>
            <a:r>
              <a:rPr lang="en-US" dirty="0"/>
              <a:t> binds by value, i.e., copies, unless wrapped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14683" y="2430074"/>
            <a:ext cx="7367435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&lt;functional&gt;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&lt;random&gt;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seed_dist_t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uniform_int_distribution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mt19937_64 engine(seed);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x_distr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bind(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normal_distribution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&lt;double&gt;(0.0, 1.0),                  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(engine));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y_distr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bind(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normal_distribution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&lt;double&gt;(0.0, 2.0),                  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(engine));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754" y="5404402"/>
            <a:ext cx="71804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Without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ref(…)</a:t>
            </a:r>
            <a:r>
              <a:rPr lang="en-US" dirty="0"/>
              <a:t>, both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x_distr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y_distr</a:t>
            </a:r>
            <a:r>
              <a:rPr lang="en-US" dirty="0"/>
              <a:t> produce same numbers!</a:t>
            </a:r>
          </a:p>
        </p:txBody>
      </p:sp>
    </p:spTree>
    <p:extLst>
      <p:ext uri="{BB962C8B-B14F-4D97-AF65-F5344CB8AC3E}">
        <p14:creationId xmlns:p14="http://schemas.microsoft.com/office/powerpoint/2010/main" val="403586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mad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711" y="4001294"/>
            <a:ext cx="2362200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libraries, don't do your own!</a:t>
            </a:r>
          </a:p>
          <a:p>
            <a:pPr lvl="1"/>
            <a:r>
              <a:rPr lang="en-US" dirty="0"/>
              <a:t>Eigen (</a:t>
            </a:r>
            <a:r>
              <a:rPr lang="en-US" dirty="0">
                <a:hlinkClick r:id="rId3"/>
              </a:rPr>
              <a:t>http://eigen.tuxfamily.org/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purely header files</a:t>
            </a:r>
          </a:p>
          <a:p>
            <a:pPr lvl="2"/>
            <a:r>
              <a:rPr lang="en-US" dirty="0"/>
              <a:t>trivial to install</a:t>
            </a:r>
          </a:p>
          <a:p>
            <a:pPr lvl="1"/>
            <a:r>
              <a:rPr lang="en-US" dirty="0"/>
              <a:t>Armadillo (</a:t>
            </a:r>
            <a:r>
              <a:rPr lang="en-US" dirty="0">
                <a:hlinkClick r:id="rId4"/>
              </a:rPr>
              <a:t>http://arma.sourceforge.net/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uses BLAS/</a:t>
            </a:r>
            <a:r>
              <a:rPr lang="en-US" dirty="0" err="1"/>
              <a:t>Lapack</a:t>
            </a:r>
            <a:endParaRPr lang="en-US" dirty="0"/>
          </a:p>
          <a:p>
            <a:pPr lvl="2"/>
            <a:r>
              <a:rPr lang="en-US" dirty="0"/>
              <a:t>quite convenient</a:t>
            </a:r>
          </a:p>
          <a:p>
            <a:pPr lvl="2"/>
            <a:r>
              <a:rPr lang="en-US" dirty="0"/>
              <a:t>good performance</a:t>
            </a:r>
          </a:p>
          <a:p>
            <a:pPr lvl="2"/>
            <a:r>
              <a:rPr lang="en-US" dirty="0"/>
              <a:t>no distributed algorithms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67432" y="5653743"/>
            <a:ext cx="402264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Here: a flavor of Armadillo</a:t>
            </a:r>
          </a:p>
        </p:txBody>
      </p:sp>
    </p:spTree>
    <p:extLst>
      <p:ext uri="{BB962C8B-B14F-4D97-AF65-F5344CB8AC3E}">
        <p14:creationId xmlns:p14="http://schemas.microsoft.com/office/powerpoint/2010/main" val="336160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  <p:bldP spid="5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Vectors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Col&lt;type&gt;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colvec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Row&lt;type&gt;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rowvec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Matrices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dense: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Mat&lt;type&gt;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sparse: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SpMat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sp_mat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Cubes (3D arrays)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Cube&lt;type&gt;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cube</a:t>
            </a:r>
          </a:p>
          <a:p>
            <a:r>
              <a:rPr lang="en-US" dirty="0">
                <a:cs typeface="Courier New" panose="02070309020205020404" pitchFamily="49" charset="0"/>
              </a:rPr>
              <a:t>Fields (2D or 3D arrays, arbitrary objects)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Field&lt;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obj_type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11149" y="2017120"/>
            <a:ext cx="3060904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&lt;armadillo&gt;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arma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3639223"/>
            <a:ext cx="15244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/>
              <a:t> is scalar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2467" y="5635842"/>
            <a:ext cx="23499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obj_type</a:t>
            </a:r>
            <a:r>
              <a:rPr lang="en-US" dirty="0"/>
              <a:t> is arbitrary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2904" y="1759623"/>
            <a:ext cx="28011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shortcuts: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</a:p>
        </p:txBody>
      </p:sp>
    </p:spTree>
    <p:extLst>
      <p:ext uri="{BB962C8B-B14F-4D97-AF65-F5344CB8AC3E}">
        <p14:creationId xmlns:p14="http://schemas.microsoft.com/office/powerpoint/2010/main" val="415772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Literal initialization</a:t>
            </a:r>
          </a:p>
          <a:p>
            <a:endParaRPr lang="en-US" dirty="0"/>
          </a:p>
          <a:p>
            <a:r>
              <a:rPr lang="en-US" dirty="0"/>
              <a:t>Generated vectors</a:t>
            </a:r>
          </a:p>
          <a:p>
            <a:endParaRPr lang="en-US" dirty="0"/>
          </a:p>
          <a:p>
            <a:r>
              <a:rPr lang="en-US" dirty="0"/>
              <a:t>Generated matrices</a:t>
            </a:r>
          </a:p>
          <a:p>
            <a:endParaRPr lang="en-US" dirty="0"/>
          </a:p>
          <a:p>
            <a:r>
              <a:rPr lang="en-US" dirty="0"/>
              <a:t>Generated vector/matrices/cubes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682" y="2261994"/>
            <a:ext cx="5904949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v {7.3, 9.1};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A {{-1.0, 3.1, 4.3}, {2.1, -2.4, 0.9}};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682" y="3300577"/>
            <a:ext cx="5904949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linspace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&gt;(-1.0, 1.0, 501);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regspace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&gt;(0.0, 0.1, 1.0);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326649"/>
            <a:ext cx="5990981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A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randn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&lt;mat&gt;(2, 3);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randu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&gt;(5);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= zeros&lt;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&gt;(10);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C = ones&lt;mat&gt;(3, 2);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682" y="4318894"/>
            <a:ext cx="5904949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A = eye&lt;mat&gt;(5, 5);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6615" y="4488171"/>
            <a:ext cx="19747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resemblance</a:t>
            </a:r>
            <a:br>
              <a:rPr lang="en-US" dirty="0"/>
            </a:br>
            <a:r>
              <a:rPr lang="en-US" dirty="0"/>
              <a:t>to MATLAB, </a:t>
            </a:r>
            <a:r>
              <a:rPr lang="en-US" dirty="0" err="1"/>
              <a:t>numpy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1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arithmetic/functions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209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682" y="1910307"/>
            <a:ext cx="5904949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A {{-1.0, 3.1, 4.3}, {2.1, -2.4, 0.9}};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B {{2.1, -2.0, 0.2}, {0.1, 3.1, -1.7}};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{7.3, 9.1, -3.3};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= (2.0*A + B)*x;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319815" y="2941356"/>
            <a:ext cx="1479059" cy="1007475"/>
            <a:chOff x="1413600" y="5820374"/>
            <a:chExt cx="1479059" cy="1007475"/>
          </a:xfrm>
        </p:grpSpPr>
        <p:sp>
          <p:nvSpPr>
            <p:cNvPr id="6" name="TextBox 5"/>
            <p:cNvSpPr txBox="1"/>
            <p:nvPr/>
          </p:nvSpPr>
          <p:spPr>
            <a:xfrm>
              <a:off x="1413600" y="6181518"/>
              <a:ext cx="147905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scalar-matrix</a:t>
              </a:r>
              <a:br>
                <a:rPr lang="en-US" dirty="0"/>
              </a:br>
              <a:r>
                <a:rPr lang="en-US" dirty="0"/>
                <a:t>multiplication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" name="Straight Arrow Connector 6"/>
            <p:cNvCxnSpPr>
              <a:stCxn id="6" idx="0"/>
            </p:cNvCxnSpPr>
            <p:nvPr/>
          </p:nvCxnSpPr>
          <p:spPr>
            <a:xfrm flipV="1">
              <a:off x="2153130" y="5820374"/>
              <a:ext cx="226276" cy="36114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135916" y="2941356"/>
            <a:ext cx="1479059" cy="1007475"/>
            <a:chOff x="1413600" y="5820374"/>
            <a:chExt cx="1479059" cy="1007475"/>
          </a:xfrm>
        </p:grpSpPr>
        <p:sp>
          <p:nvSpPr>
            <p:cNvPr id="10" name="TextBox 9"/>
            <p:cNvSpPr txBox="1"/>
            <p:nvPr/>
          </p:nvSpPr>
          <p:spPr>
            <a:xfrm>
              <a:off x="1413600" y="6181518"/>
              <a:ext cx="147905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matrix-vector</a:t>
              </a:r>
              <a:br>
                <a:rPr lang="en-US" dirty="0"/>
              </a:br>
              <a:r>
                <a:rPr lang="en-US" dirty="0"/>
                <a:t>multiplication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/>
            <p:cNvCxnSpPr>
              <a:stCxn id="10" idx="0"/>
            </p:cNvCxnSpPr>
            <p:nvPr/>
          </p:nvCxnSpPr>
          <p:spPr>
            <a:xfrm flipH="1" flipV="1">
              <a:off x="1525533" y="5820374"/>
              <a:ext cx="627597" cy="36114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2101265" y="2941356"/>
            <a:ext cx="1908471" cy="1526104"/>
            <a:chOff x="1413600" y="5024746"/>
            <a:chExt cx="1908471" cy="1526104"/>
          </a:xfrm>
        </p:grpSpPr>
        <p:sp>
          <p:nvSpPr>
            <p:cNvPr id="15" name="TextBox 14"/>
            <p:cNvSpPr txBox="1"/>
            <p:nvPr/>
          </p:nvSpPr>
          <p:spPr>
            <a:xfrm>
              <a:off x="1413600" y="6181518"/>
              <a:ext cx="190847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matrix-matrix sum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>
              <a:stCxn id="15" idx="0"/>
            </p:cNvCxnSpPr>
            <p:nvPr/>
          </p:nvCxnSpPr>
          <p:spPr>
            <a:xfrm flipH="1" flipV="1">
              <a:off x="2050265" y="5024746"/>
              <a:ext cx="317571" cy="115677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4982681" y="2567933"/>
            <a:ext cx="335431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Operator overloading for</a:t>
            </a:r>
            <a:br>
              <a:rPr lang="en-US" sz="2400" dirty="0"/>
            </a:br>
            <a:r>
              <a:rPr lang="en-US" sz="2400" dirty="0"/>
              <a:t>convenient mathematical</a:t>
            </a:r>
            <a:br>
              <a:rPr lang="en-US" sz="2400" dirty="0"/>
            </a:br>
            <a:r>
              <a:rPr lang="en-US" sz="2400" dirty="0"/>
              <a:t>expressions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681" y="4645507"/>
            <a:ext cx="5904949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randn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(10);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randn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(10);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distance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norm_dot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(x, y);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989" y="5767422"/>
            <a:ext cx="672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other math functions: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norm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3534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1" grpId="0" animBg="1"/>
      <p:bldP spid="22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14682" y="3523933"/>
            <a:ext cx="7062634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B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A.submat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(span(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min_row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max_row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span(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min_col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max_col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rowvec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A.row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row_nr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A.col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col_nr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210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14682" y="1932534"/>
            <a:ext cx="7062634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j = 0; j 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A.n_cols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j++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A.n_rows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A(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j) = f(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j);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4273592" y="2872667"/>
            <a:ext cx="307362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Note: elements stored</a:t>
            </a:r>
            <a:br>
              <a:rPr lang="en-US" sz="2400" dirty="0"/>
            </a:br>
            <a:r>
              <a:rPr lang="en-US" sz="2400" dirty="0"/>
              <a:t>           column 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682" y="5127743"/>
            <a:ext cx="7062634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a, b, c;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A.transform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([=] (double x) { return a*x*x + b*x + c; });</a:t>
            </a:r>
          </a:p>
        </p:txBody>
      </p:sp>
    </p:spTree>
    <p:extLst>
      <p:ext uri="{BB962C8B-B14F-4D97-AF65-F5344CB8AC3E}">
        <p14:creationId xmlns:p14="http://schemas.microsoft.com/office/powerpoint/2010/main" val="342704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5" grpId="0" animBg="1"/>
      <p:bldP spid="6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decomposition methods, e.g., SVD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Matrix transpose: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A.t()</a:t>
            </a:r>
          </a:p>
          <a:p>
            <a:r>
              <a:rPr lang="en-US" dirty="0"/>
              <a:t>Matrix inverse: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4682" y="2345489"/>
            <a:ext cx="7062634" cy="206210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A(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nr_rows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nr_cols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U, V;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vec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s;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svd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(U, s, V, A);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S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diagmat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(s);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mat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A_p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(U*S)*V.t();</a:t>
            </a:r>
          </a:p>
        </p:txBody>
      </p:sp>
    </p:spTree>
    <p:extLst>
      <p:ext uri="{BB962C8B-B14F-4D97-AF65-F5344CB8AC3E}">
        <p14:creationId xmlns:p14="http://schemas.microsoft.com/office/powerpoint/2010/main" val="258205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ODEs with Boost::</a:t>
            </a:r>
            <a:r>
              <a:rPr lang="en-US" dirty="0" err="1"/>
              <a:t>odeint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Define equations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8650" y="2384818"/>
            <a:ext cx="8377698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&lt;array&gt;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&lt;functional&gt;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&lt;boost/numeric/odeint.hpp&gt;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namespace boost::numeric::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odeint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using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array&lt;double, 3&gt;;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4516119"/>
            <a:ext cx="8377698" cy="1569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lorenz_param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double t,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double sigma, double R, double b)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[0] = sigma*(x[1] - x[0]);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 = R*x[0] - x[1] - x[0]*x[2];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[2] = -b*x[2] + x[0]*x[1];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607865" y="5926918"/>
            <a:ext cx="1354858" cy="730476"/>
            <a:chOff x="1413600" y="5820374"/>
            <a:chExt cx="1354858" cy="730476"/>
          </a:xfrm>
        </p:grpSpPr>
        <p:sp>
          <p:nvSpPr>
            <p:cNvPr id="9" name="TextBox 8"/>
            <p:cNvSpPr txBox="1"/>
            <p:nvPr/>
          </p:nvSpPr>
          <p:spPr>
            <a:xfrm>
              <a:off x="1413600" y="6181518"/>
              <a:ext cx="135485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RHS of ODEs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0"/>
            </p:cNvCxnSpPr>
            <p:nvPr/>
          </p:nvCxnSpPr>
          <p:spPr>
            <a:xfrm flipH="1" flipV="1">
              <a:off x="1525541" y="5820374"/>
              <a:ext cx="565488" cy="36114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983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steps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2047" y="2273425"/>
            <a:ext cx="8764301" cy="10772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write_lorenz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t)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&lt;&lt; t &lt;&lt; '\t' &lt;&lt; x[0] &lt;&lt; '\t' &lt;&lt; x[1] &lt;&lt; '\t' &lt;&lt; x[2]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&lt;&lt;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047" y="3832158"/>
            <a:ext cx="8764301" cy="206210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sigma = 10.0;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R = 28.0;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b = 8.0/3.0;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lorenz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[=] (const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double t)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Lorenz_param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dxdt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t, sigma, R, b);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state_type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= { 10.0, 1.0, 1.0 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integrate(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lorenz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x, 0.0,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max_t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delta_t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write_lorenz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075" y="217589"/>
            <a:ext cx="2717149" cy="203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4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GNU Scientific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Large collection of algorithms for scientific computing</a:t>
            </a:r>
          </a:p>
          <a:p>
            <a:pPr lvl="1"/>
            <a:r>
              <a:rPr lang="en-US" dirty="0"/>
              <a:t>numerical integration</a:t>
            </a:r>
          </a:p>
          <a:p>
            <a:pPr lvl="1"/>
            <a:r>
              <a:rPr lang="en-US" dirty="0"/>
              <a:t>minimizing functions</a:t>
            </a:r>
          </a:p>
          <a:p>
            <a:pPr lvl="1"/>
            <a:r>
              <a:rPr lang="en-US" dirty="0"/>
              <a:t>interpolation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/>
              <a:t>linear algebra</a:t>
            </a:r>
          </a:p>
          <a:p>
            <a:pPr lvl="1"/>
            <a:r>
              <a:rPr lang="en-US" dirty="0"/>
              <a:t>solvers for ordinary differential equations</a:t>
            </a:r>
          </a:p>
          <a:p>
            <a:pPr lvl="1"/>
            <a:r>
              <a:rPr lang="en-US" dirty="0"/>
              <a:t>Fourier transforms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However, C library, not C++</a:t>
            </a:r>
          </a:p>
          <a:p>
            <a:pPr lvl="1"/>
            <a:r>
              <a:rPr lang="en-US" dirty="0"/>
              <a:t>some tinkering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minimum with GSL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Function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8650" y="2243550"/>
            <a:ext cx="6694365" cy="1569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gsl_errno.h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gsl_min.h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double x,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…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954206" y="2395184"/>
            <a:ext cx="3475319" cy="829366"/>
            <a:chOff x="745588" y="6181518"/>
            <a:chExt cx="3475319" cy="829366"/>
          </a:xfrm>
        </p:grpSpPr>
        <p:sp>
          <p:nvSpPr>
            <p:cNvPr id="8" name="TextBox 7"/>
            <p:cNvSpPr txBox="1"/>
            <p:nvPr/>
          </p:nvSpPr>
          <p:spPr>
            <a:xfrm>
              <a:off x="1413600" y="6181518"/>
              <a:ext cx="280730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function signature expected</a:t>
              </a:r>
            </a:p>
            <a:p>
              <a:r>
                <a:rPr lang="en-US" dirty="0">
                  <a:cs typeface="Courier New" panose="02070309020205020404" pitchFamily="49" charset="0"/>
                </a:rPr>
                <a:t>by minimizer</a:t>
              </a:r>
            </a:p>
          </p:txBody>
        </p:sp>
        <p:cxnSp>
          <p:nvCxnSpPr>
            <p:cNvPr id="9" name="Straight Arrow Connector 8"/>
            <p:cNvCxnSpPr>
              <a:stCxn id="8" idx="1"/>
            </p:cNvCxnSpPr>
            <p:nvPr/>
          </p:nvCxnSpPr>
          <p:spPr>
            <a:xfrm flipH="1">
              <a:off x="745588" y="6504684"/>
              <a:ext cx="668012" cy="50620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28650" y="4328463"/>
            <a:ext cx="6694365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double x, void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auto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params_arr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static_cast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&lt;double*&gt;(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a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params_arr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[0]};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b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params_arr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[1]};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double c 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params_arr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[2]};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(a*x + b)*x + c;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294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0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minimizer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to minimize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Minimizer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5138" y="2282563"/>
            <a:ext cx="8706339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[] {1.0, -1.0, 1.0};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gsl_function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F {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.function = &amp;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params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161811" y="2815354"/>
            <a:ext cx="5058387" cy="646331"/>
            <a:chOff x="1004243" y="6040848"/>
            <a:chExt cx="5058387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1413600" y="6040848"/>
              <a:ext cx="464903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should be</a:t>
              </a:r>
              <a:br>
                <a:rPr lang="en-US" dirty="0"/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double (*) (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const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double, void*)</a:t>
              </a: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>
            <a:xfrm flipH="1" flipV="1">
              <a:off x="1004243" y="6203099"/>
              <a:ext cx="409357" cy="16091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375138" y="4335189"/>
            <a:ext cx="8706339" cy="181588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auto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gsl_min_fminimizer_alloc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gsl_min_fminimizer_brent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)};</a:t>
            </a:r>
          </a:p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gsl_min_fminimizer_set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, &amp;F, x,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x_min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x_max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)};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== GSL_EINVAL) {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cerr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&lt;&lt; "###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interval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[" &lt;&lt;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x_min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&lt;&lt; ", " &lt;&lt;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x_max</a:t>
            </a:r>
            <a:endParaRPr lang="fr-FR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          &lt;&lt; "]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doesn't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contain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a minimum" &lt;&lt;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::exit(GSL_EINVAL);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0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minimum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minimum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67508" y="2365712"/>
            <a:ext cx="7752862" cy="23083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iter_nr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{0};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iter_nr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++;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gsl_min_fminimizer_iterate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x_min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gsl_min_fminimizer_x_lower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x_max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gsl_min_fminimizer_x_upper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gsl_min_test_interval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x_min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x_max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, 1e-6, 0.0);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== GSL_CONTINUE &amp;&amp;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iter_nr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nr_iters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7508" y="5435660"/>
            <a:ext cx="7752862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status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 == GSL_SUCCESS) {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    x = 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gsl_min_fminimizer_x_minimum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fr-FR" sz="1600" dirty="0" err="1">
                <a:latin typeface="Courier New" pitchFamily="49" charset="0"/>
                <a:cs typeface="Courier New" pitchFamily="49" charset="0"/>
              </a:rPr>
              <a:t>minimizer</a:t>
            </a:r>
            <a:r>
              <a:rPr lang="fr-FR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sz="16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244514" y="2642822"/>
            <a:ext cx="1519006" cy="1494468"/>
            <a:chOff x="1413600" y="6181518"/>
            <a:chExt cx="1519006" cy="1494468"/>
          </a:xfrm>
        </p:grpSpPr>
        <p:sp>
          <p:nvSpPr>
            <p:cNvPr id="8" name="TextBox 7"/>
            <p:cNvSpPr txBox="1"/>
            <p:nvPr/>
          </p:nvSpPr>
          <p:spPr>
            <a:xfrm>
              <a:off x="1413600" y="6181518"/>
              <a:ext cx="151900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absolute error</a:t>
              </a:r>
              <a:endParaRPr lang="en-US" dirty="0"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2"/>
            </p:cNvCxnSpPr>
            <p:nvPr/>
          </p:nvCxnSpPr>
          <p:spPr>
            <a:xfrm>
              <a:off x="2173103" y="6550850"/>
              <a:ext cx="203659" cy="112513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486650" y="3165000"/>
            <a:ext cx="1412694" cy="972290"/>
            <a:chOff x="1413600" y="6181518"/>
            <a:chExt cx="1412694" cy="972290"/>
          </a:xfrm>
        </p:grpSpPr>
        <p:sp>
          <p:nvSpPr>
            <p:cNvPr id="11" name="TextBox 10"/>
            <p:cNvSpPr txBox="1"/>
            <p:nvPr/>
          </p:nvSpPr>
          <p:spPr>
            <a:xfrm>
              <a:off x="1413600" y="6181518"/>
              <a:ext cx="141269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relative error</a:t>
              </a:r>
              <a:endParaRPr lang="en-US" dirty="0"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>
              <a:stCxn id="11" idx="2"/>
            </p:cNvCxnSpPr>
            <p:nvPr/>
          </p:nvCxnSpPr>
          <p:spPr>
            <a:xfrm flipH="1">
              <a:off x="1969444" y="6550850"/>
              <a:ext cx="150503" cy="602958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45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left out/added?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out</a:t>
            </a:r>
          </a:p>
          <a:p>
            <a:pPr lvl="1"/>
            <a:r>
              <a:rPr lang="en-US" dirty="0"/>
              <a:t>Value arrays, see section on containers</a:t>
            </a:r>
          </a:p>
          <a:p>
            <a:r>
              <a:rPr lang="en-US" dirty="0"/>
              <a:t>Added</a:t>
            </a:r>
          </a:p>
          <a:p>
            <a:pPr lvl="1"/>
            <a:r>
              <a:rPr lang="en-US" dirty="0"/>
              <a:t>Linear algebra with Armadillo</a:t>
            </a:r>
          </a:p>
          <a:p>
            <a:pPr lvl="1"/>
            <a:r>
              <a:rPr lang="en-US" dirty="0"/>
              <a:t>ODEs with Boost</a:t>
            </a:r>
          </a:p>
          <a:p>
            <a:pPr lvl="1"/>
            <a:r>
              <a:rPr lang="en-US" dirty="0"/>
              <a:t>Mixing C and C++ code, using GSL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F4966-5219-4577-B301-14467D565841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4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73259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C++: nice for scientific computing</a:t>
            </a:r>
          </a:p>
          <a:p>
            <a:pPr lvl="1"/>
            <a:r>
              <a:rPr lang="en-US" dirty="0"/>
              <a:t>modern programming language</a:t>
            </a:r>
          </a:p>
          <a:p>
            <a:pPr lvl="1"/>
            <a:r>
              <a:rPr lang="en-US" dirty="0"/>
              <a:t>good standard library</a:t>
            </a:r>
          </a:p>
          <a:p>
            <a:pPr lvl="1"/>
            <a:r>
              <a:rPr lang="en-US" dirty="0"/>
              <a:t>data processing relatively easy</a:t>
            </a:r>
          </a:p>
          <a:p>
            <a:r>
              <a:rPr lang="en-US" dirty="0"/>
              <a:t>However, much more to learn</a:t>
            </a:r>
          </a:p>
          <a:p>
            <a:pPr lvl="1"/>
            <a:r>
              <a:rPr lang="en-US" dirty="0"/>
              <a:t>this is but a starting point!</a:t>
            </a:r>
          </a:p>
          <a:p>
            <a:pPr lvl="1"/>
            <a:r>
              <a:rPr lang="en-US" dirty="0"/>
              <a:t>performance issues can be non-trivial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7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Concurrency: for scientific code use</a:t>
            </a:r>
          </a:p>
          <a:p>
            <a:pPr lvl="1"/>
            <a:r>
              <a:rPr lang="en-US" dirty="0" err="1"/>
              <a:t>OpenMP</a:t>
            </a:r>
            <a:endParaRPr lang="en-US" dirty="0"/>
          </a:p>
          <a:p>
            <a:pPr lvl="1"/>
            <a:r>
              <a:rPr lang="en-US" dirty="0"/>
              <a:t>TBB (Threading Building Blocks</a:t>
            </a:r>
          </a:p>
          <a:p>
            <a:r>
              <a:rPr lang="en-US" dirty="0"/>
              <a:t>Create your own containers/data structures</a:t>
            </a:r>
          </a:p>
          <a:p>
            <a:r>
              <a:rPr lang="en-US" dirty="0"/>
              <a:t>Good object oriented design</a:t>
            </a:r>
          </a:p>
          <a:p>
            <a:pPr lvl="1"/>
            <a:r>
              <a:rPr lang="en-US" dirty="0"/>
              <a:t>for large software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8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A tour of C++</a:t>
            </a:r>
            <a:r>
              <a:rPr lang="en-BE" i="1" dirty="0"/>
              <a:t>, </a:t>
            </a:r>
            <a:r>
              <a:rPr lang="en-US" i="1" dirty="0"/>
              <a:t>3</a:t>
            </a:r>
            <a:r>
              <a:rPr lang="en-GB" i="1" baseline="30000" dirty="0"/>
              <a:t>r</a:t>
            </a:r>
            <a:r>
              <a:rPr lang="en-BE" i="1" baseline="30000" dirty="0"/>
              <a:t>d</a:t>
            </a:r>
            <a:r>
              <a:rPr lang="en-BE" i="1" dirty="0"/>
              <a:t> </a:t>
            </a:r>
            <a:r>
              <a:rPr lang="en-GB" i="1" dirty="0"/>
              <a:t>e</a:t>
            </a:r>
            <a:r>
              <a:rPr lang="en-BE" i="1" dirty="0"/>
              <a:t>d</a:t>
            </a:r>
            <a:r>
              <a:rPr lang="en-GB" i="1" dirty="0" err="1"/>
              <a:t>i</a:t>
            </a:r>
            <a:r>
              <a:rPr lang="en-BE" i="1" dirty="0" err="1"/>
              <a:t>tion</a:t>
            </a:r>
            <a:br>
              <a:rPr lang="en-US" dirty="0"/>
            </a:br>
            <a:r>
              <a:rPr lang="en-US" dirty="0"/>
              <a:t>Bjarne </a:t>
            </a:r>
            <a:r>
              <a:rPr lang="en-US" dirty="0" err="1"/>
              <a:t>Stroustrup</a:t>
            </a:r>
            <a:br>
              <a:rPr lang="en-US" dirty="0"/>
            </a:br>
            <a:r>
              <a:rPr lang="en-US" dirty="0"/>
              <a:t>Addison-Wesley, 2022</a:t>
            </a:r>
          </a:p>
          <a:p>
            <a:r>
              <a:rPr lang="en-US" i="1" dirty="0"/>
              <a:t>Effective modern C++</a:t>
            </a:r>
            <a:br>
              <a:rPr lang="en-US" dirty="0"/>
            </a:br>
            <a:r>
              <a:rPr lang="en-US" dirty="0"/>
              <a:t>Scott Meyers</a:t>
            </a:r>
            <a:br>
              <a:rPr lang="en-US" dirty="0"/>
            </a:br>
            <a:r>
              <a:rPr lang="en-US" dirty="0"/>
              <a:t>O'Reilly Media, 2015</a:t>
            </a:r>
          </a:p>
          <a:p>
            <a:r>
              <a:rPr lang="en-US" dirty="0">
                <a:hlinkClick r:id="rId2"/>
              </a:rPr>
              <a:t>C++ reference</a:t>
            </a:r>
            <a:endParaRPr lang="en-US" dirty="0"/>
          </a:p>
          <a:p>
            <a:r>
              <a:rPr lang="en-US" i="1" dirty="0">
                <a:hlinkClick r:id="rId3"/>
              </a:rPr>
              <a:t>C++ core guidelines</a:t>
            </a:r>
            <a:br>
              <a:rPr lang="en-US" dirty="0"/>
            </a:br>
            <a:r>
              <a:rPr lang="en-US" dirty="0"/>
              <a:t>Bjarne </a:t>
            </a:r>
            <a:r>
              <a:rPr lang="en-US" dirty="0" err="1"/>
              <a:t>Stroustrup</a:t>
            </a:r>
            <a:r>
              <a:rPr lang="en-US" dirty="0"/>
              <a:t>, Herb Sutter</a:t>
            </a:r>
            <a:endParaRPr lang="en-BE" dirty="0"/>
          </a:p>
          <a:p>
            <a:r>
              <a:rPr lang="en-BE" dirty="0">
                <a:hlinkClick r:id="rId4"/>
              </a:rPr>
              <a:t>G</a:t>
            </a:r>
            <a:r>
              <a:rPr lang="en-GB" dirty="0">
                <a:hlinkClick r:id="rId4"/>
              </a:rPr>
              <a:t>o</a:t>
            </a:r>
            <a:r>
              <a:rPr lang="en-BE" dirty="0">
                <a:hlinkClick r:id="rId4"/>
              </a:rPr>
              <a:t>o</a:t>
            </a:r>
            <a:r>
              <a:rPr lang="en-GB" dirty="0">
                <a:hlinkClick r:id="rId4"/>
              </a:rPr>
              <a:t>g</a:t>
            </a:r>
            <a:r>
              <a:rPr lang="en-BE" dirty="0">
                <a:hlinkClick r:id="rId4"/>
              </a:rPr>
              <a:t>l</a:t>
            </a:r>
            <a:r>
              <a:rPr lang="en-GB" dirty="0">
                <a:hlinkClick r:id="rId4"/>
              </a:rPr>
              <a:t>e</a:t>
            </a:r>
            <a:r>
              <a:rPr lang="en-BE" dirty="0">
                <a:hlinkClick r:id="rId4"/>
              </a:rPr>
              <a:t> </a:t>
            </a:r>
            <a:r>
              <a:rPr lang="en-GB" dirty="0">
                <a:hlinkClick r:id="rId4"/>
              </a:rPr>
              <a:t>C</a:t>
            </a:r>
            <a:r>
              <a:rPr lang="en-BE" dirty="0">
                <a:hlinkClick r:id="rId4"/>
              </a:rPr>
              <a:t>++ St</a:t>
            </a:r>
            <a:r>
              <a:rPr lang="en-GB" dirty="0">
                <a:hlinkClick r:id="rId4"/>
              </a:rPr>
              <a:t>y</a:t>
            </a:r>
            <a:r>
              <a:rPr lang="en-BE" dirty="0">
                <a:hlinkClick r:id="rId4"/>
              </a:rPr>
              <a:t>l</a:t>
            </a:r>
            <a:r>
              <a:rPr lang="en-GB" dirty="0">
                <a:hlinkClick r:id="rId4"/>
              </a:rPr>
              <a:t>e</a:t>
            </a:r>
            <a:r>
              <a:rPr lang="en-BE" dirty="0">
                <a:hlinkClick r:id="rId4"/>
              </a:rPr>
              <a:t> </a:t>
            </a:r>
            <a:r>
              <a:rPr lang="en-GB" dirty="0">
                <a:hlinkClick r:id="rId4"/>
              </a:rPr>
              <a:t>G</a:t>
            </a:r>
            <a:r>
              <a:rPr lang="en-BE" dirty="0">
                <a:hlinkClick r:id="rId4"/>
              </a:rPr>
              <a:t>u</a:t>
            </a:r>
            <a:r>
              <a:rPr lang="en-GB" dirty="0" err="1">
                <a:hlinkClick r:id="rId4"/>
              </a:rPr>
              <a:t>i</a:t>
            </a:r>
            <a:r>
              <a:rPr lang="en-BE" dirty="0">
                <a:hlinkClick r:id="rId4"/>
              </a:rPr>
              <a:t>d</a:t>
            </a:r>
            <a:r>
              <a:rPr lang="en-GB" dirty="0">
                <a:hlinkClick r:id="rId4"/>
              </a:rPr>
              <a:t>e</a:t>
            </a:r>
            <a:endParaRPr lang="en-US" dirty="0"/>
          </a:p>
          <a:p>
            <a:r>
              <a:rPr lang="en-US" dirty="0">
                <a:hlinkClick r:id="rId5"/>
              </a:rPr>
              <a:t>https://isocpp.org/wiki/faq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4541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8C9F-8C55-A8F5-DE3D-DDAC36BF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EA358-FDE9-526D-F88A-1E84E239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C++ templates: the complete guide</a:t>
            </a:r>
            <a:r>
              <a:rPr lang="en-BE" dirty="0"/>
              <a:t>, </a:t>
            </a:r>
            <a:r>
              <a:rPr lang="en-US" dirty="0"/>
              <a:t>2</a:t>
            </a:r>
            <a:r>
              <a:rPr lang="en-GB" baseline="30000" dirty="0"/>
              <a:t>n</a:t>
            </a:r>
            <a:r>
              <a:rPr lang="en-BE" baseline="30000" dirty="0"/>
              <a:t>d</a:t>
            </a:r>
            <a:r>
              <a:rPr lang="en-BE" dirty="0"/>
              <a:t> </a:t>
            </a:r>
            <a:r>
              <a:rPr lang="en-GB" dirty="0"/>
              <a:t>e</a:t>
            </a:r>
            <a:r>
              <a:rPr lang="en-BE" dirty="0"/>
              <a:t>d</a:t>
            </a:r>
            <a:r>
              <a:rPr lang="en-GB" dirty="0" err="1"/>
              <a:t>i</a:t>
            </a:r>
            <a:r>
              <a:rPr lang="en-BE" dirty="0"/>
              <a:t>tion</a:t>
            </a:r>
            <a:br>
              <a:rPr lang="en-US" dirty="0"/>
            </a:br>
            <a:r>
              <a:rPr lang="en-US" dirty="0"/>
              <a:t>David </a:t>
            </a:r>
            <a:r>
              <a:rPr lang="en-US" dirty="0" err="1"/>
              <a:t>Vandevoorde</a:t>
            </a:r>
            <a:r>
              <a:rPr lang="en-US" dirty="0"/>
              <a:t>, Nicolas M. </a:t>
            </a:r>
            <a:r>
              <a:rPr lang="en-US" dirty="0" err="1"/>
              <a:t>Jossutis</a:t>
            </a:r>
            <a:r>
              <a:rPr lang="en-US" dirty="0"/>
              <a:t>, Douglas Gregor</a:t>
            </a:r>
            <a:br>
              <a:rPr lang="en-US" dirty="0"/>
            </a:br>
            <a:r>
              <a:rPr lang="en-US" dirty="0"/>
              <a:t>Addison-Wesley, 2018</a:t>
            </a:r>
          </a:p>
          <a:p>
            <a:r>
              <a:rPr lang="en-US" i="1" dirty="0"/>
              <a:t>The C++ programming language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br>
              <a:rPr lang="en-US" dirty="0"/>
            </a:br>
            <a:r>
              <a:rPr lang="en-US" dirty="0"/>
              <a:t>Bjarne </a:t>
            </a:r>
            <a:r>
              <a:rPr lang="en-US" dirty="0" err="1"/>
              <a:t>Stroustrup</a:t>
            </a:r>
            <a:br>
              <a:rPr lang="en-US" dirty="0"/>
            </a:br>
            <a:r>
              <a:rPr lang="en-US" dirty="0"/>
              <a:t>Pearson Education, 2013</a:t>
            </a:r>
          </a:p>
          <a:p>
            <a:r>
              <a:rPr lang="en-US" i="1" dirty="0"/>
              <a:t>Introduction to algorithms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br>
              <a:rPr lang="en-US" dirty="0"/>
            </a:br>
            <a:r>
              <a:rPr lang="en-US" dirty="0"/>
              <a:t>Thomas H. </a:t>
            </a:r>
            <a:r>
              <a:rPr lang="en-US" dirty="0" err="1"/>
              <a:t>Cromen</a:t>
            </a:r>
            <a:r>
              <a:rPr lang="en-US" dirty="0"/>
              <a:t>, Charles E. </a:t>
            </a:r>
            <a:r>
              <a:rPr lang="en-US" dirty="0" err="1"/>
              <a:t>Leiserson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Ronald L. Rivest and Clifford Stein</a:t>
            </a:r>
            <a:br>
              <a:rPr lang="en-US" dirty="0"/>
            </a:br>
            <a:r>
              <a:rPr lang="en-US" dirty="0"/>
              <a:t>MIT Press,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7B554-AA60-D7DB-7DF5-F843B821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0415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hlinkClick r:id="rId2"/>
              </a:rPr>
              <a:t>http://www.cplusplus.com/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sz="2000" dirty="0">
                <a:hlinkClick r:id="rId3"/>
              </a:rPr>
              <a:t>https://www.tutorialspoint.com/cplusplus/cpp_overview.htm</a:t>
            </a:r>
            <a:r>
              <a:rPr lang="en-US" sz="20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01263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Compilers</a:t>
            </a:r>
          </a:p>
          <a:p>
            <a:pPr lvl="1"/>
            <a:r>
              <a:rPr lang="en-US" dirty="0"/>
              <a:t>GCC g++ </a:t>
            </a:r>
            <a:r>
              <a:rPr lang="en-US" sz="1800" dirty="0"/>
              <a:t>(</a:t>
            </a:r>
            <a:r>
              <a:rPr lang="en-US" sz="1800" dirty="0">
                <a:hlinkClick r:id="rId2"/>
              </a:rPr>
              <a:t>https://gcc.gnu.org/</a:t>
            </a:r>
            <a:r>
              <a:rPr lang="en-US" sz="1800" dirty="0"/>
              <a:t>)</a:t>
            </a:r>
            <a:endParaRPr lang="en-US" dirty="0"/>
          </a:p>
          <a:p>
            <a:pPr lvl="1"/>
            <a:r>
              <a:rPr lang="en-US" dirty="0"/>
              <a:t>Intel </a:t>
            </a:r>
            <a:r>
              <a:rPr lang="en-US" dirty="0" err="1"/>
              <a:t>OneAPI</a:t>
            </a:r>
            <a:r>
              <a:rPr lang="en-US" dirty="0"/>
              <a:t> compilers </a:t>
            </a:r>
            <a:r>
              <a:rPr lang="en-US" sz="1800" dirty="0"/>
              <a:t>(</a:t>
            </a:r>
            <a:r>
              <a:rPr lang="en-US" sz="1800" dirty="0">
                <a:hlinkClick r:id="rId3"/>
              </a:rPr>
              <a:t>https://software.intel.com/en-us/c-compilers</a:t>
            </a:r>
            <a:r>
              <a:rPr lang="en-US" sz="1800" dirty="0"/>
              <a:t>)</a:t>
            </a:r>
            <a:endParaRPr lang="en-US" dirty="0"/>
          </a:p>
          <a:p>
            <a:pPr lvl="1"/>
            <a:r>
              <a:rPr lang="en-US" dirty="0"/>
              <a:t>clang</a:t>
            </a:r>
            <a:r>
              <a:rPr lang="en-BE" dirty="0"/>
              <a:t>++</a:t>
            </a:r>
            <a:r>
              <a:rPr lang="en-US" dirty="0"/>
              <a:t> </a:t>
            </a:r>
            <a:r>
              <a:rPr lang="en-US" sz="1800" dirty="0"/>
              <a:t>(</a:t>
            </a:r>
            <a:r>
              <a:rPr lang="en-US" sz="1800" dirty="0">
                <a:hlinkClick r:id="rId4"/>
              </a:rPr>
              <a:t>https://clang.llvm.org/</a:t>
            </a:r>
            <a:r>
              <a:rPr lang="en-US" sz="1800" dirty="0"/>
              <a:t>)</a:t>
            </a:r>
            <a:endParaRPr lang="en-BE" sz="1800" dirty="0"/>
          </a:p>
          <a:p>
            <a:pPr lvl="1"/>
            <a:r>
              <a:rPr lang="en-BE" dirty="0"/>
              <a:t>Compiler Explorer (</a:t>
            </a:r>
            <a:r>
              <a:rPr lang="en-GB" sz="1800" dirty="0">
                <a:hlinkClick r:id="rId5"/>
              </a:rPr>
              <a:t>https://godbolt.org/</a:t>
            </a:r>
            <a:r>
              <a:rPr lang="en-BE" dirty="0"/>
              <a:t>)</a:t>
            </a:r>
            <a:endParaRPr lang="en-US" dirty="0"/>
          </a:p>
          <a:p>
            <a:r>
              <a:rPr lang="en-US" dirty="0"/>
              <a:t>Interpreter</a:t>
            </a:r>
          </a:p>
          <a:p>
            <a:pPr lvl="1"/>
            <a:r>
              <a:rPr lang="en-US" dirty="0"/>
              <a:t>Cling </a:t>
            </a:r>
            <a:r>
              <a:rPr lang="en-US" sz="1800" dirty="0"/>
              <a:t>(</a:t>
            </a:r>
            <a:r>
              <a:rPr lang="en-US" sz="1800" dirty="0">
                <a:hlinkClick r:id="rId6"/>
              </a:rPr>
              <a:t>https://github.com/vgvassilev/cling</a:t>
            </a:r>
            <a:r>
              <a:rPr lang="en-US" sz="1800" dirty="0"/>
              <a:t>)</a:t>
            </a:r>
          </a:p>
          <a:p>
            <a:r>
              <a:rPr lang="en-US" dirty="0"/>
              <a:t>Online compilers</a:t>
            </a:r>
          </a:p>
          <a:p>
            <a:pPr lvl="1"/>
            <a:r>
              <a:rPr lang="en-US" dirty="0" err="1"/>
              <a:t>Wandbox</a:t>
            </a:r>
            <a:r>
              <a:rPr lang="en-US" dirty="0"/>
              <a:t> </a:t>
            </a:r>
            <a:r>
              <a:rPr lang="en-US" sz="1900" dirty="0"/>
              <a:t>(</a:t>
            </a:r>
            <a:r>
              <a:rPr lang="en-US" sz="1900" dirty="0">
                <a:hlinkClick r:id="rId7"/>
              </a:rPr>
              <a:t>http://wandbox.org/</a:t>
            </a:r>
            <a:r>
              <a:rPr lang="en-US" sz="1900" dirty="0"/>
              <a:t>)</a:t>
            </a:r>
          </a:p>
          <a:p>
            <a:pPr lvl="1"/>
            <a:r>
              <a:rPr lang="en-US" sz="2300" dirty="0" err="1"/>
              <a:t>CodeChef</a:t>
            </a:r>
            <a:r>
              <a:rPr lang="en-US" sz="1900" dirty="0"/>
              <a:t> (</a:t>
            </a:r>
            <a:r>
              <a:rPr lang="en-US" sz="1900" dirty="0">
                <a:hlinkClick r:id="rId8"/>
              </a:rPr>
              <a:t>https://www.codechef.com/ide</a:t>
            </a:r>
            <a:r>
              <a:rPr lang="en-US" sz="1900" dirty="0"/>
              <a:t>)</a:t>
            </a:r>
          </a:p>
          <a:p>
            <a:pPr lvl="1"/>
            <a:r>
              <a:rPr lang="en-US" sz="1900" dirty="0" err="1"/>
              <a:t>Replit</a:t>
            </a:r>
            <a:r>
              <a:rPr lang="en-US" sz="1900" dirty="0"/>
              <a:t> (</a:t>
            </a:r>
            <a:r>
              <a:rPr lang="en-US" sz="1900" dirty="0">
                <a:hlinkClick r:id="rId9"/>
              </a:rPr>
              <a:t>https://replit.com/</a:t>
            </a:r>
            <a:r>
              <a:rPr lang="en-US" sz="1900" dirty="0"/>
              <a:t>)</a:t>
            </a:r>
          </a:p>
          <a:p>
            <a:r>
              <a:rPr lang="en-US" dirty="0"/>
              <a:t>Static code checkers</a:t>
            </a:r>
          </a:p>
          <a:p>
            <a:pPr lvl="1"/>
            <a:r>
              <a:rPr lang="en-US" dirty="0" err="1"/>
              <a:t>Cppcheck</a:t>
            </a:r>
            <a:r>
              <a:rPr lang="en-US" dirty="0"/>
              <a:t> </a:t>
            </a:r>
            <a:r>
              <a:rPr lang="en-US" sz="1800" dirty="0"/>
              <a:t>(</a:t>
            </a:r>
            <a:r>
              <a:rPr lang="en-US" sz="1800" dirty="0">
                <a:hlinkClick r:id="rId10"/>
              </a:rPr>
              <a:t>http://cppcheck.sourceforge.net/</a:t>
            </a:r>
            <a:r>
              <a:rPr lang="en-US" sz="1800" dirty="0"/>
              <a:t>)</a:t>
            </a:r>
            <a:endParaRPr lang="en-US" dirty="0"/>
          </a:p>
          <a:p>
            <a:r>
              <a:rPr lang="en-US" dirty="0"/>
              <a:t>IDEs</a:t>
            </a:r>
          </a:p>
          <a:p>
            <a:pPr lvl="1"/>
            <a:r>
              <a:rPr lang="en-US" dirty="0" err="1"/>
              <a:t>Jetbrains</a:t>
            </a:r>
            <a:r>
              <a:rPr lang="en-US" dirty="0"/>
              <a:t> </a:t>
            </a:r>
            <a:r>
              <a:rPr lang="en-US" dirty="0" err="1"/>
              <a:t>CLion</a:t>
            </a:r>
            <a:r>
              <a:rPr lang="en-US" dirty="0"/>
              <a:t> </a:t>
            </a:r>
            <a:r>
              <a:rPr lang="en-US" sz="1800" dirty="0"/>
              <a:t>(</a:t>
            </a:r>
            <a:r>
              <a:rPr lang="en-US" sz="1800" dirty="0">
                <a:hlinkClick r:id="rId11"/>
              </a:rPr>
              <a:t>https://www.jetbrains.com/clion/</a:t>
            </a:r>
            <a:r>
              <a:rPr lang="en-US" sz="1800" dirty="0"/>
              <a:t>)</a:t>
            </a:r>
          </a:p>
          <a:p>
            <a:pPr lvl="1"/>
            <a:r>
              <a:rPr lang="en-US" dirty="0"/>
              <a:t>Microsoft Visual Code (</a:t>
            </a:r>
            <a:r>
              <a:rPr lang="en-US" sz="1800" dirty="0">
                <a:hlinkClick r:id="rId12"/>
              </a:rPr>
              <a:t>https://code.visualstudio.com/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Eclipse </a:t>
            </a:r>
            <a:r>
              <a:rPr lang="en-US" sz="1800" dirty="0"/>
              <a:t>(</a:t>
            </a:r>
            <a:r>
              <a:rPr lang="en-US" sz="1800" dirty="0">
                <a:hlinkClick r:id="rId13"/>
              </a:rPr>
              <a:t>https://www.eclipse.org/ide/</a:t>
            </a:r>
            <a:r>
              <a:rPr lang="en-US" sz="180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90BF-DFC6-4821-92D8-D156D603F43D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5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3134</TotalTime>
  <Words>17478</Words>
  <Application>Microsoft Office PowerPoint</Application>
  <PresentationFormat>On-screen Show (4:3)</PresentationFormat>
  <Paragraphs>3296</Paragraphs>
  <Slides>225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225</vt:i4>
      </vt:variant>
    </vt:vector>
  </HeadingPairs>
  <TitlesOfParts>
    <vt:vector size="240" baseType="lpstr">
      <vt:lpstr>Arial</vt:lpstr>
      <vt:lpstr>Calibri</vt:lpstr>
      <vt:lpstr>Calibri Light</vt:lpstr>
      <vt:lpstr>Cambria Math</vt:lpstr>
      <vt:lpstr>Consolas</vt:lpstr>
      <vt:lpstr>Courier New</vt:lpstr>
      <vt:lpstr>Edwardian Script ITC</vt:lpstr>
      <vt:lpstr>Grandview Display</vt:lpstr>
      <vt:lpstr>Informal Roman</vt:lpstr>
      <vt:lpstr>Lucida Sans</vt:lpstr>
      <vt:lpstr>Palatino Linotype</vt:lpstr>
      <vt:lpstr>Symbol</vt:lpstr>
      <vt:lpstr>Wingdings</vt:lpstr>
      <vt:lpstr>Office Theme</vt:lpstr>
      <vt:lpstr>Equation</vt:lpstr>
      <vt:lpstr>C++ for scientific computing</vt:lpstr>
      <vt:lpstr>PowerPoint Presentation</vt:lpstr>
      <vt:lpstr>PowerPoint Presentation</vt:lpstr>
      <vt:lpstr>Table of Contents</vt:lpstr>
      <vt:lpstr>Introduction</vt:lpstr>
      <vt:lpstr>Why C++?</vt:lpstr>
      <vt:lpstr>Scope</vt:lpstr>
      <vt:lpstr>Some history</vt:lpstr>
      <vt:lpstr>Typographical conventions</vt:lpstr>
      <vt:lpstr>Syntax versus semantics</vt:lpstr>
      <vt:lpstr>Basic language features</vt:lpstr>
      <vt:lpstr>Hello world</vt:lpstr>
      <vt:lpstr>Anatomy of hello world</vt:lpstr>
      <vt:lpstr>Namespaces</vt:lpstr>
      <vt:lpstr>Getting things out</vt:lpstr>
      <vt:lpstr>Getting things in</vt:lpstr>
      <vt:lpstr>Variables</vt:lpstr>
      <vt:lpstr>Types</vt:lpstr>
      <vt:lpstr>Operators &amp; math functions</vt:lpstr>
      <vt:lpstr>Assignment shortcuts</vt:lpstr>
      <vt:lpstr>General remarks</vt:lpstr>
      <vt:lpstr>Task: data transformation</vt:lpstr>
      <vt:lpstr>Functions</vt:lpstr>
      <vt:lpstr>Function calls</vt:lpstr>
      <vt:lpstr>Call by value versus reference</vt:lpstr>
      <vt:lpstr>Call by value: illustration</vt:lpstr>
      <vt:lpstr>Call by reference: illustration</vt:lpstr>
      <vt:lpstr>Overloading</vt:lpstr>
      <vt:lpstr>Recursion</vt:lpstr>
      <vt:lpstr>Data in, results out</vt:lpstr>
      <vt:lpstr>I/O streams</vt:lpstr>
      <vt:lpstr>I/O operator semantics</vt:lpstr>
      <vt:lpstr>While statement</vt:lpstr>
      <vt:lpstr>Do-while statement</vt:lpstr>
      <vt:lpstr>If statement</vt:lpstr>
      <vt:lpstr>For statement</vt:lpstr>
      <vt:lpstr>Break &amp; continue statements</vt:lpstr>
      <vt:lpstr>Blocks</vt:lpstr>
      <vt:lpstr>Arrays</vt:lpstr>
      <vt:lpstr>Constants</vt:lpstr>
      <vt:lpstr>User defined types</vt:lpstr>
      <vt:lpstr>Data types revisited</vt:lpstr>
      <vt:lpstr>Defining structures</vt:lpstr>
      <vt:lpstr>Using structures</vt:lpstr>
      <vt:lpstr>Passing structures to functions</vt:lpstr>
      <vt:lpstr>Structures versus classes</vt:lpstr>
      <vt:lpstr>Object attributes</vt:lpstr>
      <vt:lpstr>Object methods</vt:lpstr>
      <vt:lpstr>Constructor</vt:lpstr>
      <vt:lpstr>Method types</vt:lpstr>
      <vt:lpstr>Method implementation</vt:lpstr>
      <vt:lpstr>Using class and objects</vt:lpstr>
      <vt:lpstr>Another method</vt:lpstr>
      <vt:lpstr>Interlude: function inlining</vt:lpstr>
      <vt:lpstr>Enum class</vt:lpstr>
      <vt:lpstr>Interlude: switch</vt:lpstr>
      <vt:lpstr>What was left out?</vt:lpstr>
      <vt:lpstr>Separate compilation</vt:lpstr>
      <vt:lpstr>Motivation</vt:lpstr>
      <vt:lpstr>Class declaration: header file</vt:lpstr>
      <vt:lpstr>Class methods definition</vt:lpstr>
      <vt:lpstr>Using the class</vt:lpstr>
      <vt:lpstr>Build process</vt:lpstr>
      <vt:lpstr>Preprocessor language</vt:lpstr>
      <vt:lpstr>Preprocessor macros</vt:lpstr>
      <vt:lpstr>What was left out/added?</vt:lpstr>
      <vt:lpstr>Make files</vt:lpstr>
      <vt:lpstr>Make file</vt:lpstr>
      <vt:lpstr>Make rule</vt:lpstr>
      <vt:lpstr>More rules</vt:lpstr>
      <vt:lpstr>Using make</vt:lpstr>
      <vt:lpstr>Dependencies</vt:lpstr>
      <vt:lpstr>Caveats</vt:lpstr>
      <vt:lpstr>CMake</vt:lpstr>
      <vt:lpstr>CMakeLists.txt file</vt:lpstr>
      <vt:lpstr>Using CMake</vt:lpstr>
      <vt:lpstr>What was left out/added?</vt:lpstr>
      <vt:lpstr>Error handling</vt:lpstr>
      <vt:lpstr>Error handling</vt:lpstr>
      <vt:lpstr>Throw exception</vt:lpstr>
      <vt:lpstr>Catch exception</vt:lpstr>
      <vt:lpstr>Expected versus unexpected</vt:lpstr>
      <vt:lpstr>Caveats</vt:lpstr>
      <vt:lpstr>Exit</vt:lpstr>
      <vt:lpstr>What was left out/added?</vt:lpstr>
      <vt:lpstr>Classes</vt:lpstr>
      <vt:lpstr>Original class</vt:lpstr>
      <vt:lpstr>Extending functionality</vt:lpstr>
      <vt:lpstr>Copy/paste? Bad idea!</vt:lpstr>
      <vt:lpstr>Inherit from class</vt:lpstr>
      <vt:lpstr>Implementation: caveat</vt:lpstr>
      <vt:lpstr>Access control</vt:lpstr>
      <vt:lpstr>Using child classes</vt:lpstr>
      <vt:lpstr>More overloading</vt:lpstr>
      <vt:lpstr>What was left out?</vt:lpstr>
      <vt:lpstr>Templates</vt:lpstr>
      <vt:lpstr>Function templates</vt:lpstr>
      <vt:lpstr>Using templates</vt:lpstr>
      <vt:lpstr>Variadic templates</vt:lpstr>
      <vt:lpstr>Aliases</vt:lpstr>
      <vt:lpstr>Higher order functions</vt:lpstr>
      <vt:lpstr>Function objects</vt:lpstr>
      <vt:lpstr>Interlude: currying with bind</vt:lpstr>
      <vt:lpstr>Interlude: lambda functions</vt:lpstr>
      <vt:lpstr>Templates: discussion</vt:lpstr>
      <vt:lpstr>What was left out/added?</vt:lpstr>
      <vt:lpstr>Strings &amp; regular expressions</vt:lpstr>
      <vt:lpstr>Strings</vt:lpstr>
      <vt:lpstr>std::string versus C-style</vt:lpstr>
      <vt:lpstr>Regular expressions: definition</vt:lpstr>
      <vt:lpstr>Regular expressions: expressive power</vt:lpstr>
      <vt:lpstr>Regular expressions: examples I</vt:lpstr>
      <vt:lpstr>Regular expressions: examples II</vt:lpstr>
      <vt:lpstr>Regular expressions: characters</vt:lpstr>
      <vt:lpstr>Regular expressions: character classes</vt:lpstr>
      <vt:lpstr>Regular expressions: operators</vt:lpstr>
      <vt:lpstr>Greedy vs. non-greedy operators</vt:lpstr>
      <vt:lpstr>Why not parse XML with REs?</vt:lpstr>
      <vt:lpstr>Raw strings</vt:lpstr>
      <vt:lpstr>Searching matches</vt:lpstr>
      <vt:lpstr>Extracting matches</vt:lpstr>
      <vt:lpstr>Replacing matches</vt:lpstr>
      <vt:lpstr>Iterating matches</vt:lpstr>
      <vt:lpstr>Miscellaneous remarks</vt:lpstr>
      <vt:lpstr>What was left out/added?</vt:lpstr>
      <vt:lpstr>I/O streams</vt:lpstr>
      <vt:lpstr>I/O streams</vt:lpstr>
      <vt:lpstr>Standard streams</vt:lpstr>
      <vt:lpstr>Stream state</vt:lpstr>
      <vt:lpstr>Floating point formatting</vt:lpstr>
      <vt:lpstr>Formatting: width and fill</vt:lpstr>
      <vt:lpstr>File streams</vt:lpstr>
      <vt:lpstr>String streams</vt:lpstr>
      <vt:lpstr>Pointers</vt:lpstr>
      <vt:lpstr>Data management</vt:lpstr>
      <vt:lpstr>Addresses</vt:lpstr>
      <vt:lpstr>Using addresses</vt:lpstr>
      <vt:lpstr>One step further…</vt:lpstr>
      <vt:lpstr>Double indirection</vt:lpstr>
      <vt:lpstr>Using object vs. pointer to object</vt:lpstr>
      <vt:lpstr>Do we care?</vt:lpstr>
      <vt:lpstr>Example: std::vector</vt:lpstr>
      <vt:lpstr>Memory management</vt:lpstr>
      <vt:lpstr>Manual memory management</vt:lpstr>
      <vt:lpstr>Semi-automatic: smart pointers</vt:lpstr>
      <vt:lpstr>What was left out/added?</vt:lpstr>
      <vt:lpstr>Containers</vt:lpstr>
      <vt:lpstr>Motivation</vt:lpstr>
      <vt:lpstr>It's a zoo…</vt:lpstr>
      <vt:lpstr>Notation</vt:lpstr>
      <vt:lpstr>Basic data structures</vt:lpstr>
      <vt:lpstr>Array</vt:lpstr>
      <vt:lpstr>Array examples</vt:lpstr>
      <vt:lpstr>STL array</vt:lpstr>
      <vt:lpstr>STL array examples</vt:lpstr>
      <vt:lpstr>Value array</vt:lpstr>
      <vt:lpstr>Value array example</vt:lpstr>
      <vt:lpstr>Vector</vt:lpstr>
      <vt:lpstr>Vector example I</vt:lpstr>
      <vt:lpstr>Vector example II</vt:lpstr>
      <vt:lpstr>STL Container API</vt:lpstr>
      <vt:lpstr>STL SequenceContainer API</vt:lpstr>
      <vt:lpstr>Tuple</vt:lpstr>
      <vt:lpstr>Tuple example</vt:lpstr>
      <vt:lpstr>List</vt:lpstr>
      <vt:lpstr>List examples</vt:lpstr>
      <vt:lpstr>Set</vt:lpstr>
      <vt:lpstr>Set example</vt:lpstr>
      <vt:lpstr>Map</vt:lpstr>
      <vt:lpstr>Map example</vt:lpstr>
      <vt:lpstr>Unordered versus default</vt:lpstr>
      <vt:lpstr>Contiguous vs. non-contiguous</vt:lpstr>
      <vt:lpstr>Specialized data structures</vt:lpstr>
      <vt:lpstr>Stack</vt:lpstr>
      <vt:lpstr>Stack examples</vt:lpstr>
      <vt:lpstr>Queue</vt:lpstr>
      <vt:lpstr>Queue examples</vt:lpstr>
      <vt:lpstr>Priority queue</vt:lpstr>
      <vt:lpstr>Graph</vt:lpstr>
      <vt:lpstr>Some special graph types</vt:lpstr>
      <vt:lpstr>Graph algorithms</vt:lpstr>
      <vt:lpstr>What was added?</vt:lpstr>
      <vt:lpstr>Algorithms</vt:lpstr>
      <vt:lpstr>Iterators</vt:lpstr>
      <vt:lpstr>Sorting</vt:lpstr>
      <vt:lpstr>Defining order</vt:lpstr>
      <vt:lpstr>Finding things</vt:lpstr>
      <vt:lpstr>Transformation</vt:lpstr>
      <vt:lpstr>Other algorithms</vt:lpstr>
      <vt:lpstr>Ranges</vt:lpstr>
      <vt:lpstr>Views</vt:lpstr>
      <vt:lpstr>Defining order with projection</vt:lpstr>
      <vt:lpstr>Almost Python</vt:lpstr>
      <vt:lpstr>What was left out/added?</vt:lpstr>
      <vt:lpstr>References</vt:lpstr>
      <vt:lpstr>Numerics</vt:lpstr>
      <vt:lpstr>Complex numbers</vt:lpstr>
      <vt:lpstr>Numerical limits</vt:lpstr>
      <vt:lpstr>Limit values</vt:lpstr>
      <vt:lpstr>More precision?</vt:lpstr>
      <vt:lpstr>Mathematical constants</vt:lpstr>
      <vt:lpstr>Random number generation</vt:lpstr>
      <vt:lpstr>Typical workflow</vt:lpstr>
      <vt:lpstr>Example: normal distribution</vt:lpstr>
      <vt:lpstr>Multiple distributions</vt:lpstr>
      <vt:lpstr>Linear algebra</vt:lpstr>
      <vt:lpstr>Data types</vt:lpstr>
      <vt:lpstr>Initialization</vt:lpstr>
      <vt:lpstr>Matrix arithmetic/functions</vt:lpstr>
      <vt:lpstr>Matrix access</vt:lpstr>
      <vt:lpstr>Linear algebra</vt:lpstr>
      <vt:lpstr>ODEs with Boost::odeint</vt:lpstr>
      <vt:lpstr>Solving ODEs</vt:lpstr>
      <vt:lpstr>GNU Scientific Library</vt:lpstr>
      <vt:lpstr>Finding minimum with GSL</vt:lpstr>
      <vt:lpstr>Setting up minimizer</vt:lpstr>
      <vt:lpstr>Finding minimum</vt:lpstr>
      <vt:lpstr>What was left out/added?</vt:lpstr>
      <vt:lpstr>Conclusions</vt:lpstr>
      <vt:lpstr>Conclusions</vt:lpstr>
      <vt:lpstr>Additional topics</vt:lpstr>
      <vt:lpstr>Further reading</vt:lpstr>
      <vt:lpstr>More reading</vt:lpstr>
      <vt:lpstr>Online learning resources</vt:lpstr>
      <vt:lpstr>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 C++ Introduction</dc:title>
  <dc:creator>Geert Jan Bex</dc:creator>
  <cp:lastModifiedBy>Geert Jan Bex</cp:lastModifiedBy>
  <cp:revision>207</cp:revision>
  <dcterms:created xsi:type="dcterms:W3CDTF">2017-02-14T13:57:03Z</dcterms:created>
  <dcterms:modified xsi:type="dcterms:W3CDTF">2026-02-17T15:38:46Z</dcterms:modified>
</cp:coreProperties>
</file>